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4"/>
  </p:sldMasterIdLst>
  <p:notesMasterIdLst>
    <p:notesMasterId r:id="rId22"/>
  </p:notesMasterIdLst>
  <p:handoutMasterIdLst>
    <p:handoutMasterId r:id="rId23"/>
  </p:handoutMasterIdLst>
  <p:sldIdLst>
    <p:sldId id="256" r:id="rId5"/>
    <p:sldId id="261" r:id="rId6"/>
    <p:sldId id="262" r:id="rId7"/>
    <p:sldId id="263" r:id="rId8"/>
    <p:sldId id="265" r:id="rId9"/>
    <p:sldId id="269" r:id="rId10"/>
    <p:sldId id="266" r:id="rId11"/>
    <p:sldId id="271" r:id="rId12"/>
    <p:sldId id="272" r:id="rId13"/>
    <p:sldId id="273" r:id="rId14"/>
    <p:sldId id="267" r:id="rId15"/>
    <p:sldId id="268" r:id="rId16"/>
    <p:sldId id="264" r:id="rId17"/>
    <p:sldId id="277" r:id="rId18"/>
    <p:sldId id="278" r:id="rId19"/>
    <p:sldId id="276"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A3B9E2"/>
    <a:srgbClr val="6973C0"/>
    <a:srgbClr val="B9D5EA"/>
    <a:srgbClr val="A648DF"/>
    <a:srgbClr val="F58634"/>
    <a:srgbClr val="F6F3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CBB76-07CE-964C-B4E9-B2CCFDC901ED}" v="117" dt="2025-11-12T06:46:19.509"/>
    <p1510:client id="{409D0737-6E2D-4936-9E85-D80F2BE8A2C8}" v="5" dt="2025-11-12T07:33:25.281"/>
    <p1510:client id="{7D9D28B5-26D7-1BCC-71C5-13B3135417B2}" v="5" dt="2025-11-12T07:56:26.001"/>
    <p1510:client id="{B1BEBC1F-C295-4410-B5D3-4A2145A3BDFB}" v="17" dt="2025-11-12T09:33:19.078"/>
    <p1510:client id="{E187F174-65FD-446E-9E29-FF270ADBA7D0}" v="820" dt="2025-11-12T09:48:44.110"/>
    <p1510:client id="{ED42DC7B-C37D-4B94-A176-D91FDBEFB2B3}" v="6" dt="2025-11-12T09:35:48.4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7"/>
    <p:restoredTop sz="84606"/>
  </p:normalViewPr>
  <p:slideViewPr>
    <p:cSldViewPr snapToGrid="0">
      <p:cViewPr>
        <p:scale>
          <a:sx n="117" d="100"/>
          <a:sy n="117" d="100"/>
        </p:scale>
        <p:origin x="976" y="184"/>
      </p:cViewPr>
      <p:guideLst/>
    </p:cSldViewPr>
  </p:slideViewPr>
  <p:notesTextViewPr>
    <p:cViewPr>
      <p:scale>
        <a:sx n="1" d="1"/>
        <a:sy n="1" d="1"/>
      </p:scale>
      <p:origin x="0" y="0"/>
    </p:cViewPr>
  </p:notesTextViewPr>
  <p:notesViewPr>
    <p:cSldViewPr snapToGrid="0">
      <p:cViewPr varScale="1">
        <p:scale>
          <a:sx n="95" d="100"/>
          <a:sy n="95" d="100"/>
        </p:scale>
        <p:origin x="315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5CD3E9-77D7-A646-BCBF-23EB53302C1D}" type="doc">
      <dgm:prSet loTypeId="urn:microsoft.com/office/officeart/2005/8/layout/vProcess5" loCatId="" qsTypeId="urn:microsoft.com/office/officeart/2005/8/quickstyle/simple1" qsCatId="simple" csTypeId="urn:microsoft.com/office/officeart/2005/8/colors/colorful1" csCatId="colorful" phldr="1"/>
      <dgm:spPr/>
      <dgm:t>
        <a:bodyPr/>
        <a:lstStyle/>
        <a:p>
          <a:endParaRPr lang="en-US"/>
        </a:p>
      </dgm:t>
    </dgm:pt>
    <dgm:pt modelId="{35F9C75F-3DD9-2347-BFB2-EC0DD6793D69}">
      <dgm:prSet phldrT="[Text]" custT="1"/>
      <dgm:spPr/>
      <dgm:t>
        <a:bodyPr/>
        <a:lstStyle/>
        <a:p>
          <a:r>
            <a:rPr lang="en-US" sz="1200" b="1" kern="1200" dirty="0"/>
            <a:t>Ethical Dilemma Corpus </a:t>
          </a:r>
          <a:r>
            <a:rPr lang="en-US" altLang="zh-CN" sz="1200" b="0" kern="1200" dirty="0"/>
            <a:t>-&gt; Test temporal stability</a:t>
          </a:r>
          <a:endParaRPr lang="en-US" sz="1200" b="0" kern="1200" dirty="0"/>
        </a:p>
      </dgm:t>
    </dgm:pt>
    <dgm:pt modelId="{453EF504-0281-234B-B959-33DAB26AB8A2}" type="parTrans" cxnId="{F653B5DE-D4AD-1041-B6DE-D5D1BAED8C02}">
      <dgm:prSet/>
      <dgm:spPr/>
      <dgm:t>
        <a:bodyPr/>
        <a:lstStyle/>
        <a:p>
          <a:endParaRPr lang="en-US"/>
        </a:p>
      </dgm:t>
    </dgm:pt>
    <dgm:pt modelId="{8F0197A6-F1DC-7241-87FE-45A2C5038B0C}" type="sibTrans" cxnId="{F653B5DE-D4AD-1041-B6DE-D5D1BAED8C02}">
      <dgm:prSet/>
      <dgm:spPr/>
      <dgm:t>
        <a:bodyPr/>
        <a:lstStyle/>
        <a:p>
          <a:endParaRPr lang="en-US"/>
        </a:p>
      </dgm:t>
    </dgm:pt>
    <dgm:pt modelId="{8AD722F4-F5C2-4341-89CE-F1325F004DAF}">
      <dgm:prSet phldrT="[Text]"/>
      <dgm:spPr/>
      <dgm:t>
        <a:bodyPr/>
        <a:lstStyle/>
        <a:p>
          <a:r>
            <a:rPr lang="en-US" b="1" dirty="0"/>
            <a:t>Diversity-Enhanced Framework </a:t>
          </a:r>
          <a:r>
            <a:rPr lang="en-US" b="0" dirty="0"/>
            <a:t>-&gt; Quantifiers cultural fidelity vs. actual populations</a:t>
          </a:r>
        </a:p>
      </dgm:t>
    </dgm:pt>
    <dgm:pt modelId="{453B4B0B-D892-E74F-A431-833849AC542E}" type="parTrans" cxnId="{4BE82C4B-0AC1-294E-B098-677B63C8449A}">
      <dgm:prSet/>
      <dgm:spPr/>
      <dgm:t>
        <a:bodyPr/>
        <a:lstStyle/>
        <a:p>
          <a:endParaRPr lang="en-US"/>
        </a:p>
      </dgm:t>
    </dgm:pt>
    <dgm:pt modelId="{555A8E9C-9E58-524D-A63A-D7DE84DE0BE4}" type="sibTrans" cxnId="{4BE82C4B-0AC1-294E-B098-677B63C8449A}">
      <dgm:prSet/>
      <dgm:spPr/>
      <dgm:t>
        <a:bodyPr/>
        <a:lstStyle/>
        <a:p>
          <a:endParaRPr lang="en-US"/>
        </a:p>
      </dgm:t>
    </dgm:pt>
    <dgm:pt modelId="{1D054AE9-0F96-304F-B285-B4835B284B64}">
      <dgm:prSet phldrT="[Text]"/>
      <dgm:spPr/>
      <dgm:t>
        <a:bodyPr/>
        <a:lstStyle/>
        <a:p>
          <a:r>
            <a:rPr lang="en-US" b="1" dirty="0"/>
            <a:t>First-Token Alignment </a:t>
          </a:r>
          <a:r>
            <a:rPr lang="en-US" b="0" dirty="0"/>
            <a:t>-&gt; Technical solution for better distributional accuracy</a:t>
          </a:r>
        </a:p>
      </dgm:t>
    </dgm:pt>
    <dgm:pt modelId="{D8FFF075-451C-C844-A00D-C574064B9F7C}" type="parTrans" cxnId="{23F28C69-1896-644F-B5E5-EE57ACD0FA1A}">
      <dgm:prSet/>
      <dgm:spPr/>
      <dgm:t>
        <a:bodyPr/>
        <a:lstStyle/>
        <a:p>
          <a:endParaRPr lang="en-US"/>
        </a:p>
      </dgm:t>
    </dgm:pt>
    <dgm:pt modelId="{4D045959-0443-E143-B35B-B0A45025F55E}" type="sibTrans" cxnId="{23F28C69-1896-644F-B5E5-EE57ACD0FA1A}">
      <dgm:prSet/>
      <dgm:spPr/>
      <dgm:t>
        <a:bodyPr/>
        <a:lstStyle/>
        <a:p>
          <a:endParaRPr lang="en-US"/>
        </a:p>
      </dgm:t>
    </dgm:pt>
    <dgm:pt modelId="{B763FBBA-D2AB-6540-BED7-123B75356799}">
      <dgm:prSet phldrT="[Text]"/>
      <dgm:spPr/>
      <dgm:t>
        <a:bodyPr/>
        <a:lstStyle/>
        <a:p>
          <a:r>
            <a:rPr lang="en-US" b="1" dirty="0"/>
            <a:t>MARK Framework </a:t>
          </a:r>
          <a:r>
            <a:rPr lang="en-US" b="0" dirty="0"/>
            <a:t>-&gt; Provides explainable, personality-driven reasoning</a:t>
          </a:r>
        </a:p>
      </dgm:t>
    </dgm:pt>
    <dgm:pt modelId="{4A19BBC2-DBE5-2C40-80B6-5A4297865FA8}" type="parTrans" cxnId="{DF3D8243-E53E-F147-A555-052D8E043AAA}">
      <dgm:prSet/>
      <dgm:spPr/>
      <dgm:t>
        <a:bodyPr/>
        <a:lstStyle/>
        <a:p>
          <a:endParaRPr lang="en-US"/>
        </a:p>
      </dgm:t>
    </dgm:pt>
    <dgm:pt modelId="{E2D95833-F54A-944B-83DF-59990D661565}" type="sibTrans" cxnId="{DF3D8243-E53E-F147-A555-052D8E043AAA}">
      <dgm:prSet/>
      <dgm:spPr/>
      <dgm:t>
        <a:bodyPr/>
        <a:lstStyle/>
        <a:p>
          <a:endParaRPr lang="en-US"/>
        </a:p>
      </dgm:t>
    </dgm:pt>
    <dgm:pt modelId="{B86DED83-AA48-E244-8363-6E8199DA5870}" type="pres">
      <dgm:prSet presAssocID="{725CD3E9-77D7-A646-BCBF-23EB53302C1D}" presName="outerComposite" presStyleCnt="0">
        <dgm:presLayoutVars>
          <dgm:chMax val="5"/>
          <dgm:dir/>
          <dgm:resizeHandles val="exact"/>
        </dgm:presLayoutVars>
      </dgm:prSet>
      <dgm:spPr/>
    </dgm:pt>
    <dgm:pt modelId="{DFA5FC4F-6F9B-BD4F-9D81-7FDF062B9D32}" type="pres">
      <dgm:prSet presAssocID="{725CD3E9-77D7-A646-BCBF-23EB53302C1D}" presName="dummyMaxCanvas" presStyleCnt="0">
        <dgm:presLayoutVars/>
      </dgm:prSet>
      <dgm:spPr/>
    </dgm:pt>
    <dgm:pt modelId="{13FB9C84-3441-AD42-BF24-47A5DA71FA6D}" type="pres">
      <dgm:prSet presAssocID="{725CD3E9-77D7-A646-BCBF-23EB53302C1D}" presName="FourNodes_1" presStyleLbl="node1" presStyleIdx="0" presStyleCnt="4">
        <dgm:presLayoutVars>
          <dgm:bulletEnabled val="1"/>
        </dgm:presLayoutVars>
      </dgm:prSet>
      <dgm:spPr/>
    </dgm:pt>
    <dgm:pt modelId="{6312FFC2-2E15-164F-AC7B-9F23DC2600BB}" type="pres">
      <dgm:prSet presAssocID="{725CD3E9-77D7-A646-BCBF-23EB53302C1D}" presName="FourNodes_2" presStyleLbl="node1" presStyleIdx="1" presStyleCnt="4">
        <dgm:presLayoutVars>
          <dgm:bulletEnabled val="1"/>
        </dgm:presLayoutVars>
      </dgm:prSet>
      <dgm:spPr/>
    </dgm:pt>
    <dgm:pt modelId="{8683F5BE-7393-AB47-B189-902FEB8F2311}" type="pres">
      <dgm:prSet presAssocID="{725CD3E9-77D7-A646-BCBF-23EB53302C1D}" presName="FourNodes_3" presStyleLbl="node1" presStyleIdx="2" presStyleCnt="4">
        <dgm:presLayoutVars>
          <dgm:bulletEnabled val="1"/>
        </dgm:presLayoutVars>
      </dgm:prSet>
      <dgm:spPr/>
    </dgm:pt>
    <dgm:pt modelId="{9606D9E9-7B92-0240-9C7D-2830073B4675}" type="pres">
      <dgm:prSet presAssocID="{725CD3E9-77D7-A646-BCBF-23EB53302C1D}" presName="FourNodes_4" presStyleLbl="node1" presStyleIdx="3" presStyleCnt="4">
        <dgm:presLayoutVars>
          <dgm:bulletEnabled val="1"/>
        </dgm:presLayoutVars>
      </dgm:prSet>
      <dgm:spPr/>
    </dgm:pt>
    <dgm:pt modelId="{AD1D4D71-466A-7747-9AEF-A67C9C6FAEB2}" type="pres">
      <dgm:prSet presAssocID="{725CD3E9-77D7-A646-BCBF-23EB53302C1D}" presName="FourConn_1-2" presStyleLbl="fgAccFollowNode1" presStyleIdx="0" presStyleCnt="3">
        <dgm:presLayoutVars>
          <dgm:bulletEnabled val="1"/>
        </dgm:presLayoutVars>
      </dgm:prSet>
      <dgm:spPr/>
    </dgm:pt>
    <dgm:pt modelId="{1ED852C6-4EF5-2645-AB99-7911D19F17CA}" type="pres">
      <dgm:prSet presAssocID="{725CD3E9-77D7-A646-BCBF-23EB53302C1D}" presName="FourConn_2-3" presStyleLbl="fgAccFollowNode1" presStyleIdx="1" presStyleCnt="3">
        <dgm:presLayoutVars>
          <dgm:bulletEnabled val="1"/>
        </dgm:presLayoutVars>
      </dgm:prSet>
      <dgm:spPr/>
    </dgm:pt>
    <dgm:pt modelId="{95BDAF8B-634E-DE4E-9174-E1C8CF7EECC4}" type="pres">
      <dgm:prSet presAssocID="{725CD3E9-77D7-A646-BCBF-23EB53302C1D}" presName="FourConn_3-4" presStyleLbl="fgAccFollowNode1" presStyleIdx="2" presStyleCnt="3">
        <dgm:presLayoutVars>
          <dgm:bulletEnabled val="1"/>
        </dgm:presLayoutVars>
      </dgm:prSet>
      <dgm:spPr/>
    </dgm:pt>
    <dgm:pt modelId="{50BE03C2-0EA6-6641-BDF1-4BC9E0ABB415}" type="pres">
      <dgm:prSet presAssocID="{725CD3E9-77D7-A646-BCBF-23EB53302C1D}" presName="FourNodes_1_text" presStyleLbl="node1" presStyleIdx="3" presStyleCnt="4">
        <dgm:presLayoutVars>
          <dgm:bulletEnabled val="1"/>
        </dgm:presLayoutVars>
      </dgm:prSet>
      <dgm:spPr/>
    </dgm:pt>
    <dgm:pt modelId="{A9E1B619-E7AE-9746-957F-42C3CC61AA08}" type="pres">
      <dgm:prSet presAssocID="{725CD3E9-77D7-A646-BCBF-23EB53302C1D}" presName="FourNodes_2_text" presStyleLbl="node1" presStyleIdx="3" presStyleCnt="4">
        <dgm:presLayoutVars>
          <dgm:bulletEnabled val="1"/>
        </dgm:presLayoutVars>
      </dgm:prSet>
      <dgm:spPr/>
    </dgm:pt>
    <dgm:pt modelId="{10825D1B-893C-EF48-B468-AA4B3ADEFF29}" type="pres">
      <dgm:prSet presAssocID="{725CD3E9-77D7-A646-BCBF-23EB53302C1D}" presName="FourNodes_3_text" presStyleLbl="node1" presStyleIdx="3" presStyleCnt="4">
        <dgm:presLayoutVars>
          <dgm:bulletEnabled val="1"/>
        </dgm:presLayoutVars>
      </dgm:prSet>
      <dgm:spPr/>
    </dgm:pt>
    <dgm:pt modelId="{02E919B2-4EE6-5B42-899C-00A779A74EE6}" type="pres">
      <dgm:prSet presAssocID="{725CD3E9-77D7-A646-BCBF-23EB53302C1D}" presName="FourNodes_4_text" presStyleLbl="node1" presStyleIdx="3" presStyleCnt="4">
        <dgm:presLayoutVars>
          <dgm:bulletEnabled val="1"/>
        </dgm:presLayoutVars>
      </dgm:prSet>
      <dgm:spPr/>
    </dgm:pt>
  </dgm:ptLst>
  <dgm:cxnLst>
    <dgm:cxn modelId="{ACC05407-F1C8-6344-B480-CEBD7DAD665F}" type="presOf" srcId="{8AD722F4-F5C2-4341-89CE-F1325F004DAF}" destId="{A9E1B619-E7AE-9746-957F-42C3CC61AA08}" srcOrd="1" destOrd="0" presId="urn:microsoft.com/office/officeart/2005/8/layout/vProcess5"/>
    <dgm:cxn modelId="{2BBB061C-D813-874A-A8FA-7D50A294E9D7}" type="presOf" srcId="{8F0197A6-F1DC-7241-87FE-45A2C5038B0C}" destId="{AD1D4D71-466A-7747-9AEF-A67C9C6FAEB2}" srcOrd="0" destOrd="0" presId="urn:microsoft.com/office/officeart/2005/8/layout/vProcess5"/>
    <dgm:cxn modelId="{F4A0491E-CF5B-1949-90AA-85DFEB5AD63C}" type="presOf" srcId="{8AD722F4-F5C2-4341-89CE-F1325F004DAF}" destId="{6312FFC2-2E15-164F-AC7B-9F23DC2600BB}" srcOrd="0" destOrd="0" presId="urn:microsoft.com/office/officeart/2005/8/layout/vProcess5"/>
    <dgm:cxn modelId="{A2462523-37DC-4641-B969-236813406039}" type="presOf" srcId="{1D054AE9-0F96-304F-B285-B4835B284B64}" destId="{8683F5BE-7393-AB47-B189-902FEB8F2311}" srcOrd="0" destOrd="0" presId="urn:microsoft.com/office/officeart/2005/8/layout/vProcess5"/>
    <dgm:cxn modelId="{D2AD552E-9562-2B4A-8D50-A446713611FC}" type="presOf" srcId="{725CD3E9-77D7-A646-BCBF-23EB53302C1D}" destId="{B86DED83-AA48-E244-8363-6E8199DA5870}" srcOrd="0" destOrd="0" presId="urn:microsoft.com/office/officeart/2005/8/layout/vProcess5"/>
    <dgm:cxn modelId="{DF3D8243-E53E-F147-A555-052D8E043AAA}" srcId="{725CD3E9-77D7-A646-BCBF-23EB53302C1D}" destId="{B763FBBA-D2AB-6540-BED7-123B75356799}" srcOrd="3" destOrd="0" parTransId="{4A19BBC2-DBE5-2C40-80B6-5A4297865FA8}" sibTransId="{E2D95833-F54A-944B-83DF-59990D661565}"/>
    <dgm:cxn modelId="{4BE82C4B-0AC1-294E-B098-677B63C8449A}" srcId="{725CD3E9-77D7-A646-BCBF-23EB53302C1D}" destId="{8AD722F4-F5C2-4341-89CE-F1325F004DAF}" srcOrd="1" destOrd="0" parTransId="{453B4B0B-D892-E74F-A431-833849AC542E}" sibTransId="{555A8E9C-9E58-524D-A63A-D7DE84DE0BE4}"/>
    <dgm:cxn modelId="{23F28C69-1896-644F-B5E5-EE57ACD0FA1A}" srcId="{725CD3E9-77D7-A646-BCBF-23EB53302C1D}" destId="{1D054AE9-0F96-304F-B285-B4835B284B64}" srcOrd="2" destOrd="0" parTransId="{D8FFF075-451C-C844-A00D-C574064B9F7C}" sibTransId="{4D045959-0443-E143-B35B-B0A45025F55E}"/>
    <dgm:cxn modelId="{C21AC289-7F8E-3D44-A228-21BD03CC0567}" type="presOf" srcId="{B763FBBA-D2AB-6540-BED7-123B75356799}" destId="{02E919B2-4EE6-5B42-899C-00A779A74EE6}" srcOrd="1" destOrd="0" presId="urn:microsoft.com/office/officeart/2005/8/layout/vProcess5"/>
    <dgm:cxn modelId="{F0B88493-3197-6D44-AC57-6E670A6E2EEE}" type="presOf" srcId="{35F9C75F-3DD9-2347-BFB2-EC0DD6793D69}" destId="{50BE03C2-0EA6-6641-BDF1-4BC9E0ABB415}" srcOrd="1" destOrd="0" presId="urn:microsoft.com/office/officeart/2005/8/layout/vProcess5"/>
    <dgm:cxn modelId="{51F74FA7-6709-BC4B-B6D8-C491E6B56405}" type="presOf" srcId="{B763FBBA-D2AB-6540-BED7-123B75356799}" destId="{9606D9E9-7B92-0240-9C7D-2830073B4675}" srcOrd="0" destOrd="0" presId="urn:microsoft.com/office/officeart/2005/8/layout/vProcess5"/>
    <dgm:cxn modelId="{F32DFFAF-1CE2-F545-BCDA-1EFB29BAF01B}" type="presOf" srcId="{4D045959-0443-E143-B35B-B0A45025F55E}" destId="{95BDAF8B-634E-DE4E-9174-E1C8CF7EECC4}" srcOrd="0" destOrd="0" presId="urn:microsoft.com/office/officeart/2005/8/layout/vProcess5"/>
    <dgm:cxn modelId="{C78CE8B3-FB62-C34B-8AB2-933412051732}" type="presOf" srcId="{1D054AE9-0F96-304F-B285-B4835B284B64}" destId="{10825D1B-893C-EF48-B468-AA4B3ADEFF29}" srcOrd="1" destOrd="0" presId="urn:microsoft.com/office/officeart/2005/8/layout/vProcess5"/>
    <dgm:cxn modelId="{129099C2-6C08-0B43-BA8B-524B3C21338D}" type="presOf" srcId="{35F9C75F-3DD9-2347-BFB2-EC0DD6793D69}" destId="{13FB9C84-3441-AD42-BF24-47A5DA71FA6D}" srcOrd="0" destOrd="0" presId="urn:microsoft.com/office/officeart/2005/8/layout/vProcess5"/>
    <dgm:cxn modelId="{4308FAC9-B111-2A4F-841E-CD12D6375BD9}" type="presOf" srcId="{555A8E9C-9E58-524D-A63A-D7DE84DE0BE4}" destId="{1ED852C6-4EF5-2645-AB99-7911D19F17CA}" srcOrd="0" destOrd="0" presId="urn:microsoft.com/office/officeart/2005/8/layout/vProcess5"/>
    <dgm:cxn modelId="{F653B5DE-D4AD-1041-B6DE-D5D1BAED8C02}" srcId="{725CD3E9-77D7-A646-BCBF-23EB53302C1D}" destId="{35F9C75F-3DD9-2347-BFB2-EC0DD6793D69}" srcOrd="0" destOrd="0" parTransId="{453EF504-0281-234B-B959-33DAB26AB8A2}" sibTransId="{8F0197A6-F1DC-7241-87FE-45A2C5038B0C}"/>
    <dgm:cxn modelId="{3537D2ED-3D53-7B48-B1B8-E4048174B203}" type="presParOf" srcId="{B86DED83-AA48-E244-8363-6E8199DA5870}" destId="{DFA5FC4F-6F9B-BD4F-9D81-7FDF062B9D32}" srcOrd="0" destOrd="0" presId="urn:microsoft.com/office/officeart/2005/8/layout/vProcess5"/>
    <dgm:cxn modelId="{56AF24C6-54FE-8043-A104-21EB76EA4B07}" type="presParOf" srcId="{B86DED83-AA48-E244-8363-6E8199DA5870}" destId="{13FB9C84-3441-AD42-BF24-47A5DA71FA6D}" srcOrd="1" destOrd="0" presId="urn:microsoft.com/office/officeart/2005/8/layout/vProcess5"/>
    <dgm:cxn modelId="{879BF271-BB6D-F247-967D-3784AA7E1A61}" type="presParOf" srcId="{B86DED83-AA48-E244-8363-6E8199DA5870}" destId="{6312FFC2-2E15-164F-AC7B-9F23DC2600BB}" srcOrd="2" destOrd="0" presId="urn:microsoft.com/office/officeart/2005/8/layout/vProcess5"/>
    <dgm:cxn modelId="{F50FB6EA-246A-D94F-B127-DAF2576BF470}" type="presParOf" srcId="{B86DED83-AA48-E244-8363-6E8199DA5870}" destId="{8683F5BE-7393-AB47-B189-902FEB8F2311}" srcOrd="3" destOrd="0" presId="urn:microsoft.com/office/officeart/2005/8/layout/vProcess5"/>
    <dgm:cxn modelId="{94ED9AB0-32A0-A440-8694-FBEDB2F03562}" type="presParOf" srcId="{B86DED83-AA48-E244-8363-6E8199DA5870}" destId="{9606D9E9-7B92-0240-9C7D-2830073B4675}" srcOrd="4" destOrd="0" presId="urn:microsoft.com/office/officeart/2005/8/layout/vProcess5"/>
    <dgm:cxn modelId="{66A55D31-BA69-7F4A-897B-D4633C9C1648}" type="presParOf" srcId="{B86DED83-AA48-E244-8363-6E8199DA5870}" destId="{AD1D4D71-466A-7747-9AEF-A67C9C6FAEB2}" srcOrd="5" destOrd="0" presId="urn:microsoft.com/office/officeart/2005/8/layout/vProcess5"/>
    <dgm:cxn modelId="{44AC8D28-AD90-8A49-B176-21D0AEAF06A1}" type="presParOf" srcId="{B86DED83-AA48-E244-8363-6E8199DA5870}" destId="{1ED852C6-4EF5-2645-AB99-7911D19F17CA}" srcOrd="6" destOrd="0" presId="urn:microsoft.com/office/officeart/2005/8/layout/vProcess5"/>
    <dgm:cxn modelId="{620D5161-DF3F-D147-B092-9E0F142D5FB9}" type="presParOf" srcId="{B86DED83-AA48-E244-8363-6E8199DA5870}" destId="{95BDAF8B-634E-DE4E-9174-E1C8CF7EECC4}" srcOrd="7" destOrd="0" presId="urn:microsoft.com/office/officeart/2005/8/layout/vProcess5"/>
    <dgm:cxn modelId="{F0B5C07E-3D38-D045-8018-6AEC7AC1AF27}" type="presParOf" srcId="{B86DED83-AA48-E244-8363-6E8199DA5870}" destId="{50BE03C2-0EA6-6641-BDF1-4BC9E0ABB415}" srcOrd="8" destOrd="0" presId="urn:microsoft.com/office/officeart/2005/8/layout/vProcess5"/>
    <dgm:cxn modelId="{554B0637-7681-3044-8EBA-498445D451B0}" type="presParOf" srcId="{B86DED83-AA48-E244-8363-6E8199DA5870}" destId="{A9E1B619-E7AE-9746-957F-42C3CC61AA08}" srcOrd="9" destOrd="0" presId="urn:microsoft.com/office/officeart/2005/8/layout/vProcess5"/>
    <dgm:cxn modelId="{328F42AA-0B30-5442-8D9C-3B023AF443BB}" type="presParOf" srcId="{B86DED83-AA48-E244-8363-6E8199DA5870}" destId="{10825D1B-893C-EF48-B468-AA4B3ADEFF29}" srcOrd="10" destOrd="0" presId="urn:microsoft.com/office/officeart/2005/8/layout/vProcess5"/>
    <dgm:cxn modelId="{6D150897-34E3-8547-9766-AF53F3D21CF3}" type="presParOf" srcId="{B86DED83-AA48-E244-8363-6E8199DA5870}" destId="{02E919B2-4EE6-5B42-899C-00A779A74EE6}"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21428B-35B7-6B40-9C45-AF308DF9CE31}" type="doc">
      <dgm:prSet loTypeId="urn:microsoft.com/office/officeart/2005/8/layout/bProcess4" loCatId="" qsTypeId="urn:microsoft.com/office/officeart/2005/8/quickstyle/simple1" qsCatId="simple" csTypeId="urn:microsoft.com/office/officeart/2005/8/colors/accent1_2" csCatId="accent1" phldr="1"/>
      <dgm:spPr/>
      <dgm:t>
        <a:bodyPr/>
        <a:lstStyle/>
        <a:p>
          <a:endParaRPr lang="en-US"/>
        </a:p>
      </dgm:t>
    </dgm:pt>
    <dgm:pt modelId="{C1566DB8-DD61-E54D-BE1A-1BC4C4E29CE3}">
      <dgm:prSet phldrT="[Text]"/>
      <dgm:spPr/>
      <dgm:t>
        <a:bodyPr/>
        <a:lstStyle/>
        <a:p>
          <a:r>
            <a:rPr lang="en-US" dirty="0"/>
            <a:t>Start: Identify Governance Need (e.g., High-Stakes Deployment)</a:t>
          </a:r>
        </a:p>
      </dgm:t>
    </dgm:pt>
    <dgm:pt modelId="{792DB8A4-0226-1549-BAB3-6C1919BA54B8}" type="parTrans" cxnId="{2D94BC07-0353-594B-BDA7-7B8B2DBB9369}">
      <dgm:prSet/>
      <dgm:spPr/>
      <dgm:t>
        <a:bodyPr/>
        <a:lstStyle/>
        <a:p>
          <a:endParaRPr lang="en-US"/>
        </a:p>
      </dgm:t>
    </dgm:pt>
    <dgm:pt modelId="{C36D628B-70ED-2941-8B1F-D36FC2078926}" type="sibTrans" cxnId="{2D94BC07-0353-594B-BDA7-7B8B2DBB9369}">
      <dgm:prSet/>
      <dgm:spPr/>
      <dgm:t>
        <a:bodyPr/>
        <a:lstStyle/>
        <a:p>
          <a:endParaRPr lang="en-US"/>
        </a:p>
      </dgm:t>
    </dgm:pt>
    <dgm:pt modelId="{89E2A34D-E36A-BF49-A242-22111914CD0B}">
      <dgm:prSet phldrT="[Text]"/>
      <dgm:spPr/>
      <dgm:t>
        <a:bodyPr/>
        <a:lstStyle/>
        <a:p>
          <a:r>
            <a:rPr lang="en-US" dirty="0"/>
            <a:t>Audit with Multi-Layered Platform (Ethical Corpus, DEF, First-Token, MARK)</a:t>
          </a:r>
        </a:p>
      </dgm:t>
    </dgm:pt>
    <dgm:pt modelId="{910DF5EE-F28F-5845-BB4C-20B25A7FA06B}" type="parTrans" cxnId="{CE450F99-8FAB-274F-9C5E-D991BBAF341F}">
      <dgm:prSet/>
      <dgm:spPr/>
      <dgm:t>
        <a:bodyPr/>
        <a:lstStyle/>
        <a:p>
          <a:endParaRPr lang="en-US"/>
        </a:p>
      </dgm:t>
    </dgm:pt>
    <dgm:pt modelId="{0702C2DE-8845-6C4F-8C0E-CF1F673B1D05}" type="sibTrans" cxnId="{CE450F99-8FAB-274F-9C5E-D991BBAF341F}">
      <dgm:prSet/>
      <dgm:spPr/>
      <dgm:t>
        <a:bodyPr/>
        <a:lstStyle/>
        <a:p>
          <a:endParaRPr lang="en-US"/>
        </a:p>
      </dgm:t>
    </dgm:pt>
    <dgm:pt modelId="{F6636F31-7C3F-2740-8D59-1CF1422D178E}">
      <dgm:prSet phldrT="[Text]"/>
      <dgm:spPr/>
      <dgm:t>
        <a:bodyPr/>
        <a:lstStyle/>
        <a:p>
          <a:r>
            <a:rPr lang="en-US" dirty="0"/>
            <a:t>Diagnose Issues (Instability, Biases, Misalignment)</a:t>
          </a:r>
        </a:p>
      </dgm:t>
    </dgm:pt>
    <dgm:pt modelId="{28D60DD9-F71D-8941-A393-6E0ECFF35AC4}" type="parTrans" cxnId="{1DD5FB21-1A40-0F43-9F10-F9C381BCB9FA}">
      <dgm:prSet/>
      <dgm:spPr/>
      <dgm:t>
        <a:bodyPr/>
        <a:lstStyle/>
        <a:p>
          <a:endParaRPr lang="en-US"/>
        </a:p>
      </dgm:t>
    </dgm:pt>
    <dgm:pt modelId="{DD9E274A-5FEA-E54D-9FBF-A5F59031A77C}" type="sibTrans" cxnId="{1DD5FB21-1A40-0F43-9F10-F9C381BCB9FA}">
      <dgm:prSet/>
      <dgm:spPr/>
      <dgm:t>
        <a:bodyPr/>
        <a:lstStyle/>
        <a:p>
          <a:endParaRPr lang="en-US"/>
        </a:p>
      </dgm:t>
    </dgm:pt>
    <dgm:pt modelId="{46877043-62A0-6C4C-84A3-1C4EEE053B45}">
      <dgm:prSet phldrT="[Text]"/>
      <dgm:spPr/>
      <dgm:t>
        <a:bodyPr/>
        <a:lstStyle/>
        <a:p>
          <a:r>
            <a:rPr lang="en-US" dirty="0"/>
            <a:t>Select Alignment Technique?</a:t>
          </a:r>
        </a:p>
      </dgm:t>
    </dgm:pt>
    <dgm:pt modelId="{021AEF50-325E-054F-AFA2-0177FF55A323}" type="parTrans" cxnId="{A249FF9F-ECBD-5946-AAD9-859BFDBBEC43}">
      <dgm:prSet/>
      <dgm:spPr/>
      <dgm:t>
        <a:bodyPr/>
        <a:lstStyle/>
        <a:p>
          <a:endParaRPr lang="en-US"/>
        </a:p>
      </dgm:t>
    </dgm:pt>
    <dgm:pt modelId="{C5350A03-233B-5F42-A0B4-1049947C6FAA}" type="sibTrans" cxnId="{A249FF9F-ECBD-5946-AAD9-859BFDBBEC43}">
      <dgm:prSet/>
      <dgm:spPr/>
      <dgm:t>
        <a:bodyPr/>
        <a:lstStyle/>
        <a:p>
          <a:endParaRPr lang="en-US"/>
        </a:p>
      </dgm:t>
    </dgm:pt>
    <dgm:pt modelId="{530EC862-D490-BB4A-9F2B-EFAA06461EEB}">
      <dgm:prSet phldrT="[Text]"/>
      <dgm:spPr/>
      <dgm:t>
        <a:bodyPr/>
        <a:lstStyle/>
        <a:p>
          <a:r>
            <a:rPr lang="en-US" dirty="0"/>
            <a:t>Full-Parameter Fine-Tuning / Avoid RLHF Alone</a:t>
          </a:r>
        </a:p>
        <a:p>
          <a:r>
            <a:rPr lang="en-US" dirty="0"/>
            <a:t>(Diverse Datasets + Human</a:t>
          </a:r>
        </a:p>
        <a:p>
          <a:r>
            <a:rPr lang="en-US" dirty="0"/>
            <a:t>Feedback Loops)</a:t>
          </a:r>
        </a:p>
      </dgm:t>
    </dgm:pt>
    <dgm:pt modelId="{85D11A39-52B8-A745-B033-18B6C92124E9}" type="parTrans" cxnId="{D6801DA4-B0F0-FF47-95AA-F56437C9BECF}">
      <dgm:prSet/>
      <dgm:spPr/>
      <dgm:t>
        <a:bodyPr/>
        <a:lstStyle/>
        <a:p>
          <a:endParaRPr lang="en-US"/>
        </a:p>
      </dgm:t>
    </dgm:pt>
    <dgm:pt modelId="{025D4D87-85E8-1B46-9B38-9D2ED68AB3D3}" type="sibTrans" cxnId="{D6801DA4-B0F0-FF47-95AA-F56437C9BECF}">
      <dgm:prSet/>
      <dgm:spPr/>
      <dgm:t>
        <a:bodyPr/>
        <a:lstStyle/>
        <a:p>
          <a:endParaRPr lang="en-US"/>
        </a:p>
      </dgm:t>
    </dgm:pt>
    <dgm:pt modelId="{BA1FF817-F6E6-794E-AAA3-ECB92A705E85}">
      <dgm:prSet phldrT="[Text]"/>
      <dgm:spPr/>
      <dgm:t>
        <a:bodyPr/>
        <a:lstStyle/>
        <a:p>
          <a:r>
            <a:rPr lang="en-US" dirty="0"/>
            <a:t>Opensource Model Selection (Prioritize Mistral over </a:t>
          </a:r>
          <a:r>
            <a:rPr lang="en-US" dirty="0" err="1"/>
            <a:t>LLaMA</a:t>
          </a:r>
          <a:r>
            <a:rPr lang="en-US" dirty="0"/>
            <a:t> for Cross-Cultural)</a:t>
          </a:r>
        </a:p>
      </dgm:t>
    </dgm:pt>
    <dgm:pt modelId="{F15F0E2B-42E1-E947-A144-06526726A6E8}" type="parTrans" cxnId="{4E00C49A-B939-A84E-88B4-7370B3A2A95E}">
      <dgm:prSet/>
      <dgm:spPr/>
      <dgm:t>
        <a:bodyPr/>
        <a:lstStyle/>
        <a:p>
          <a:endParaRPr lang="en-US"/>
        </a:p>
      </dgm:t>
    </dgm:pt>
    <dgm:pt modelId="{960BB68F-0CFF-8844-8EC9-482E92878821}" type="sibTrans" cxnId="{4E00C49A-B939-A84E-88B4-7370B3A2A95E}">
      <dgm:prSet/>
      <dgm:spPr/>
      <dgm:t>
        <a:bodyPr/>
        <a:lstStyle/>
        <a:p>
          <a:endParaRPr lang="en-US"/>
        </a:p>
      </dgm:t>
    </dgm:pt>
    <dgm:pt modelId="{D9E14618-3273-F940-8EAD-4CC304BC6E42}">
      <dgm:prSet phldrT="[Text]"/>
      <dgm:spPr/>
      <dgm:t>
        <a:bodyPr/>
        <a:lstStyle/>
        <a:p>
          <a:r>
            <a:rPr lang="en-US" dirty="0"/>
            <a:t>Bias Mitigation (Quantify with KL-Divergence, Adjust for Demographics)</a:t>
          </a:r>
        </a:p>
      </dgm:t>
    </dgm:pt>
    <dgm:pt modelId="{436C29DA-FFD3-5443-9210-02569BCCFE6E}" type="parTrans" cxnId="{37CE5461-1322-264F-BD6D-252E4658927B}">
      <dgm:prSet/>
      <dgm:spPr/>
      <dgm:t>
        <a:bodyPr/>
        <a:lstStyle/>
        <a:p>
          <a:endParaRPr lang="en-US"/>
        </a:p>
      </dgm:t>
    </dgm:pt>
    <dgm:pt modelId="{7F5ABA3E-D8C1-AA4B-8C43-E8B215760924}" type="sibTrans" cxnId="{37CE5461-1322-264F-BD6D-252E4658927B}">
      <dgm:prSet/>
      <dgm:spPr/>
      <dgm:t>
        <a:bodyPr/>
        <a:lstStyle/>
        <a:p>
          <a:endParaRPr lang="en-US"/>
        </a:p>
      </dgm:t>
    </dgm:pt>
    <dgm:pt modelId="{5752E381-23E8-1F4D-98DC-0C943E372013}">
      <dgm:prSet phldrT="[Text]"/>
      <dgm:spPr/>
      <dgm:t>
        <a:bodyPr/>
        <a:lstStyle/>
        <a:p>
          <a:r>
            <a:rPr lang="en-US" dirty="0"/>
            <a:t>Policy Consultation (Integrate Human Oversight, Protocols for Ethical Dilemmas)</a:t>
          </a:r>
        </a:p>
      </dgm:t>
    </dgm:pt>
    <dgm:pt modelId="{2CD971CD-EE13-174B-B26F-519A88B882B8}" type="parTrans" cxnId="{DDF9CC57-DECE-B240-A3E6-3E017229269E}">
      <dgm:prSet/>
      <dgm:spPr/>
      <dgm:t>
        <a:bodyPr/>
        <a:lstStyle/>
        <a:p>
          <a:endParaRPr lang="en-US"/>
        </a:p>
      </dgm:t>
    </dgm:pt>
    <dgm:pt modelId="{27ABBDCF-1424-A04D-8939-4D26F791327C}" type="sibTrans" cxnId="{DDF9CC57-DECE-B240-A3E6-3E017229269E}">
      <dgm:prSet/>
      <dgm:spPr/>
      <dgm:t>
        <a:bodyPr/>
        <a:lstStyle/>
        <a:p>
          <a:endParaRPr lang="en-US"/>
        </a:p>
      </dgm:t>
    </dgm:pt>
    <dgm:pt modelId="{117387F0-D6FA-1545-A78D-2794844E2941}">
      <dgm:prSet phldrT="[Text]"/>
      <dgm:spPr/>
      <dgm:t>
        <a:bodyPr/>
        <a:lstStyle/>
        <a:p>
          <a:r>
            <a:rPr lang="en-US" dirty="0"/>
            <a:t>End: Deploy with Sustained Monitoring (Ensure No Autonomous Moral Decisions)</a:t>
          </a:r>
        </a:p>
      </dgm:t>
    </dgm:pt>
    <dgm:pt modelId="{5FF61C52-F578-F543-AC4A-5FC6AE25F864}" type="parTrans" cxnId="{10708AA0-9281-B044-A012-F7BF74CB08A6}">
      <dgm:prSet/>
      <dgm:spPr/>
      <dgm:t>
        <a:bodyPr/>
        <a:lstStyle/>
        <a:p>
          <a:endParaRPr lang="en-US"/>
        </a:p>
      </dgm:t>
    </dgm:pt>
    <dgm:pt modelId="{098196DD-2D04-8146-BA6D-AA78E7538898}" type="sibTrans" cxnId="{10708AA0-9281-B044-A012-F7BF74CB08A6}">
      <dgm:prSet/>
      <dgm:spPr/>
      <dgm:t>
        <a:bodyPr/>
        <a:lstStyle/>
        <a:p>
          <a:endParaRPr lang="en-US"/>
        </a:p>
      </dgm:t>
    </dgm:pt>
    <dgm:pt modelId="{D6F7A5FA-94EE-564A-B7A9-052C7A27C356}" type="pres">
      <dgm:prSet presAssocID="{6F21428B-35B7-6B40-9C45-AF308DF9CE31}" presName="Name0" presStyleCnt="0">
        <dgm:presLayoutVars>
          <dgm:dir/>
          <dgm:resizeHandles/>
        </dgm:presLayoutVars>
      </dgm:prSet>
      <dgm:spPr/>
    </dgm:pt>
    <dgm:pt modelId="{B69202B0-BEB3-4B45-8820-77462B67B2FE}" type="pres">
      <dgm:prSet presAssocID="{C1566DB8-DD61-E54D-BE1A-1BC4C4E29CE3}" presName="compNode" presStyleCnt="0"/>
      <dgm:spPr/>
    </dgm:pt>
    <dgm:pt modelId="{10B92759-8817-F448-8413-F38EDA996372}" type="pres">
      <dgm:prSet presAssocID="{C1566DB8-DD61-E54D-BE1A-1BC4C4E29CE3}" presName="dummyConnPt" presStyleCnt="0"/>
      <dgm:spPr/>
    </dgm:pt>
    <dgm:pt modelId="{FE33C007-DCD5-0648-A1DA-B7BAA16C5DBD}" type="pres">
      <dgm:prSet presAssocID="{C1566DB8-DD61-E54D-BE1A-1BC4C4E29CE3}" presName="node" presStyleLbl="node1" presStyleIdx="0" presStyleCnt="9">
        <dgm:presLayoutVars>
          <dgm:bulletEnabled val="1"/>
        </dgm:presLayoutVars>
      </dgm:prSet>
      <dgm:spPr/>
    </dgm:pt>
    <dgm:pt modelId="{CC360FD5-3523-DE4F-AD73-703E0F00AC2F}" type="pres">
      <dgm:prSet presAssocID="{C36D628B-70ED-2941-8B1F-D36FC2078926}" presName="sibTrans" presStyleLbl="bgSibTrans2D1" presStyleIdx="0" presStyleCnt="8"/>
      <dgm:spPr/>
    </dgm:pt>
    <dgm:pt modelId="{CACF5776-90A6-A547-846F-FCBD20690536}" type="pres">
      <dgm:prSet presAssocID="{89E2A34D-E36A-BF49-A242-22111914CD0B}" presName="compNode" presStyleCnt="0"/>
      <dgm:spPr/>
    </dgm:pt>
    <dgm:pt modelId="{99E9C73A-644E-5E4F-BA59-DAF17F4450CE}" type="pres">
      <dgm:prSet presAssocID="{89E2A34D-E36A-BF49-A242-22111914CD0B}" presName="dummyConnPt" presStyleCnt="0"/>
      <dgm:spPr/>
    </dgm:pt>
    <dgm:pt modelId="{E8141AAD-D132-7D44-A8FC-5E1F5234788A}" type="pres">
      <dgm:prSet presAssocID="{89E2A34D-E36A-BF49-A242-22111914CD0B}" presName="node" presStyleLbl="node1" presStyleIdx="1" presStyleCnt="9">
        <dgm:presLayoutVars>
          <dgm:bulletEnabled val="1"/>
        </dgm:presLayoutVars>
      </dgm:prSet>
      <dgm:spPr/>
    </dgm:pt>
    <dgm:pt modelId="{CD3EB9FE-C935-B34F-854B-5F09B0B6C1CD}" type="pres">
      <dgm:prSet presAssocID="{0702C2DE-8845-6C4F-8C0E-CF1F673B1D05}" presName="sibTrans" presStyleLbl="bgSibTrans2D1" presStyleIdx="1" presStyleCnt="8"/>
      <dgm:spPr/>
    </dgm:pt>
    <dgm:pt modelId="{D6441F36-8DCF-9E4D-AF33-8381E4F23F7A}" type="pres">
      <dgm:prSet presAssocID="{F6636F31-7C3F-2740-8D59-1CF1422D178E}" presName="compNode" presStyleCnt="0"/>
      <dgm:spPr/>
    </dgm:pt>
    <dgm:pt modelId="{2A4D828E-12B1-C248-943C-8730ACF764E3}" type="pres">
      <dgm:prSet presAssocID="{F6636F31-7C3F-2740-8D59-1CF1422D178E}" presName="dummyConnPt" presStyleCnt="0"/>
      <dgm:spPr/>
    </dgm:pt>
    <dgm:pt modelId="{8E007F6B-037B-D745-B554-F20EFABE1A99}" type="pres">
      <dgm:prSet presAssocID="{F6636F31-7C3F-2740-8D59-1CF1422D178E}" presName="node" presStyleLbl="node1" presStyleIdx="2" presStyleCnt="9">
        <dgm:presLayoutVars>
          <dgm:bulletEnabled val="1"/>
        </dgm:presLayoutVars>
      </dgm:prSet>
      <dgm:spPr/>
    </dgm:pt>
    <dgm:pt modelId="{0668333E-BCFD-1942-9A2A-426C997B9CD3}" type="pres">
      <dgm:prSet presAssocID="{DD9E274A-5FEA-E54D-9FBF-A5F59031A77C}" presName="sibTrans" presStyleLbl="bgSibTrans2D1" presStyleIdx="2" presStyleCnt="8"/>
      <dgm:spPr/>
    </dgm:pt>
    <dgm:pt modelId="{877C6ABD-7716-FA44-8160-C5F20C1B9867}" type="pres">
      <dgm:prSet presAssocID="{46877043-62A0-6C4C-84A3-1C4EEE053B45}" presName="compNode" presStyleCnt="0"/>
      <dgm:spPr/>
    </dgm:pt>
    <dgm:pt modelId="{57FC6116-CCB6-4A4B-B4D5-89F57A953EA4}" type="pres">
      <dgm:prSet presAssocID="{46877043-62A0-6C4C-84A3-1C4EEE053B45}" presName="dummyConnPt" presStyleCnt="0"/>
      <dgm:spPr/>
    </dgm:pt>
    <dgm:pt modelId="{4DD5FE69-44B1-5744-B28A-A6D62D10B326}" type="pres">
      <dgm:prSet presAssocID="{46877043-62A0-6C4C-84A3-1C4EEE053B45}" presName="node" presStyleLbl="node1" presStyleIdx="3" presStyleCnt="9">
        <dgm:presLayoutVars>
          <dgm:bulletEnabled val="1"/>
        </dgm:presLayoutVars>
      </dgm:prSet>
      <dgm:spPr/>
    </dgm:pt>
    <dgm:pt modelId="{799065F9-1544-C142-9331-CB6D49E3C1A3}" type="pres">
      <dgm:prSet presAssocID="{C5350A03-233B-5F42-A0B4-1049947C6FAA}" presName="sibTrans" presStyleLbl="bgSibTrans2D1" presStyleIdx="3" presStyleCnt="8"/>
      <dgm:spPr/>
    </dgm:pt>
    <dgm:pt modelId="{2202BFE3-2C5A-7141-8CA7-C2940EC37F48}" type="pres">
      <dgm:prSet presAssocID="{530EC862-D490-BB4A-9F2B-EFAA06461EEB}" presName="compNode" presStyleCnt="0"/>
      <dgm:spPr/>
    </dgm:pt>
    <dgm:pt modelId="{A73A68A9-6E2F-B845-8D52-84F1E3B01EE4}" type="pres">
      <dgm:prSet presAssocID="{530EC862-D490-BB4A-9F2B-EFAA06461EEB}" presName="dummyConnPt" presStyleCnt="0"/>
      <dgm:spPr/>
    </dgm:pt>
    <dgm:pt modelId="{41AE18ED-4A1B-064A-85E0-CB70BE9BC7E3}" type="pres">
      <dgm:prSet presAssocID="{530EC862-D490-BB4A-9F2B-EFAA06461EEB}" presName="node" presStyleLbl="node1" presStyleIdx="4" presStyleCnt="9">
        <dgm:presLayoutVars>
          <dgm:bulletEnabled val="1"/>
        </dgm:presLayoutVars>
      </dgm:prSet>
      <dgm:spPr/>
    </dgm:pt>
    <dgm:pt modelId="{0201D07F-C4F7-3942-84EC-9C173D2B8A63}" type="pres">
      <dgm:prSet presAssocID="{025D4D87-85E8-1B46-9B38-9D2ED68AB3D3}" presName="sibTrans" presStyleLbl="bgSibTrans2D1" presStyleIdx="4" presStyleCnt="8"/>
      <dgm:spPr/>
    </dgm:pt>
    <dgm:pt modelId="{94F73B25-3A9E-D64A-A17F-04CB611D0021}" type="pres">
      <dgm:prSet presAssocID="{BA1FF817-F6E6-794E-AAA3-ECB92A705E85}" presName="compNode" presStyleCnt="0"/>
      <dgm:spPr/>
    </dgm:pt>
    <dgm:pt modelId="{4943451C-DCB2-A140-934F-8B9F878C19D2}" type="pres">
      <dgm:prSet presAssocID="{BA1FF817-F6E6-794E-AAA3-ECB92A705E85}" presName="dummyConnPt" presStyleCnt="0"/>
      <dgm:spPr/>
    </dgm:pt>
    <dgm:pt modelId="{362FCF70-6C3A-E14A-93B5-25F3D757F422}" type="pres">
      <dgm:prSet presAssocID="{BA1FF817-F6E6-794E-AAA3-ECB92A705E85}" presName="node" presStyleLbl="node1" presStyleIdx="5" presStyleCnt="9">
        <dgm:presLayoutVars>
          <dgm:bulletEnabled val="1"/>
        </dgm:presLayoutVars>
      </dgm:prSet>
      <dgm:spPr/>
    </dgm:pt>
    <dgm:pt modelId="{21E42462-E271-FC4C-BC4E-BC3ED87B44D0}" type="pres">
      <dgm:prSet presAssocID="{960BB68F-0CFF-8844-8EC9-482E92878821}" presName="sibTrans" presStyleLbl="bgSibTrans2D1" presStyleIdx="5" presStyleCnt="8"/>
      <dgm:spPr/>
    </dgm:pt>
    <dgm:pt modelId="{D6806238-E096-934B-B798-7955575479C9}" type="pres">
      <dgm:prSet presAssocID="{D9E14618-3273-F940-8EAD-4CC304BC6E42}" presName="compNode" presStyleCnt="0"/>
      <dgm:spPr/>
    </dgm:pt>
    <dgm:pt modelId="{E5E15AE9-AF88-594A-9B3B-EA3CF36D5DAC}" type="pres">
      <dgm:prSet presAssocID="{D9E14618-3273-F940-8EAD-4CC304BC6E42}" presName="dummyConnPt" presStyleCnt="0"/>
      <dgm:spPr/>
    </dgm:pt>
    <dgm:pt modelId="{C3511F3B-9899-ED46-84C0-4ED66AA43265}" type="pres">
      <dgm:prSet presAssocID="{D9E14618-3273-F940-8EAD-4CC304BC6E42}" presName="node" presStyleLbl="node1" presStyleIdx="6" presStyleCnt="9">
        <dgm:presLayoutVars>
          <dgm:bulletEnabled val="1"/>
        </dgm:presLayoutVars>
      </dgm:prSet>
      <dgm:spPr/>
    </dgm:pt>
    <dgm:pt modelId="{F13FDF37-47D7-3446-9E11-A8ABD6BF360E}" type="pres">
      <dgm:prSet presAssocID="{7F5ABA3E-D8C1-AA4B-8C43-E8B215760924}" presName="sibTrans" presStyleLbl="bgSibTrans2D1" presStyleIdx="6" presStyleCnt="8"/>
      <dgm:spPr/>
    </dgm:pt>
    <dgm:pt modelId="{4B5894A4-8B7F-5446-8A04-5FF3F0A8B25A}" type="pres">
      <dgm:prSet presAssocID="{5752E381-23E8-1F4D-98DC-0C943E372013}" presName="compNode" presStyleCnt="0"/>
      <dgm:spPr/>
    </dgm:pt>
    <dgm:pt modelId="{47F39881-85CC-ED46-AC71-07110E79F26D}" type="pres">
      <dgm:prSet presAssocID="{5752E381-23E8-1F4D-98DC-0C943E372013}" presName="dummyConnPt" presStyleCnt="0"/>
      <dgm:spPr/>
    </dgm:pt>
    <dgm:pt modelId="{4DC5A401-F24E-0349-9A50-1A068C43917B}" type="pres">
      <dgm:prSet presAssocID="{5752E381-23E8-1F4D-98DC-0C943E372013}" presName="node" presStyleLbl="node1" presStyleIdx="7" presStyleCnt="9">
        <dgm:presLayoutVars>
          <dgm:bulletEnabled val="1"/>
        </dgm:presLayoutVars>
      </dgm:prSet>
      <dgm:spPr/>
    </dgm:pt>
    <dgm:pt modelId="{0B09D9A6-C549-D346-8385-7EABDF73F185}" type="pres">
      <dgm:prSet presAssocID="{27ABBDCF-1424-A04D-8939-4D26F791327C}" presName="sibTrans" presStyleLbl="bgSibTrans2D1" presStyleIdx="7" presStyleCnt="8"/>
      <dgm:spPr/>
    </dgm:pt>
    <dgm:pt modelId="{0E836B70-E56E-AE49-A8D0-6DA514C65B29}" type="pres">
      <dgm:prSet presAssocID="{117387F0-D6FA-1545-A78D-2794844E2941}" presName="compNode" presStyleCnt="0"/>
      <dgm:spPr/>
    </dgm:pt>
    <dgm:pt modelId="{22151969-851E-2544-8205-EA9DD1E80705}" type="pres">
      <dgm:prSet presAssocID="{117387F0-D6FA-1545-A78D-2794844E2941}" presName="dummyConnPt" presStyleCnt="0"/>
      <dgm:spPr/>
    </dgm:pt>
    <dgm:pt modelId="{B3199DA8-E330-7B4E-A6B0-4D8C20C591B6}" type="pres">
      <dgm:prSet presAssocID="{117387F0-D6FA-1545-A78D-2794844E2941}" presName="node" presStyleLbl="node1" presStyleIdx="8" presStyleCnt="9">
        <dgm:presLayoutVars>
          <dgm:bulletEnabled val="1"/>
        </dgm:presLayoutVars>
      </dgm:prSet>
      <dgm:spPr/>
    </dgm:pt>
  </dgm:ptLst>
  <dgm:cxnLst>
    <dgm:cxn modelId="{2D94BC07-0353-594B-BDA7-7B8B2DBB9369}" srcId="{6F21428B-35B7-6B40-9C45-AF308DF9CE31}" destId="{C1566DB8-DD61-E54D-BE1A-1BC4C4E29CE3}" srcOrd="0" destOrd="0" parTransId="{792DB8A4-0226-1549-BAB3-6C1919BA54B8}" sibTransId="{C36D628B-70ED-2941-8B1F-D36FC2078926}"/>
    <dgm:cxn modelId="{2528930E-9CD5-B34F-90E7-DAB8EF4C956F}" type="presOf" srcId="{C1566DB8-DD61-E54D-BE1A-1BC4C4E29CE3}" destId="{FE33C007-DCD5-0648-A1DA-B7BAA16C5DBD}" srcOrd="0" destOrd="0" presId="urn:microsoft.com/office/officeart/2005/8/layout/bProcess4"/>
    <dgm:cxn modelId="{2CBCB010-41A7-1342-A271-54C40E92A000}" type="presOf" srcId="{530EC862-D490-BB4A-9F2B-EFAA06461EEB}" destId="{41AE18ED-4A1B-064A-85E0-CB70BE9BC7E3}" srcOrd="0" destOrd="0" presId="urn:microsoft.com/office/officeart/2005/8/layout/bProcess4"/>
    <dgm:cxn modelId="{1DD5FB21-1A40-0F43-9F10-F9C381BCB9FA}" srcId="{6F21428B-35B7-6B40-9C45-AF308DF9CE31}" destId="{F6636F31-7C3F-2740-8D59-1CF1422D178E}" srcOrd="2" destOrd="0" parTransId="{28D60DD9-F71D-8941-A393-6E0ECFF35AC4}" sibTransId="{DD9E274A-5FEA-E54D-9FBF-A5F59031A77C}"/>
    <dgm:cxn modelId="{23EC832B-DBBA-294E-81E8-F2BB4309CDE2}" type="presOf" srcId="{C5350A03-233B-5F42-A0B4-1049947C6FAA}" destId="{799065F9-1544-C142-9331-CB6D49E3C1A3}" srcOrd="0" destOrd="0" presId="urn:microsoft.com/office/officeart/2005/8/layout/bProcess4"/>
    <dgm:cxn modelId="{51E78636-1E71-0548-B689-26DC1E969D95}" type="presOf" srcId="{27ABBDCF-1424-A04D-8939-4D26F791327C}" destId="{0B09D9A6-C549-D346-8385-7EABDF73F185}" srcOrd="0" destOrd="0" presId="urn:microsoft.com/office/officeart/2005/8/layout/bProcess4"/>
    <dgm:cxn modelId="{E816FD36-A357-5847-B853-3FDBEFF22A05}" type="presOf" srcId="{C36D628B-70ED-2941-8B1F-D36FC2078926}" destId="{CC360FD5-3523-DE4F-AD73-703E0F00AC2F}" srcOrd="0" destOrd="0" presId="urn:microsoft.com/office/officeart/2005/8/layout/bProcess4"/>
    <dgm:cxn modelId="{88EADF51-2D76-1142-90A8-65A35E4C92DC}" type="presOf" srcId="{117387F0-D6FA-1545-A78D-2794844E2941}" destId="{B3199DA8-E330-7B4E-A6B0-4D8C20C591B6}" srcOrd="0" destOrd="0" presId="urn:microsoft.com/office/officeart/2005/8/layout/bProcess4"/>
    <dgm:cxn modelId="{B9B3F355-CE23-3E40-9467-2E9543B9E99F}" type="presOf" srcId="{5752E381-23E8-1F4D-98DC-0C943E372013}" destId="{4DC5A401-F24E-0349-9A50-1A068C43917B}" srcOrd="0" destOrd="0" presId="urn:microsoft.com/office/officeart/2005/8/layout/bProcess4"/>
    <dgm:cxn modelId="{DDF9CC57-DECE-B240-A3E6-3E017229269E}" srcId="{6F21428B-35B7-6B40-9C45-AF308DF9CE31}" destId="{5752E381-23E8-1F4D-98DC-0C943E372013}" srcOrd="7" destOrd="0" parTransId="{2CD971CD-EE13-174B-B26F-519A88B882B8}" sibTransId="{27ABBDCF-1424-A04D-8939-4D26F791327C}"/>
    <dgm:cxn modelId="{37CE5461-1322-264F-BD6D-252E4658927B}" srcId="{6F21428B-35B7-6B40-9C45-AF308DF9CE31}" destId="{D9E14618-3273-F940-8EAD-4CC304BC6E42}" srcOrd="6" destOrd="0" parTransId="{436C29DA-FFD3-5443-9210-02569BCCFE6E}" sibTransId="{7F5ABA3E-D8C1-AA4B-8C43-E8B215760924}"/>
    <dgm:cxn modelId="{08209161-ABE7-C14B-AE3B-C90374F20061}" type="presOf" srcId="{46877043-62A0-6C4C-84A3-1C4EEE053B45}" destId="{4DD5FE69-44B1-5744-B28A-A6D62D10B326}" srcOrd="0" destOrd="0" presId="urn:microsoft.com/office/officeart/2005/8/layout/bProcess4"/>
    <dgm:cxn modelId="{A27F9681-5086-104A-8A2C-5BE528AB6EC2}" type="presOf" srcId="{BA1FF817-F6E6-794E-AAA3-ECB92A705E85}" destId="{362FCF70-6C3A-E14A-93B5-25F3D757F422}" srcOrd="0" destOrd="0" presId="urn:microsoft.com/office/officeart/2005/8/layout/bProcess4"/>
    <dgm:cxn modelId="{10087997-DB38-AE40-ACC4-8F507053D390}" type="presOf" srcId="{DD9E274A-5FEA-E54D-9FBF-A5F59031A77C}" destId="{0668333E-BCFD-1942-9A2A-426C997B9CD3}" srcOrd="0" destOrd="0" presId="urn:microsoft.com/office/officeart/2005/8/layout/bProcess4"/>
    <dgm:cxn modelId="{17A3BA98-BDF2-6E4A-B477-963BC6533694}" type="presOf" srcId="{7F5ABA3E-D8C1-AA4B-8C43-E8B215760924}" destId="{F13FDF37-47D7-3446-9E11-A8ABD6BF360E}" srcOrd="0" destOrd="0" presId="urn:microsoft.com/office/officeart/2005/8/layout/bProcess4"/>
    <dgm:cxn modelId="{CE450F99-8FAB-274F-9C5E-D991BBAF341F}" srcId="{6F21428B-35B7-6B40-9C45-AF308DF9CE31}" destId="{89E2A34D-E36A-BF49-A242-22111914CD0B}" srcOrd="1" destOrd="0" parTransId="{910DF5EE-F28F-5845-BB4C-20B25A7FA06B}" sibTransId="{0702C2DE-8845-6C4F-8C0E-CF1F673B1D05}"/>
    <dgm:cxn modelId="{4E00C49A-B939-A84E-88B4-7370B3A2A95E}" srcId="{6F21428B-35B7-6B40-9C45-AF308DF9CE31}" destId="{BA1FF817-F6E6-794E-AAA3-ECB92A705E85}" srcOrd="5" destOrd="0" parTransId="{F15F0E2B-42E1-E947-A144-06526726A6E8}" sibTransId="{960BB68F-0CFF-8844-8EC9-482E92878821}"/>
    <dgm:cxn modelId="{A249FF9F-ECBD-5946-AAD9-859BFDBBEC43}" srcId="{6F21428B-35B7-6B40-9C45-AF308DF9CE31}" destId="{46877043-62A0-6C4C-84A3-1C4EEE053B45}" srcOrd="3" destOrd="0" parTransId="{021AEF50-325E-054F-AFA2-0177FF55A323}" sibTransId="{C5350A03-233B-5F42-A0B4-1049947C6FAA}"/>
    <dgm:cxn modelId="{10708AA0-9281-B044-A012-F7BF74CB08A6}" srcId="{6F21428B-35B7-6B40-9C45-AF308DF9CE31}" destId="{117387F0-D6FA-1545-A78D-2794844E2941}" srcOrd="8" destOrd="0" parTransId="{5FF61C52-F578-F543-AC4A-5FC6AE25F864}" sibTransId="{098196DD-2D04-8146-BA6D-AA78E7538898}"/>
    <dgm:cxn modelId="{E33B68A1-817A-3048-9CB9-E3B7433CFB10}" type="presOf" srcId="{D9E14618-3273-F940-8EAD-4CC304BC6E42}" destId="{C3511F3B-9899-ED46-84C0-4ED66AA43265}" srcOrd="0" destOrd="0" presId="urn:microsoft.com/office/officeart/2005/8/layout/bProcess4"/>
    <dgm:cxn modelId="{E912D9A2-FB70-804F-B69D-6A8C091D079B}" type="presOf" srcId="{6F21428B-35B7-6B40-9C45-AF308DF9CE31}" destId="{D6F7A5FA-94EE-564A-B7A9-052C7A27C356}" srcOrd="0" destOrd="0" presId="urn:microsoft.com/office/officeart/2005/8/layout/bProcess4"/>
    <dgm:cxn modelId="{D6801DA4-B0F0-FF47-95AA-F56437C9BECF}" srcId="{6F21428B-35B7-6B40-9C45-AF308DF9CE31}" destId="{530EC862-D490-BB4A-9F2B-EFAA06461EEB}" srcOrd="4" destOrd="0" parTransId="{85D11A39-52B8-A745-B033-18B6C92124E9}" sibTransId="{025D4D87-85E8-1B46-9B38-9D2ED68AB3D3}"/>
    <dgm:cxn modelId="{72F4ABAE-2969-B447-BD24-EC352F089CAD}" type="presOf" srcId="{F6636F31-7C3F-2740-8D59-1CF1422D178E}" destId="{8E007F6B-037B-D745-B554-F20EFABE1A99}" srcOrd="0" destOrd="0" presId="urn:microsoft.com/office/officeart/2005/8/layout/bProcess4"/>
    <dgm:cxn modelId="{647129BF-5D26-CA42-B1DC-B67CD59D1EFB}" type="presOf" srcId="{89E2A34D-E36A-BF49-A242-22111914CD0B}" destId="{E8141AAD-D132-7D44-A8FC-5E1F5234788A}" srcOrd="0" destOrd="0" presId="urn:microsoft.com/office/officeart/2005/8/layout/bProcess4"/>
    <dgm:cxn modelId="{2C675CC3-5D44-5642-9ED7-668AD22DFAFD}" type="presOf" srcId="{960BB68F-0CFF-8844-8EC9-482E92878821}" destId="{21E42462-E271-FC4C-BC4E-BC3ED87B44D0}" srcOrd="0" destOrd="0" presId="urn:microsoft.com/office/officeart/2005/8/layout/bProcess4"/>
    <dgm:cxn modelId="{2B64A1CB-0B4A-8A4D-8B70-FD87BE476B40}" type="presOf" srcId="{025D4D87-85E8-1B46-9B38-9D2ED68AB3D3}" destId="{0201D07F-C4F7-3942-84EC-9C173D2B8A63}" srcOrd="0" destOrd="0" presId="urn:microsoft.com/office/officeart/2005/8/layout/bProcess4"/>
    <dgm:cxn modelId="{E6D076DF-98C8-474D-A51B-FB06BD051971}" type="presOf" srcId="{0702C2DE-8845-6C4F-8C0E-CF1F673B1D05}" destId="{CD3EB9FE-C935-B34F-854B-5F09B0B6C1CD}" srcOrd="0" destOrd="0" presId="urn:microsoft.com/office/officeart/2005/8/layout/bProcess4"/>
    <dgm:cxn modelId="{B73DFEF7-22C3-0344-A536-A57B3496F497}" type="presParOf" srcId="{D6F7A5FA-94EE-564A-B7A9-052C7A27C356}" destId="{B69202B0-BEB3-4B45-8820-77462B67B2FE}" srcOrd="0" destOrd="0" presId="urn:microsoft.com/office/officeart/2005/8/layout/bProcess4"/>
    <dgm:cxn modelId="{2609AA2D-861D-854C-AFBA-619A710434E0}" type="presParOf" srcId="{B69202B0-BEB3-4B45-8820-77462B67B2FE}" destId="{10B92759-8817-F448-8413-F38EDA996372}" srcOrd="0" destOrd="0" presId="urn:microsoft.com/office/officeart/2005/8/layout/bProcess4"/>
    <dgm:cxn modelId="{64B6F60D-2B13-3344-A9CA-6C8376F42668}" type="presParOf" srcId="{B69202B0-BEB3-4B45-8820-77462B67B2FE}" destId="{FE33C007-DCD5-0648-A1DA-B7BAA16C5DBD}" srcOrd="1" destOrd="0" presId="urn:microsoft.com/office/officeart/2005/8/layout/bProcess4"/>
    <dgm:cxn modelId="{5F6C009C-A092-9449-A2E7-1FB8C8B2E019}" type="presParOf" srcId="{D6F7A5FA-94EE-564A-B7A9-052C7A27C356}" destId="{CC360FD5-3523-DE4F-AD73-703E0F00AC2F}" srcOrd="1" destOrd="0" presId="urn:microsoft.com/office/officeart/2005/8/layout/bProcess4"/>
    <dgm:cxn modelId="{A9155BDA-3FDA-6E42-80CB-EBB73B4CD7C7}" type="presParOf" srcId="{D6F7A5FA-94EE-564A-B7A9-052C7A27C356}" destId="{CACF5776-90A6-A547-846F-FCBD20690536}" srcOrd="2" destOrd="0" presId="urn:microsoft.com/office/officeart/2005/8/layout/bProcess4"/>
    <dgm:cxn modelId="{C7567CDE-A50D-3C49-9A81-FF1A5F7D03E0}" type="presParOf" srcId="{CACF5776-90A6-A547-846F-FCBD20690536}" destId="{99E9C73A-644E-5E4F-BA59-DAF17F4450CE}" srcOrd="0" destOrd="0" presId="urn:microsoft.com/office/officeart/2005/8/layout/bProcess4"/>
    <dgm:cxn modelId="{6EAEC497-6D90-0546-AF68-0C95C6EC0F4E}" type="presParOf" srcId="{CACF5776-90A6-A547-846F-FCBD20690536}" destId="{E8141AAD-D132-7D44-A8FC-5E1F5234788A}" srcOrd="1" destOrd="0" presId="urn:microsoft.com/office/officeart/2005/8/layout/bProcess4"/>
    <dgm:cxn modelId="{ED7D0266-47A7-8545-A10B-44E36FB6A711}" type="presParOf" srcId="{D6F7A5FA-94EE-564A-B7A9-052C7A27C356}" destId="{CD3EB9FE-C935-B34F-854B-5F09B0B6C1CD}" srcOrd="3" destOrd="0" presId="urn:microsoft.com/office/officeart/2005/8/layout/bProcess4"/>
    <dgm:cxn modelId="{7B8A87CC-D451-C94D-817A-24078F49867C}" type="presParOf" srcId="{D6F7A5FA-94EE-564A-B7A9-052C7A27C356}" destId="{D6441F36-8DCF-9E4D-AF33-8381E4F23F7A}" srcOrd="4" destOrd="0" presId="urn:microsoft.com/office/officeart/2005/8/layout/bProcess4"/>
    <dgm:cxn modelId="{079AF2EF-16E5-634A-86F1-FC8AE3C30CAA}" type="presParOf" srcId="{D6441F36-8DCF-9E4D-AF33-8381E4F23F7A}" destId="{2A4D828E-12B1-C248-943C-8730ACF764E3}" srcOrd="0" destOrd="0" presId="urn:microsoft.com/office/officeart/2005/8/layout/bProcess4"/>
    <dgm:cxn modelId="{DFA5DE40-4EBA-F84A-8205-B983958279FE}" type="presParOf" srcId="{D6441F36-8DCF-9E4D-AF33-8381E4F23F7A}" destId="{8E007F6B-037B-D745-B554-F20EFABE1A99}" srcOrd="1" destOrd="0" presId="urn:microsoft.com/office/officeart/2005/8/layout/bProcess4"/>
    <dgm:cxn modelId="{A7B85D2A-FA7C-4E42-B62D-454BBF188F8E}" type="presParOf" srcId="{D6F7A5FA-94EE-564A-B7A9-052C7A27C356}" destId="{0668333E-BCFD-1942-9A2A-426C997B9CD3}" srcOrd="5" destOrd="0" presId="urn:microsoft.com/office/officeart/2005/8/layout/bProcess4"/>
    <dgm:cxn modelId="{725DCBA5-CE9D-644F-A3F8-1C8A3483429C}" type="presParOf" srcId="{D6F7A5FA-94EE-564A-B7A9-052C7A27C356}" destId="{877C6ABD-7716-FA44-8160-C5F20C1B9867}" srcOrd="6" destOrd="0" presId="urn:microsoft.com/office/officeart/2005/8/layout/bProcess4"/>
    <dgm:cxn modelId="{B7483B01-A72F-7D43-A58F-7D7F4213D50D}" type="presParOf" srcId="{877C6ABD-7716-FA44-8160-C5F20C1B9867}" destId="{57FC6116-CCB6-4A4B-B4D5-89F57A953EA4}" srcOrd="0" destOrd="0" presId="urn:microsoft.com/office/officeart/2005/8/layout/bProcess4"/>
    <dgm:cxn modelId="{9E1D01E4-CD55-694E-ABA4-CE04B9B21DDD}" type="presParOf" srcId="{877C6ABD-7716-FA44-8160-C5F20C1B9867}" destId="{4DD5FE69-44B1-5744-B28A-A6D62D10B326}" srcOrd="1" destOrd="0" presId="urn:microsoft.com/office/officeart/2005/8/layout/bProcess4"/>
    <dgm:cxn modelId="{1A74167F-FAF9-5742-80AB-C9BE73F7C045}" type="presParOf" srcId="{D6F7A5FA-94EE-564A-B7A9-052C7A27C356}" destId="{799065F9-1544-C142-9331-CB6D49E3C1A3}" srcOrd="7" destOrd="0" presId="urn:microsoft.com/office/officeart/2005/8/layout/bProcess4"/>
    <dgm:cxn modelId="{66F5015E-741F-E944-A3A3-AF07E21F6DA2}" type="presParOf" srcId="{D6F7A5FA-94EE-564A-B7A9-052C7A27C356}" destId="{2202BFE3-2C5A-7141-8CA7-C2940EC37F48}" srcOrd="8" destOrd="0" presId="urn:microsoft.com/office/officeart/2005/8/layout/bProcess4"/>
    <dgm:cxn modelId="{876FA535-2452-DF47-982C-B1281A0E9F33}" type="presParOf" srcId="{2202BFE3-2C5A-7141-8CA7-C2940EC37F48}" destId="{A73A68A9-6E2F-B845-8D52-84F1E3B01EE4}" srcOrd="0" destOrd="0" presId="urn:microsoft.com/office/officeart/2005/8/layout/bProcess4"/>
    <dgm:cxn modelId="{DB10313F-B49F-7B45-8364-E5B297A6FC35}" type="presParOf" srcId="{2202BFE3-2C5A-7141-8CA7-C2940EC37F48}" destId="{41AE18ED-4A1B-064A-85E0-CB70BE9BC7E3}" srcOrd="1" destOrd="0" presId="urn:microsoft.com/office/officeart/2005/8/layout/bProcess4"/>
    <dgm:cxn modelId="{0600414A-2CC7-F547-A873-C51EC99264FE}" type="presParOf" srcId="{D6F7A5FA-94EE-564A-B7A9-052C7A27C356}" destId="{0201D07F-C4F7-3942-84EC-9C173D2B8A63}" srcOrd="9" destOrd="0" presId="urn:microsoft.com/office/officeart/2005/8/layout/bProcess4"/>
    <dgm:cxn modelId="{7EE0588C-2218-F146-A6F4-44BB926660B4}" type="presParOf" srcId="{D6F7A5FA-94EE-564A-B7A9-052C7A27C356}" destId="{94F73B25-3A9E-D64A-A17F-04CB611D0021}" srcOrd="10" destOrd="0" presId="urn:microsoft.com/office/officeart/2005/8/layout/bProcess4"/>
    <dgm:cxn modelId="{428B36BC-179F-B345-B344-B8EB33C45217}" type="presParOf" srcId="{94F73B25-3A9E-D64A-A17F-04CB611D0021}" destId="{4943451C-DCB2-A140-934F-8B9F878C19D2}" srcOrd="0" destOrd="0" presId="urn:microsoft.com/office/officeart/2005/8/layout/bProcess4"/>
    <dgm:cxn modelId="{46898CFF-E390-5042-9AF4-47E5129FEEE3}" type="presParOf" srcId="{94F73B25-3A9E-D64A-A17F-04CB611D0021}" destId="{362FCF70-6C3A-E14A-93B5-25F3D757F422}" srcOrd="1" destOrd="0" presId="urn:microsoft.com/office/officeart/2005/8/layout/bProcess4"/>
    <dgm:cxn modelId="{9DE193DA-0264-8D44-AB58-B61654BD805C}" type="presParOf" srcId="{D6F7A5FA-94EE-564A-B7A9-052C7A27C356}" destId="{21E42462-E271-FC4C-BC4E-BC3ED87B44D0}" srcOrd="11" destOrd="0" presId="urn:microsoft.com/office/officeart/2005/8/layout/bProcess4"/>
    <dgm:cxn modelId="{298EF76B-4D4B-8E4A-8204-58E0CF6E7EF8}" type="presParOf" srcId="{D6F7A5FA-94EE-564A-B7A9-052C7A27C356}" destId="{D6806238-E096-934B-B798-7955575479C9}" srcOrd="12" destOrd="0" presId="urn:microsoft.com/office/officeart/2005/8/layout/bProcess4"/>
    <dgm:cxn modelId="{7BA22FD0-FED6-2544-825D-FA52CF5613E3}" type="presParOf" srcId="{D6806238-E096-934B-B798-7955575479C9}" destId="{E5E15AE9-AF88-594A-9B3B-EA3CF36D5DAC}" srcOrd="0" destOrd="0" presId="urn:microsoft.com/office/officeart/2005/8/layout/bProcess4"/>
    <dgm:cxn modelId="{46F6367C-350B-8E44-AABC-5D948A6FC1F4}" type="presParOf" srcId="{D6806238-E096-934B-B798-7955575479C9}" destId="{C3511F3B-9899-ED46-84C0-4ED66AA43265}" srcOrd="1" destOrd="0" presId="urn:microsoft.com/office/officeart/2005/8/layout/bProcess4"/>
    <dgm:cxn modelId="{FDEBB0F8-9DFA-D14A-A98A-4D248ED8E7F4}" type="presParOf" srcId="{D6F7A5FA-94EE-564A-B7A9-052C7A27C356}" destId="{F13FDF37-47D7-3446-9E11-A8ABD6BF360E}" srcOrd="13" destOrd="0" presId="urn:microsoft.com/office/officeart/2005/8/layout/bProcess4"/>
    <dgm:cxn modelId="{4D179096-5F0D-104F-8BA7-5686AA74FAC3}" type="presParOf" srcId="{D6F7A5FA-94EE-564A-B7A9-052C7A27C356}" destId="{4B5894A4-8B7F-5446-8A04-5FF3F0A8B25A}" srcOrd="14" destOrd="0" presId="urn:microsoft.com/office/officeart/2005/8/layout/bProcess4"/>
    <dgm:cxn modelId="{7DDC96B0-703E-3E43-909E-7E66517441F5}" type="presParOf" srcId="{4B5894A4-8B7F-5446-8A04-5FF3F0A8B25A}" destId="{47F39881-85CC-ED46-AC71-07110E79F26D}" srcOrd="0" destOrd="0" presId="urn:microsoft.com/office/officeart/2005/8/layout/bProcess4"/>
    <dgm:cxn modelId="{85523DE7-D976-0046-8DB5-6DDBFF20CE41}" type="presParOf" srcId="{4B5894A4-8B7F-5446-8A04-5FF3F0A8B25A}" destId="{4DC5A401-F24E-0349-9A50-1A068C43917B}" srcOrd="1" destOrd="0" presId="urn:microsoft.com/office/officeart/2005/8/layout/bProcess4"/>
    <dgm:cxn modelId="{5E7324AF-9CD7-4042-B2AB-D99F6BDE2D8B}" type="presParOf" srcId="{D6F7A5FA-94EE-564A-B7A9-052C7A27C356}" destId="{0B09D9A6-C549-D346-8385-7EABDF73F185}" srcOrd="15" destOrd="0" presId="urn:microsoft.com/office/officeart/2005/8/layout/bProcess4"/>
    <dgm:cxn modelId="{212991F3-8A82-F34F-A06B-9D467F8A1CB7}" type="presParOf" srcId="{D6F7A5FA-94EE-564A-B7A9-052C7A27C356}" destId="{0E836B70-E56E-AE49-A8D0-6DA514C65B29}" srcOrd="16" destOrd="0" presId="urn:microsoft.com/office/officeart/2005/8/layout/bProcess4"/>
    <dgm:cxn modelId="{B1C17A74-7FA9-1B46-A836-2B9A95D1C1AF}" type="presParOf" srcId="{0E836B70-E56E-AE49-A8D0-6DA514C65B29}" destId="{22151969-851E-2544-8205-EA9DD1E80705}" srcOrd="0" destOrd="0" presId="urn:microsoft.com/office/officeart/2005/8/layout/bProcess4"/>
    <dgm:cxn modelId="{11761CA0-2F4A-2949-8B9F-BFC7814DCE02}" type="presParOf" srcId="{0E836B70-E56E-AE49-A8D0-6DA514C65B29}" destId="{B3199DA8-E330-7B4E-A6B0-4D8C20C591B6}"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BEC032-6A2F-B346-A7A3-588F2F18AE2F}"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9571CC10-8D57-7942-B70C-AAFACB1F8FC2}">
      <dgm:prSet phldrT="[Text]"/>
      <dgm:spPr/>
      <dgm:t>
        <a:bodyPr/>
        <a:lstStyle/>
        <a:p>
          <a:r>
            <a:rPr lang="en-US" dirty="0"/>
            <a:t>Policy Simulation at Scale</a:t>
          </a:r>
        </a:p>
      </dgm:t>
    </dgm:pt>
    <dgm:pt modelId="{BF761104-1685-5748-AA9C-7E2E9B3A3A0B}" type="parTrans" cxnId="{BA2FB104-8677-794F-B26A-608A2501493A}">
      <dgm:prSet/>
      <dgm:spPr/>
      <dgm:t>
        <a:bodyPr/>
        <a:lstStyle/>
        <a:p>
          <a:endParaRPr lang="en-US"/>
        </a:p>
      </dgm:t>
    </dgm:pt>
    <dgm:pt modelId="{C190D382-CB9D-FE41-9431-268203252A03}" type="sibTrans" cxnId="{BA2FB104-8677-794F-B26A-608A2501493A}">
      <dgm:prSet/>
      <dgm:spPr/>
      <dgm:t>
        <a:bodyPr/>
        <a:lstStyle/>
        <a:p>
          <a:endParaRPr lang="en-US"/>
        </a:p>
      </dgm:t>
    </dgm:pt>
    <dgm:pt modelId="{1EBA1599-4B08-984F-AFE3-B136A2D31346}">
      <dgm:prSet phldrT="[Text]"/>
      <dgm:spPr/>
      <dgm:t>
        <a:bodyPr/>
        <a:lstStyle/>
        <a:p>
          <a:r>
            <a:rPr lang="en-US" b="1" dirty="0"/>
            <a:t>Tech</a:t>
          </a:r>
          <a:r>
            <a:rPr lang="en-US" dirty="0"/>
            <a:t>: DEF + First-Token</a:t>
          </a:r>
        </a:p>
      </dgm:t>
    </dgm:pt>
    <dgm:pt modelId="{A72D08A7-1B86-0E4A-82F4-64A17C7D2364}" type="parTrans" cxnId="{523BD501-63C4-3C4A-A0E2-FABB1E9EC467}">
      <dgm:prSet/>
      <dgm:spPr/>
      <dgm:t>
        <a:bodyPr/>
        <a:lstStyle/>
        <a:p>
          <a:endParaRPr lang="en-US"/>
        </a:p>
      </dgm:t>
    </dgm:pt>
    <dgm:pt modelId="{63EAE781-2108-5B43-A0B1-1E242220151D}" type="sibTrans" cxnId="{523BD501-63C4-3C4A-A0E2-FABB1E9EC467}">
      <dgm:prSet/>
      <dgm:spPr/>
      <dgm:t>
        <a:bodyPr/>
        <a:lstStyle/>
        <a:p>
          <a:endParaRPr lang="en-US"/>
        </a:p>
      </dgm:t>
    </dgm:pt>
    <dgm:pt modelId="{7DAE62CC-538B-9E42-B1F0-11D5649F6AB2}">
      <dgm:prSet phldrT="[Text]"/>
      <dgm:spPr/>
      <dgm:t>
        <a:bodyPr/>
        <a:lstStyle/>
        <a:p>
          <a:r>
            <a:rPr lang="en-US" b="1" dirty="0"/>
            <a:t>Good</a:t>
          </a:r>
          <a:r>
            <a:rPr lang="en-US" dirty="0"/>
            <a:t>: Enable cost-effective public attitude sims for policies like energy reforms.</a:t>
          </a:r>
        </a:p>
      </dgm:t>
    </dgm:pt>
    <dgm:pt modelId="{58DF31FC-EBB9-0E46-B150-FFECBFF67BE6}" type="parTrans" cxnId="{6A9E2068-D54B-AE45-994F-E4BDD01E3E96}">
      <dgm:prSet/>
      <dgm:spPr/>
      <dgm:t>
        <a:bodyPr/>
        <a:lstStyle/>
        <a:p>
          <a:endParaRPr lang="en-US"/>
        </a:p>
      </dgm:t>
    </dgm:pt>
    <dgm:pt modelId="{FCFE4288-6A6D-2141-92E7-C5CB541C0E4D}" type="sibTrans" cxnId="{6A9E2068-D54B-AE45-994F-E4BDD01E3E96}">
      <dgm:prSet/>
      <dgm:spPr/>
      <dgm:t>
        <a:bodyPr/>
        <a:lstStyle/>
        <a:p>
          <a:endParaRPr lang="en-US"/>
        </a:p>
      </dgm:t>
    </dgm:pt>
    <dgm:pt modelId="{72574EBF-F9B1-124E-942C-556BB3BE5E23}">
      <dgm:prSet phldrT="[Text]"/>
      <dgm:spPr/>
      <dgm:t>
        <a:bodyPr/>
        <a:lstStyle/>
        <a:p>
          <a:r>
            <a:rPr lang="en-US" dirty="0"/>
            <a:t>AI Accountability via Interpretability</a:t>
          </a:r>
        </a:p>
      </dgm:t>
    </dgm:pt>
    <dgm:pt modelId="{0BAEE108-39F9-8F43-B57A-85C69CDDD939}" type="parTrans" cxnId="{8DABDA8E-754B-5B4D-9286-6724AF61F00A}">
      <dgm:prSet/>
      <dgm:spPr/>
      <dgm:t>
        <a:bodyPr/>
        <a:lstStyle/>
        <a:p>
          <a:endParaRPr lang="en-US"/>
        </a:p>
      </dgm:t>
    </dgm:pt>
    <dgm:pt modelId="{8066AA51-04F5-E847-8536-C41E4C65E5AF}" type="sibTrans" cxnId="{8DABDA8E-754B-5B4D-9286-6724AF61F00A}">
      <dgm:prSet/>
      <dgm:spPr/>
      <dgm:t>
        <a:bodyPr/>
        <a:lstStyle/>
        <a:p>
          <a:endParaRPr lang="en-US"/>
        </a:p>
      </dgm:t>
    </dgm:pt>
    <dgm:pt modelId="{97BE92B3-D05B-6B45-977B-7B927CDAF5A0}">
      <dgm:prSet phldrT="[Text]"/>
      <dgm:spPr/>
      <dgm:t>
        <a:bodyPr/>
        <a:lstStyle/>
        <a:p>
          <a:r>
            <a:rPr lang="en-US" b="1" dirty="0"/>
            <a:t>Tech</a:t>
          </a:r>
          <a:r>
            <a:rPr lang="en-US" dirty="0"/>
            <a:t>: MARK</a:t>
          </a:r>
        </a:p>
      </dgm:t>
    </dgm:pt>
    <dgm:pt modelId="{EF84B030-2B85-FC48-98A2-043491719DFF}" type="parTrans" cxnId="{61133A44-8775-7B4E-98A0-64C0AB31FC10}">
      <dgm:prSet/>
      <dgm:spPr/>
      <dgm:t>
        <a:bodyPr/>
        <a:lstStyle/>
        <a:p>
          <a:endParaRPr lang="en-US"/>
        </a:p>
      </dgm:t>
    </dgm:pt>
    <dgm:pt modelId="{62DAB661-C150-5F43-A73B-D655D11EB140}" type="sibTrans" cxnId="{61133A44-8775-7B4E-98A0-64C0AB31FC10}">
      <dgm:prSet/>
      <dgm:spPr/>
      <dgm:t>
        <a:bodyPr/>
        <a:lstStyle/>
        <a:p>
          <a:endParaRPr lang="en-US"/>
        </a:p>
      </dgm:t>
    </dgm:pt>
    <dgm:pt modelId="{AC7B1061-DA7D-9D44-A2A3-EDE18079E8EA}">
      <dgm:prSet phldrT="[Text]"/>
      <dgm:spPr/>
      <dgm:t>
        <a:bodyPr/>
        <a:lstStyle/>
        <a:p>
          <a:r>
            <a:rPr lang="en-US" b="1" dirty="0"/>
            <a:t>Good</a:t>
          </a:r>
          <a:r>
            <a:rPr lang="en-US" dirty="0"/>
            <a:t>: Explain value choices in healthcare/justice.</a:t>
          </a:r>
        </a:p>
      </dgm:t>
    </dgm:pt>
    <dgm:pt modelId="{67E8116D-FE09-D548-852D-1ED74DD266F3}" type="parTrans" cxnId="{C07373BA-BA4C-D94C-8C18-2459587DC921}">
      <dgm:prSet/>
      <dgm:spPr/>
      <dgm:t>
        <a:bodyPr/>
        <a:lstStyle/>
        <a:p>
          <a:endParaRPr lang="en-US"/>
        </a:p>
      </dgm:t>
    </dgm:pt>
    <dgm:pt modelId="{F18A66DD-4538-4A47-A8D9-D34304C84FC1}" type="sibTrans" cxnId="{C07373BA-BA4C-D94C-8C18-2459587DC921}">
      <dgm:prSet/>
      <dgm:spPr/>
      <dgm:t>
        <a:bodyPr/>
        <a:lstStyle/>
        <a:p>
          <a:endParaRPr lang="en-US"/>
        </a:p>
      </dgm:t>
    </dgm:pt>
    <dgm:pt modelId="{A23700D3-E5EF-D949-9F59-C54311856827}">
      <dgm:prSet phldrT="[Text]"/>
      <dgm:spPr/>
      <dgm:t>
        <a:bodyPr/>
        <a:lstStyle/>
        <a:p>
          <a:r>
            <a:rPr lang="en-US" b="1" dirty="0"/>
            <a:t>Insights</a:t>
          </a:r>
          <a:r>
            <a:rPr lang="en-US" dirty="0"/>
            <a:t>: Complements surveys by predicting U.S./CN responses pre-legislation—accelerating evidence-based decisions without replacing human input</a:t>
          </a:r>
        </a:p>
      </dgm:t>
    </dgm:pt>
    <dgm:pt modelId="{8B0F38E5-E45E-4B4E-88BF-5E44F5542937}" type="parTrans" cxnId="{2E0E3C45-3E1D-8D47-9A5F-CC05E062EA72}">
      <dgm:prSet/>
      <dgm:spPr/>
      <dgm:t>
        <a:bodyPr/>
        <a:lstStyle/>
        <a:p>
          <a:endParaRPr lang="en-US"/>
        </a:p>
      </dgm:t>
    </dgm:pt>
    <dgm:pt modelId="{059DBC2C-D17D-D441-B884-F8D72A8C29C2}" type="sibTrans" cxnId="{2E0E3C45-3E1D-8D47-9A5F-CC05E062EA72}">
      <dgm:prSet/>
      <dgm:spPr/>
      <dgm:t>
        <a:bodyPr/>
        <a:lstStyle/>
        <a:p>
          <a:endParaRPr lang="en-US"/>
        </a:p>
      </dgm:t>
    </dgm:pt>
    <dgm:pt modelId="{D4BB44DF-398A-634C-9B6B-21C5B32F71F7}">
      <dgm:prSet phldrT="[Text]"/>
      <dgm:spPr/>
      <dgm:t>
        <a:bodyPr/>
        <a:lstStyle/>
        <a:p>
          <a:r>
            <a:rPr lang="en-US" b="1" dirty="0"/>
            <a:t>Implement</a:t>
          </a:r>
          <a:r>
            <a:rPr lang="en-US" dirty="0"/>
            <a:t>: Offers compliance for EU AI Act—experts validate trajectories, revealing heuristics over principles. </a:t>
          </a:r>
        </a:p>
      </dgm:t>
    </dgm:pt>
    <dgm:pt modelId="{64370953-271A-044C-A71D-AF301ADF4107}" type="parTrans" cxnId="{1425FE63-B1DD-CF46-9914-6CF23D69DBD3}">
      <dgm:prSet/>
      <dgm:spPr/>
      <dgm:t>
        <a:bodyPr/>
        <a:lstStyle/>
        <a:p>
          <a:endParaRPr lang="en-US"/>
        </a:p>
      </dgm:t>
    </dgm:pt>
    <dgm:pt modelId="{32F8B675-5712-CB45-A7C3-32A1BB073ED2}" type="sibTrans" cxnId="{1425FE63-B1DD-CF46-9914-6CF23D69DBD3}">
      <dgm:prSet/>
      <dgm:spPr/>
      <dgm:t>
        <a:bodyPr/>
        <a:lstStyle/>
        <a:p>
          <a:endParaRPr lang="en-US"/>
        </a:p>
      </dgm:t>
    </dgm:pt>
    <dgm:pt modelId="{3A3B4314-BDC4-8B47-A065-CE00065387A2}">
      <dgm:prSet phldrT="[Text]"/>
      <dgm:spPr/>
      <dgm:t>
        <a:bodyPr/>
        <a:lstStyle/>
        <a:p>
          <a:r>
            <a:rPr lang="en-US" b="1" dirty="0"/>
            <a:t>Insight</a:t>
          </a:r>
          <a:r>
            <a:rPr lang="en-US" dirty="0"/>
            <a:t>: Shifts to 'algorithmic due process' for high-stakes transparency."</a:t>
          </a:r>
        </a:p>
      </dgm:t>
    </dgm:pt>
    <dgm:pt modelId="{E2670F54-16FD-564F-B4B8-B854871781E8}" type="parTrans" cxnId="{6C368E9D-33B0-D442-9875-05A49D513114}">
      <dgm:prSet/>
      <dgm:spPr/>
      <dgm:t>
        <a:bodyPr/>
        <a:lstStyle/>
        <a:p>
          <a:endParaRPr lang="en-US"/>
        </a:p>
      </dgm:t>
    </dgm:pt>
    <dgm:pt modelId="{F83546D4-8D6E-C640-803C-450E56A79F57}" type="sibTrans" cxnId="{6C368E9D-33B0-D442-9875-05A49D513114}">
      <dgm:prSet/>
      <dgm:spPr/>
      <dgm:t>
        <a:bodyPr/>
        <a:lstStyle/>
        <a:p>
          <a:endParaRPr lang="en-US"/>
        </a:p>
      </dgm:t>
    </dgm:pt>
    <dgm:pt modelId="{38C22137-0556-9043-A8D3-8CFDC770A4CA}" type="pres">
      <dgm:prSet presAssocID="{80BEC032-6A2F-B346-A7A3-588F2F18AE2F}" presName="Name0" presStyleCnt="0">
        <dgm:presLayoutVars>
          <dgm:dir/>
          <dgm:animLvl val="lvl"/>
          <dgm:resizeHandles val="exact"/>
        </dgm:presLayoutVars>
      </dgm:prSet>
      <dgm:spPr/>
    </dgm:pt>
    <dgm:pt modelId="{9E9BA799-9F05-9943-B3A4-1254CBFC9410}" type="pres">
      <dgm:prSet presAssocID="{9571CC10-8D57-7942-B70C-AAFACB1F8FC2}" presName="composite" presStyleCnt="0"/>
      <dgm:spPr/>
    </dgm:pt>
    <dgm:pt modelId="{F6A24100-B1C6-B240-94DE-665607A1C2AD}" type="pres">
      <dgm:prSet presAssocID="{9571CC10-8D57-7942-B70C-AAFACB1F8FC2}" presName="parTx" presStyleLbl="alignNode1" presStyleIdx="0" presStyleCnt="2">
        <dgm:presLayoutVars>
          <dgm:chMax val="0"/>
          <dgm:chPref val="0"/>
          <dgm:bulletEnabled val="1"/>
        </dgm:presLayoutVars>
      </dgm:prSet>
      <dgm:spPr/>
    </dgm:pt>
    <dgm:pt modelId="{0FD4FF86-178A-464D-A80F-F8156C5E9E26}" type="pres">
      <dgm:prSet presAssocID="{9571CC10-8D57-7942-B70C-AAFACB1F8FC2}" presName="desTx" presStyleLbl="alignAccFollowNode1" presStyleIdx="0" presStyleCnt="2">
        <dgm:presLayoutVars>
          <dgm:bulletEnabled val="1"/>
        </dgm:presLayoutVars>
      </dgm:prSet>
      <dgm:spPr/>
    </dgm:pt>
    <dgm:pt modelId="{4E436F06-5E12-1042-BD21-81B4D418F172}" type="pres">
      <dgm:prSet presAssocID="{C190D382-CB9D-FE41-9431-268203252A03}" presName="space" presStyleCnt="0"/>
      <dgm:spPr/>
    </dgm:pt>
    <dgm:pt modelId="{C1E365ED-A3C6-574E-A04A-EB75563A7058}" type="pres">
      <dgm:prSet presAssocID="{72574EBF-F9B1-124E-942C-556BB3BE5E23}" presName="composite" presStyleCnt="0"/>
      <dgm:spPr/>
    </dgm:pt>
    <dgm:pt modelId="{25BFAEA8-251B-ED4B-9816-302147A06C97}" type="pres">
      <dgm:prSet presAssocID="{72574EBF-F9B1-124E-942C-556BB3BE5E23}" presName="parTx" presStyleLbl="alignNode1" presStyleIdx="1" presStyleCnt="2">
        <dgm:presLayoutVars>
          <dgm:chMax val="0"/>
          <dgm:chPref val="0"/>
          <dgm:bulletEnabled val="1"/>
        </dgm:presLayoutVars>
      </dgm:prSet>
      <dgm:spPr/>
    </dgm:pt>
    <dgm:pt modelId="{6A727656-A085-5540-8545-E5222E7A2495}" type="pres">
      <dgm:prSet presAssocID="{72574EBF-F9B1-124E-942C-556BB3BE5E23}" presName="desTx" presStyleLbl="alignAccFollowNode1" presStyleIdx="1" presStyleCnt="2">
        <dgm:presLayoutVars>
          <dgm:bulletEnabled val="1"/>
        </dgm:presLayoutVars>
      </dgm:prSet>
      <dgm:spPr/>
    </dgm:pt>
  </dgm:ptLst>
  <dgm:cxnLst>
    <dgm:cxn modelId="{523BD501-63C4-3C4A-A0E2-FABB1E9EC467}" srcId="{9571CC10-8D57-7942-B70C-AAFACB1F8FC2}" destId="{1EBA1599-4B08-984F-AFE3-B136A2D31346}" srcOrd="0" destOrd="0" parTransId="{A72D08A7-1B86-0E4A-82F4-64A17C7D2364}" sibTransId="{63EAE781-2108-5B43-A0B1-1E242220151D}"/>
    <dgm:cxn modelId="{BA2FB104-8677-794F-B26A-608A2501493A}" srcId="{80BEC032-6A2F-B346-A7A3-588F2F18AE2F}" destId="{9571CC10-8D57-7942-B70C-AAFACB1F8FC2}" srcOrd="0" destOrd="0" parTransId="{BF761104-1685-5748-AA9C-7E2E9B3A3A0B}" sibTransId="{C190D382-CB9D-FE41-9431-268203252A03}"/>
    <dgm:cxn modelId="{B532AD38-92EA-9644-9BCA-0B44FD305F17}" type="presOf" srcId="{9571CC10-8D57-7942-B70C-AAFACB1F8FC2}" destId="{F6A24100-B1C6-B240-94DE-665607A1C2AD}" srcOrd="0" destOrd="0" presId="urn:microsoft.com/office/officeart/2005/8/layout/hList1"/>
    <dgm:cxn modelId="{61133A44-8775-7B4E-98A0-64C0AB31FC10}" srcId="{72574EBF-F9B1-124E-942C-556BB3BE5E23}" destId="{97BE92B3-D05B-6B45-977B-7B927CDAF5A0}" srcOrd="0" destOrd="0" parTransId="{EF84B030-2B85-FC48-98A2-043491719DFF}" sibTransId="{62DAB661-C150-5F43-A73B-D655D11EB140}"/>
    <dgm:cxn modelId="{2E0E3C45-3E1D-8D47-9A5F-CC05E062EA72}" srcId="{9571CC10-8D57-7942-B70C-AAFACB1F8FC2}" destId="{A23700D3-E5EF-D949-9F59-C54311856827}" srcOrd="2" destOrd="0" parTransId="{8B0F38E5-E45E-4B4E-88BF-5E44F5542937}" sibTransId="{059DBC2C-D17D-D441-B884-F8D72A8C29C2}"/>
    <dgm:cxn modelId="{1425FE63-B1DD-CF46-9914-6CF23D69DBD3}" srcId="{72574EBF-F9B1-124E-942C-556BB3BE5E23}" destId="{D4BB44DF-398A-634C-9B6B-21C5B32F71F7}" srcOrd="2" destOrd="0" parTransId="{64370953-271A-044C-A71D-AF301ADF4107}" sibTransId="{32F8B675-5712-CB45-A7C3-32A1BB073ED2}"/>
    <dgm:cxn modelId="{D4B19967-1FC5-4644-B705-E27DB8CE712F}" type="presOf" srcId="{AC7B1061-DA7D-9D44-A2A3-EDE18079E8EA}" destId="{6A727656-A085-5540-8545-E5222E7A2495}" srcOrd="0" destOrd="1" presId="urn:microsoft.com/office/officeart/2005/8/layout/hList1"/>
    <dgm:cxn modelId="{6A9E2068-D54B-AE45-994F-E4BDD01E3E96}" srcId="{9571CC10-8D57-7942-B70C-AAFACB1F8FC2}" destId="{7DAE62CC-538B-9E42-B1F0-11D5649F6AB2}" srcOrd="1" destOrd="0" parTransId="{58DF31FC-EBB9-0E46-B150-FFECBFF67BE6}" sibTransId="{FCFE4288-6A6D-2141-92E7-C5CB541C0E4D}"/>
    <dgm:cxn modelId="{EB721C76-2817-6740-B401-708916025C91}" type="presOf" srcId="{3A3B4314-BDC4-8B47-A065-CE00065387A2}" destId="{6A727656-A085-5540-8545-E5222E7A2495}" srcOrd="0" destOrd="3" presId="urn:microsoft.com/office/officeart/2005/8/layout/hList1"/>
    <dgm:cxn modelId="{8DABDA8E-754B-5B4D-9286-6724AF61F00A}" srcId="{80BEC032-6A2F-B346-A7A3-588F2F18AE2F}" destId="{72574EBF-F9B1-124E-942C-556BB3BE5E23}" srcOrd="1" destOrd="0" parTransId="{0BAEE108-39F9-8F43-B57A-85C69CDDD939}" sibTransId="{8066AA51-04F5-E847-8536-C41E4C65E5AF}"/>
    <dgm:cxn modelId="{6C368E9D-33B0-D442-9875-05A49D513114}" srcId="{72574EBF-F9B1-124E-942C-556BB3BE5E23}" destId="{3A3B4314-BDC4-8B47-A065-CE00065387A2}" srcOrd="3" destOrd="0" parTransId="{E2670F54-16FD-564F-B4B8-B854871781E8}" sibTransId="{F83546D4-8D6E-C640-803C-450E56A79F57}"/>
    <dgm:cxn modelId="{337EE5AC-7DC9-F34E-A12F-681CADB7454B}" type="presOf" srcId="{A23700D3-E5EF-D949-9F59-C54311856827}" destId="{0FD4FF86-178A-464D-A80F-F8156C5E9E26}" srcOrd="0" destOrd="2" presId="urn:microsoft.com/office/officeart/2005/8/layout/hList1"/>
    <dgm:cxn modelId="{492AADAF-7277-134D-888A-12B0BC68833C}" type="presOf" srcId="{97BE92B3-D05B-6B45-977B-7B927CDAF5A0}" destId="{6A727656-A085-5540-8545-E5222E7A2495}" srcOrd="0" destOrd="0" presId="urn:microsoft.com/office/officeart/2005/8/layout/hList1"/>
    <dgm:cxn modelId="{C07373BA-BA4C-D94C-8C18-2459587DC921}" srcId="{72574EBF-F9B1-124E-942C-556BB3BE5E23}" destId="{AC7B1061-DA7D-9D44-A2A3-EDE18079E8EA}" srcOrd="1" destOrd="0" parTransId="{67E8116D-FE09-D548-852D-1ED74DD266F3}" sibTransId="{F18A66DD-4538-4A47-A8D9-D34304C84FC1}"/>
    <dgm:cxn modelId="{1D5A14CF-7875-1548-9405-406EA2C4AE1D}" type="presOf" srcId="{80BEC032-6A2F-B346-A7A3-588F2F18AE2F}" destId="{38C22137-0556-9043-A8D3-8CFDC770A4CA}" srcOrd="0" destOrd="0" presId="urn:microsoft.com/office/officeart/2005/8/layout/hList1"/>
    <dgm:cxn modelId="{2DD13CD1-B01E-874D-9C87-30EECE5F31A9}" type="presOf" srcId="{1EBA1599-4B08-984F-AFE3-B136A2D31346}" destId="{0FD4FF86-178A-464D-A80F-F8156C5E9E26}" srcOrd="0" destOrd="0" presId="urn:microsoft.com/office/officeart/2005/8/layout/hList1"/>
    <dgm:cxn modelId="{AEC2D4D5-C785-4746-97C7-23202A4C9A20}" type="presOf" srcId="{D4BB44DF-398A-634C-9B6B-21C5B32F71F7}" destId="{6A727656-A085-5540-8545-E5222E7A2495}" srcOrd="0" destOrd="2" presId="urn:microsoft.com/office/officeart/2005/8/layout/hList1"/>
    <dgm:cxn modelId="{02866EF4-1466-B044-9EEA-9BE699700EF5}" type="presOf" srcId="{7DAE62CC-538B-9E42-B1F0-11D5649F6AB2}" destId="{0FD4FF86-178A-464D-A80F-F8156C5E9E26}" srcOrd="0" destOrd="1" presId="urn:microsoft.com/office/officeart/2005/8/layout/hList1"/>
    <dgm:cxn modelId="{C6418EFC-A1DE-DC4B-9BC8-35BB05E5D869}" type="presOf" srcId="{72574EBF-F9B1-124E-942C-556BB3BE5E23}" destId="{25BFAEA8-251B-ED4B-9816-302147A06C97}" srcOrd="0" destOrd="0" presId="urn:microsoft.com/office/officeart/2005/8/layout/hList1"/>
    <dgm:cxn modelId="{600A4BF5-1737-DF42-BF1C-4320AFF72F95}" type="presParOf" srcId="{38C22137-0556-9043-A8D3-8CFDC770A4CA}" destId="{9E9BA799-9F05-9943-B3A4-1254CBFC9410}" srcOrd="0" destOrd="0" presId="urn:microsoft.com/office/officeart/2005/8/layout/hList1"/>
    <dgm:cxn modelId="{FC1E9C13-3DB4-E04E-8384-3DA6991A30E6}" type="presParOf" srcId="{9E9BA799-9F05-9943-B3A4-1254CBFC9410}" destId="{F6A24100-B1C6-B240-94DE-665607A1C2AD}" srcOrd="0" destOrd="0" presId="urn:microsoft.com/office/officeart/2005/8/layout/hList1"/>
    <dgm:cxn modelId="{7FF5B170-2D28-D547-B5C7-099CA042CD72}" type="presParOf" srcId="{9E9BA799-9F05-9943-B3A4-1254CBFC9410}" destId="{0FD4FF86-178A-464D-A80F-F8156C5E9E26}" srcOrd="1" destOrd="0" presId="urn:microsoft.com/office/officeart/2005/8/layout/hList1"/>
    <dgm:cxn modelId="{E6C3EC99-460D-EF42-926E-14BFC6BBF913}" type="presParOf" srcId="{38C22137-0556-9043-A8D3-8CFDC770A4CA}" destId="{4E436F06-5E12-1042-BD21-81B4D418F172}" srcOrd="1" destOrd="0" presId="urn:microsoft.com/office/officeart/2005/8/layout/hList1"/>
    <dgm:cxn modelId="{D9F0979A-CB7A-8F4A-8382-64EED249E03B}" type="presParOf" srcId="{38C22137-0556-9043-A8D3-8CFDC770A4CA}" destId="{C1E365ED-A3C6-574E-A04A-EB75563A7058}" srcOrd="2" destOrd="0" presId="urn:microsoft.com/office/officeart/2005/8/layout/hList1"/>
    <dgm:cxn modelId="{030ADC0E-8A72-9048-AD6A-6993D0319687}" type="presParOf" srcId="{C1E365ED-A3C6-574E-A04A-EB75563A7058}" destId="{25BFAEA8-251B-ED4B-9816-302147A06C97}" srcOrd="0" destOrd="0" presId="urn:microsoft.com/office/officeart/2005/8/layout/hList1"/>
    <dgm:cxn modelId="{BCE17768-D4C3-954F-A98E-87A9D3157162}" type="presParOf" srcId="{C1E365ED-A3C6-574E-A04A-EB75563A7058}" destId="{6A727656-A085-5540-8545-E5222E7A249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FB9C84-3441-AD42-BF24-47A5DA71FA6D}">
      <dsp:nvSpPr>
        <dsp:cNvPr id="0" name=""/>
        <dsp:cNvSpPr/>
      </dsp:nvSpPr>
      <dsp:spPr>
        <a:xfrm>
          <a:off x="0" y="0"/>
          <a:ext cx="2644688" cy="94502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1" kern="1200" dirty="0"/>
            <a:t>Ethical Dilemma Corpus </a:t>
          </a:r>
          <a:r>
            <a:rPr lang="en-US" altLang="zh-CN" sz="1200" b="0" kern="1200" dirty="0"/>
            <a:t>-&gt; Test temporal stability</a:t>
          </a:r>
          <a:endParaRPr lang="en-US" sz="1200" b="0" kern="1200" dirty="0"/>
        </a:p>
      </dsp:txBody>
      <dsp:txXfrm>
        <a:off x="27679" y="27679"/>
        <a:ext cx="1545080" cy="889664"/>
      </dsp:txXfrm>
    </dsp:sp>
    <dsp:sp modelId="{6312FFC2-2E15-164F-AC7B-9F23DC2600BB}">
      <dsp:nvSpPr>
        <dsp:cNvPr id="0" name=""/>
        <dsp:cNvSpPr/>
      </dsp:nvSpPr>
      <dsp:spPr>
        <a:xfrm>
          <a:off x="221492" y="1116844"/>
          <a:ext cx="2644688" cy="945022"/>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dirty="0"/>
            <a:t>Diversity-Enhanced Framework </a:t>
          </a:r>
          <a:r>
            <a:rPr lang="en-US" sz="1100" b="0" kern="1200" dirty="0"/>
            <a:t>-&gt; Quantifiers cultural fidelity vs. actual populations</a:t>
          </a:r>
        </a:p>
      </dsp:txBody>
      <dsp:txXfrm>
        <a:off x="249171" y="1144523"/>
        <a:ext cx="1753572" cy="889664"/>
      </dsp:txXfrm>
    </dsp:sp>
    <dsp:sp modelId="{8683F5BE-7393-AB47-B189-902FEB8F2311}">
      <dsp:nvSpPr>
        <dsp:cNvPr id="0" name=""/>
        <dsp:cNvSpPr/>
      </dsp:nvSpPr>
      <dsp:spPr>
        <a:xfrm>
          <a:off x="439679" y="2233689"/>
          <a:ext cx="2644688" cy="94502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dirty="0"/>
            <a:t>First-Token Alignment </a:t>
          </a:r>
          <a:r>
            <a:rPr lang="en-US" sz="1100" b="0" kern="1200" dirty="0"/>
            <a:t>-&gt; Technical solution for better distributional accuracy</a:t>
          </a:r>
        </a:p>
      </dsp:txBody>
      <dsp:txXfrm>
        <a:off x="467358" y="2261368"/>
        <a:ext cx="1756878" cy="889664"/>
      </dsp:txXfrm>
    </dsp:sp>
    <dsp:sp modelId="{9606D9E9-7B92-0240-9C7D-2830073B4675}">
      <dsp:nvSpPr>
        <dsp:cNvPr id="0" name=""/>
        <dsp:cNvSpPr/>
      </dsp:nvSpPr>
      <dsp:spPr>
        <a:xfrm>
          <a:off x="661172" y="3350533"/>
          <a:ext cx="2644688" cy="945022"/>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b="1" kern="1200" dirty="0"/>
            <a:t>MARK Framework </a:t>
          </a:r>
          <a:r>
            <a:rPr lang="en-US" sz="1100" b="0" kern="1200" dirty="0"/>
            <a:t>-&gt; Provides explainable, personality-driven reasoning</a:t>
          </a:r>
        </a:p>
      </dsp:txBody>
      <dsp:txXfrm>
        <a:off x="688851" y="3378212"/>
        <a:ext cx="1753572" cy="889664"/>
      </dsp:txXfrm>
    </dsp:sp>
    <dsp:sp modelId="{AD1D4D71-466A-7747-9AEF-A67C9C6FAEB2}">
      <dsp:nvSpPr>
        <dsp:cNvPr id="0" name=""/>
        <dsp:cNvSpPr/>
      </dsp:nvSpPr>
      <dsp:spPr>
        <a:xfrm>
          <a:off x="2030423" y="723801"/>
          <a:ext cx="614264" cy="614264"/>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2168632" y="723801"/>
        <a:ext cx="337846" cy="462234"/>
      </dsp:txXfrm>
    </dsp:sp>
    <dsp:sp modelId="{1ED852C6-4EF5-2645-AB99-7911D19F17CA}">
      <dsp:nvSpPr>
        <dsp:cNvPr id="0" name=""/>
        <dsp:cNvSpPr/>
      </dsp:nvSpPr>
      <dsp:spPr>
        <a:xfrm>
          <a:off x="2251916" y="1840645"/>
          <a:ext cx="614264" cy="614264"/>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2390125" y="1840645"/>
        <a:ext cx="337846" cy="462234"/>
      </dsp:txXfrm>
    </dsp:sp>
    <dsp:sp modelId="{95BDAF8B-634E-DE4E-9174-E1C8CF7EECC4}">
      <dsp:nvSpPr>
        <dsp:cNvPr id="0" name=""/>
        <dsp:cNvSpPr/>
      </dsp:nvSpPr>
      <dsp:spPr>
        <a:xfrm>
          <a:off x="2470102" y="2957490"/>
          <a:ext cx="614264" cy="614264"/>
        </a:xfrm>
        <a:prstGeom prst="downArrow">
          <a:avLst>
            <a:gd name="adj1" fmla="val 55000"/>
            <a:gd name="adj2" fmla="val 45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2608311" y="2957490"/>
        <a:ext cx="337846" cy="4622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60FD5-3523-DE4F-AD73-703E0F00AC2F}">
      <dsp:nvSpPr>
        <dsp:cNvPr id="0" name=""/>
        <dsp:cNvSpPr/>
      </dsp:nvSpPr>
      <dsp:spPr>
        <a:xfrm rot="5400000">
          <a:off x="804404" y="1034525"/>
          <a:ext cx="1615852"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33C007-DCD5-0648-A1DA-B7BAA16C5DBD}">
      <dsp:nvSpPr>
        <dsp:cNvPr id="0" name=""/>
        <dsp:cNvSpPr/>
      </dsp:nvSpPr>
      <dsp:spPr>
        <a:xfrm>
          <a:off x="1175621" y="2555"/>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Start: Identify Governance Need (e.g., High-Stakes Deployment)</a:t>
          </a:r>
        </a:p>
      </dsp:txBody>
      <dsp:txXfrm>
        <a:off x="1213660" y="40594"/>
        <a:ext cx="2088505" cy="1222671"/>
      </dsp:txXfrm>
    </dsp:sp>
    <dsp:sp modelId="{CD3EB9FE-C935-B34F-854B-5F09B0B6C1CD}">
      <dsp:nvSpPr>
        <dsp:cNvPr id="0" name=""/>
        <dsp:cNvSpPr/>
      </dsp:nvSpPr>
      <dsp:spPr>
        <a:xfrm rot="5400000">
          <a:off x="804404" y="2657962"/>
          <a:ext cx="1615852"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8141AAD-D132-7D44-A8FC-5E1F5234788A}">
      <dsp:nvSpPr>
        <dsp:cNvPr id="0" name=""/>
        <dsp:cNvSpPr/>
      </dsp:nvSpPr>
      <dsp:spPr>
        <a:xfrm>
          <a:off x="1175621" y="1625993"/>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Audit with Multi-Layered Platform (Ethical Corpus, DEF, First-Token, MARK)</a:t>
          </a:r>
        </a:p>
      </dsp:txBody>
      <dsp:txXfrm>
        <a:off x="1213660" y="1664032"/>
        <a:ext cx="2088505" cy="1222671"/>
      </dsp:txXfrm>
    </dsp:sp>
    <dsp:sp modelId="{0668333E-BCFD-1942-9A2A-426C997B9CD3}">
      <dsp:nvSpPr>
        <dsp:cNvPr id="0" name=""/>
        <dsp:cNvSpPr/>
      </dsp:nvSpPr>
      <dsp:spPr>
        <a:xfrm>
          <a:off x="1616123" y="3469681"/>
          <a:ext cx="2871310"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007F6B-037B-D745-B554-F20EFABE1A99}">
      <dsp:nvSpPr>
        <dsp:cNvPr id="0" name=""/>
        <dsp:cNvSpPr/>
      </dsp:nvSpPr>
      <dsp:spPr>
        <a:xfrm>
          <a:off x="1175621" y="3249430"/>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Diagnose Issues (Instability, Biases, Misalignment)</a:t>
          </a:r>
        </a:p>
      </dsp:txBody>
      <dsp:txXfrm>
        <a:off x="1213660" y="3287469"/>
        <a:ext cx="2088505" cy="1222671"/>
      </dsp:txXfrm>
    </dsp:sp>
    <dsp:sp modelId="{799065F9-1544-C142-9331-CB6D49E3C1A3}">
      <dsp:nvSpPr>
        <dsp:cNvPr id="0" name=""/>
        <dsp:cNvSpPr/>
      </dsp:nvSpPr>
      <dsp:spPr>
        <a:xfrm rot="16200000">
          <a:off x="3683300" y="2657962"/>
          <a:ext cx="1615852"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DD5FE69-44B1-5744-B28A-A6D62D10B326}">
      <dsp:nvSpPr>
        <dsp:cNvPr id="0" name=""/>
        <dsp:cNvSpPr/>
      </dsp:nvSpPr>
      <dsp:spPr>
        <a:xfrm>
          <a:off x="4054517" y="3249430"/>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Select Alignment Technique?</a:t>
          </a:r>
        </a:p>
      </dsp:txBody>
      <dsp:txXfrm>
        <a:off x="4092556" y="3287469"/>
        <a:ext cx="2088505" cy="1222671"/>
      </dsp:txXfrm>
    </dsp:sp>
    <dsp:sp modelId="{0201D07F-C4F7-3942-84EC-9C173D2B8A63}">
      <dsp:nvSpPr>
        <dsp:cNvPr id="0" name=""/>
        <dsp:cNvSpPr/>
      </dsp:nvSpPr>
      <dsp:spPr>
        <a:xfrm rot="16200000">
          <a:off x="3683300" y="1034525"/>
          <a:ext cx="1615852"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AE18ED-4A1B-064A-85E0-CB70BE9BC7E3}">
      <dsp:nvSpPr>
        <dsp:cNvPr id="0" name=""/>
        <dsp:cNvSpPr/>
      </dsp:nvSpPr>
      <dsp:spPr>
        <a:xfrm>
          <a:off x="4054517" y="1625993"/>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Full-Parameter Fine-Tuning / Avoid RLHF Alone</a:t>
          </a:r>
        </a:p>
        <a:p>
          <a:pPr marL="0" lvl="0" indent="0" algn="ctr" defTabSz="577850">
            <a:lnSpc>
              <a:spcPct val="90000"/>
            </a:lnSpc>
            <a:spcBef>
              <a:spcPct val="0"/>
            </a:spcBef>
            <a:spcAft>
              <a:spcPct val="35000"/>
            </a:spcAft>
            <a:buNone/>
          </a:pPr>
          <a:r>
            <a:rPr lang="en-US" sz="1300" kern="1200" dirty="0"/>
            <a:t>(Diverse Datasets + Human</a:t>
          </a:r>
        </a:p>
        <a:p>
          <a:pPr marL="0" lvl="0" indent="0" algn="ctr" defTabSz="577850">
            <a:lnSpc>
              <a:spcPct val="90000"/>
            </a:lnSpc>
            <a:spcBef>
              <a:spcPct val="0"/>
            </a:spcBef>
            <a:spcAft>
              <a:spcPct val="35000"/>
            </a:spcAft>
            <a:buNone/>
          </a:pPr>
          <a:r>
            <a:rPr lang="en-US" sz="1300" kern="1200" dirty="0"/>
            <a:t>Feedback Loops)</a:t>
          </a:r>
        </a:p>
      </dsp:txBody>
      <dsp:txXfrm>
        <a:off x="4092556" y="1664032"/>
        <a:ext cx="2088505" cy="1222671"/>
      </dsp:txXfrm>
    </dsp:sp>
    <dsp:sp modelId="{21E42462-E271-FC4C-BC4E-BC3ED87B44D0}">
      <dsp:nvSpPr>
        <dsp:cNvPr id="0" name=""/>
        <dsp:cNvSpPr/>
      </dsp:nvSpPr>
      <dsp:spPr>
        <a:xfrm>
          <a:off x="4495019" y="222806"/>
          <a:ext cx="2871310"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62FCF70-6C3A-E14A-93B5-25F3D757F422}">
      <dsp:nvSpPr>
        <dsp:cNvPr id="0" name=""/>
        <dsp:cNvSpPr/>
      </dsp:nvSpPr>
      <dsp:spPr>
        <a:xfrm>
          <a:off x="4054517" y="2555"/>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Opensource Model Selection (Prioritize Mistral over </a:t>
          </a:r>
          <a:r>
            <a:rPr lang="en-US" sz="1300" kern="1200" dirty="0" err="1"/>
            <a:t>LLaMA</a:t>
          </a:r>
          <a:r>
            <a:rPr lang="en-US" sz="1300" kern="1200" dirty="0"/>
            <a:t> for Cross-Cultural)</a:t>
          </a:r>
        </a:p>
      </dsp:txBody>
      <dsp:txXfrm>
        <a:off x="4092556" y="40594"/>
        <a:ext cx="2088505" cy="1222671"/>
      </dsp:txXfrm>
    </dsp:sp>
    <dsp:sp modelId="{F13FDF37-47D7-3446-9E11-A8ABD6BF360E}">
      <dsp:nvSpPr>
        <dsp:cNvPr id="0" name=""/>
        <dsp:cNvSpPr/>
      </dsp:nvSpPr>
      <dsp:spPr>
        <a:xfrm rot="5400000">
          <a:off x="6562195" y="1034525"/>
          <a:ext cx="1615852"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3511F3B-9899-ED46-84C0-4ED66AA43265}">
      <dsp:nvSpPr>
        <dsp:cNvPr id="0" name=""/>
        <dsp:cNvSpPr/>
      </dsp:nvSpPr>
      <dsp:spPr>
        <a:xfrm>
          <a:off x="6933412" y="2555"/>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Bias Mitigation (Quantify with KL-Divergence, Adjust for Demographics)</a:t>
          </a:r>
        </a:p>
      </dsp:txBody>
      <dsp:txXfrm>
        <a:off x="6971451" y="40594"/>
        <a:ext cx="2088505" cy="1222671"/>
      </dsp:txXfrm>
    </dsp:sp>
    <dsp:sp modelId="{0B09D9A6-C549-D346-8385-7EABDF73F185}">
      <dsp:nvSpPr>
        <dsp:cNvPr id="0" name=""/>
        <dsp:cNvSpPr/>
      </dsp:nvSpPr>
      <dsp:spPr>
        <a:xfrm rot="5400000">
          <a:off x="6562195" y="2657962"/>
          <a:ext cx="1615852" cy="194812"/>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DC5A401-F24E-0349-9A50-1A068C43917B}">
      <dsp:nvSpPr>
        <dsp:cNvPr id="0" name=""/>
        <dsp:cNvSpPr/>
      </dsp:nvSpPr>
      <dsp:spPr>
        <a:xfrm>
          <a:off x="6933412" y="1625993"/>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Policy Consultation (Integrate Human Oversight, Protocols for Ethical Dilemmas)</a:t>
          </a:r>
        </a:p>
      </dsp:txBody>
      <dsp:txXfrm>
        <a:off x="6971451" y="1664032"/>
        <a:ext cx="2088505" cy="1222671"/>
      </dsp:txXfrm>
    </dsp:sp>
    <dsp:sp modelId="{B3199DA8-E330-7B4E-A6B0-4D8C20C591B6}">
      <dsp:nvSpPr>
        <dsp:cNvPr id="0" name=""/>
        <dsp:cNvSpPr/>
      </dsp:nvSpPr>
      <dsp:spPr>
        <a:xfrm>
          <a:off x="6933412" y="3249430"/>
          <a:ext cx="2164583" cy="12987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End: Deploy with Sustained Monitoring (Ensure No Autonomous Moral Decisions)</a:t>
          </a:r>
        </a:p>
      </dsp:txBody>
      <dsp:txXfrm>
        <a:off x="6971451" y="3287469"/>
        <a:ext cx="2088505" cy="12226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24100-B1C6-B240-94DE-665607A1C2AD}">
      <dsp:nvSpPr>
        <dsp:cNvPr id="0" name=""/>
        <dsp:cNvSpPr/>
      </dsp:nvSpPr>
      <dsp:spPr>
        <a:xfrm>
          <a:off x="50" y="42363"/>
          <a:ext cx="4879005" cy="662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Policy Simulation at Scale</a:t>
          </a:r>
        </a:p>
      </dsp:txBody>
      <dsp:txXfrm>
        <a:off x="50" y="42363"/>
        <a:ext cx="4879005" cy="662400"/>
      </dsp:txXfrm>
    </dsp:sp>
    <dsp:sp modelId="{0FD4FF86-178A-464D-A80F-F8156C5E9E26}">
      <dsp:nvSpPr>
        <dsp:cNvPr id="0" name=""/>
        <dsp:cNvSpPr/>
      </dsp:nvSpPr>
      <dsp:spPr>
        <a:xfrm>
          <a:off x="50" y="704763"/>
          <a:ext cx="4879005" cy="376442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b="1" kern="1200" dirty="0"/>
            <a:t>Tech</a:t>
          </a:r>
          <a:r>
            <a:rPr lang="en-US" sz="2300" kern="1200" dirty="0"/>
            <a:t>: DEF + First-Token</a:t>
          </a:r>
        </a:p>
        <a:p>
          <a:pPr marL="228600" lvl="1" indent="-228600" algn="l" defTabSz="1022350">
            <a:lnSpc>
              <a:spcPct val="90000"/>
            </a:lnSpc>
            <a:spcBef>
              <a:spcPct val="0"/>
            </a:spcBef>
            <a:spcAft>
              <a:spcPct val="15000"/>
            </a:spcAft>
            <a:buChar char="•"/>
          </a:pPr>
          <a:r>
            <a:rPr lang="en-US" sz="2300" b="1" kern="1200" dirty="0"/>
            <a:t>Good</a:t>
          </a:r>
          <a:r>
            <a:rPr lang="en-US" sz="2300" kern="1200" dirty="0"/>
            <a:t>: Enable cost-effective public attitude sims for policies like energy reforms.</a:t>
          </a:r>
        </a:p>
        <a:p>
          <a:pPr marL="228600" lvl="1" indent="-228600" algn="l" defTabSz="1022350">
            <a:lnSpc>
              <a:spcPct val="90000"/>
            </a:lnSpc>
            <a:spcBef>
              <a:spcPct val="0"/>
            </a:spcBef>
            <a:spcAft>
              <a:spcPct val="15000"/>
            </a:spcAft>
            <a:buChar char="•"/>
          </a:pPr>
          <a:r>
            <a:rPr lang="en-US" sz="2300" b="1" kern="1200" dirty="0"/>
            <a:t>Insights</a:t>
          </a:r>
          <a:r>
            <a:rPr lang="en-US" sz="2300" kern="1200" dirty="0"/>
            <a:t>: Complements surveys by predicting U.S./CN responses pre-legislation—accelerating evidence-based decisions without replacing human input</a:t>
          </a:r>
        </a:p>
      </dsp:txBody>
      <dsp:txXfrm>
        <a:off x="50" y="704763"/>
        <a:ext cx="4879005" cy="3764424"/>
      </dsp:txXfrm>
    </dsp:sp>
    <dsp:sp modelId="{25BFAEA8-251B-ED4B-9816-302147A06C97}">
      <dsp:nvSpPr>
        <dsp:cNvPr id="0" name=""/>
        <dsp:cNvSpPr/>
      </dsp:nvSpPr>
      <dsp:spPr>
        <a:xfrm>
          <a:off x="5562116" y="42363"/>
          <a:ext cx="4879005" cy="662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AI Accountability via Interpretability</a:t>
          </a:r>
        </a:p>
      </dsp:txBody>
      <dsp:txXfrm>
        <a:off x="5562116" y="42363"/>
        <a:ext cx="4879005" cy="662400"/>
      </dsp:txXfrm>
    </dsp:sp>
    <dsp:sp modelId="{6A727656-A085-5540-8545-E5222E7A2495}">
      <dsp:nvSpPr>
        <dsp:cNvPr id="0" name=""/>
        <dsp:cNvSpPr/>
      </dsp:nvSpPr>
      <dsp:spPr>
        <a:xfrm>
          <a:off x="5562116" y="704763"/>
          <a:ext cx="4879005" cy="376442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b="1" kern="1200" dirty="0"/>
            <a:t>Tech</a:t>
          </a:r>
          <a:r>
            <a:rPr lang="en-US" sz="2300" kern="1200" dirty="0"/>
            <a:t>: MARK</a:t>
          </a:r>
        </a:p>
        <a:p>
          <a:pPr marL="228600" lvl="1" indent="-228600" algn="l" defTabSz="1022350">
            <a:lnSpc>
              <a:spcPct val="90000"/>
            </a:lnSpc>
            <a:spcBef>
              <a:spcPct val="0"/>
            </a:spcBef>
            <a:spcAft>
              <a:spcPct val="15000"/>
            </a:spcAft>
            <a:buChar char="•"/>
          </a:pPr>
          <a:r>
            <a:rPr lang="en-US" sz="2300" b="1" kern="1200" dirty="0"/>
            <a:t>Good</a:t>
          </a:r>
          <a:r>
            <a:rPr lang="en-US" sz="2300" kern="1200" dirty="0"/>
            <a:t>: Explain value choices in healthcare/justice.</a:t>
          </a:r>
        </a:p>
        <a:p>
          <a:pPr marL="228600" lvl="1" indent="-228600" algn="l" defTabSz="1022350">
            <a:lnSpc>
              <a:spcPct val="90000"/>
            </a:lnSpc>
            <a:spcBef>
              <a:spcPct val="0"/>
            </a:spcBef>
            <a:spcAft>
              <a:spcPct val="15000"/>
            </a:spcAft>
            <a:buChar char="•"/>
          </a:pPr>
          <a:r>
            <a:rPr lang="en-US" sz="2300" b="1" kern="1200" dirty="0"/>
            <a:t>Implement</a:t>
          </a:r>
          <a:r>
            <a:rPr lang="en-US" sz="2300" kern="1200" dirty="0"/>
            <a:t>: Offers compliance for EU AI Act—experts validate trajectories, revealing heuristics over principles. </a:t>
          </a:r>
        </a:p>
        <a:p>
          <a:pPr marL="228600" lvl="1" indent="-228600" algn="l" defTabSz="1022350">
            <a:lnSpc>
              <a:spcPct val="90000"/>
            </a:lnSpc>
            <a:spcBef>
              <a:spcPct val="0"/>
            </a:spcBef>
            <a:spcAft>
              <a:spcPct val="15000"/>
            </a:spcAft>
            <a:buChar char="•"/>
          </a:pPr>
          <a:r>
            <a:rPr lang="en-US" sz="2300" b="1" kern="1200" dirty="0"/>
            <a:t>Insight</a:t>
          </a:r>
          <a:r>
            <a:rPr lang="en-US" sz="2300" kern="1200" dirty="0"/>
            <a:t>: Shifts to 'algorithmic due process' for high-stakes transparency."</a:t>
          </a:r>
        </a:p>
      </dsp:txBody>
      <dsp:txXfrm>
        <a:off x="5562116" y="704763"/>
        <a:ext cx="4879005" cy="376442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1E0D76-34B0-D4E0-9F46-6FA0EEDA44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a:extLst>
              <a:ext uri="{FF2B5EF4-FFF2-40B4-BE49-F238E27FC236}">
                <a16:creationId xmlns:a16="http://schemas.microsoft.com/office/drawing/2014/main" id="{7E7F16A1-D951-B23A-C29D-97A25E6ACA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E3B8D9F-55A0-2349-B3E2-6657C67ED92B}" type="datetimeFigureOut">
              <a:rPr lang="id-ID" smtClean="0"/>
              <a:t>15/11/25</a:t>
            </a:fld>
            <a:endParaRPr lang="id-ID"/>
          </a:p>
        </p:txBody>
      </p:sp>
      <p:sp>
        <p:nvSpPr>
          <p:cNvPr id="4" name="Footer Placeholder 3">
            <a:extLst>
              <a:ext uri="{FF2B5EF4-FFF2-40B4-BE49-F238E27FC236}">
                <a16:creationId xmlns:a16="http://schemas.microsoft.com/office/drawing/2014/main" id="{3A1B06BB-3982-3968-685E-151D60719D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a:extLst>
              <a:ext uri="{FF2B5EF4-FFF2-40B4-BE49-F238E27FC236}">
                <a16:creationId xmlns:a16="http://schemas.microsoft.com/office/drawing/2014/main" id="{9B62C6CC-8792-8FEA-C38A-B9F7574BB49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86359A-8408-8D49-A8E0-CEEE4B5FFF38}" type="slidenum">
              <a:rPr lang="id-ID" smtClean="0"/>
              <a:t>‹#›</a:t>
            </a:fld>
            <a:endParaRPr lang="id-ID"/>
          </a:p>
        </p:txBody>
      </p:sp>
    </p:spTree>
    <p:extLst>
      <p:ext uri="{BB962C8B-B14F-4D97-AF65-F5344CB8AC3E}">
        <p14:creationId xmlns:p14="http://schemas.microsoft.com/office/powerpoint/2010/main" val="27294805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DDD6F-A0C5-5C49-8099-521C346A1284}" type="datetimeFigureOut">
              <a:rPr lang="id-ID" smtClean="0"/>
              <a:t>15/11/25</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CC430-4263-474E-AE94-84ECD86A4D40}" type="slidenum">
              <a:rPr lang="id-ID" smtClean="0"/>
              <a:t>‹#›</a:t>
            </a:fld>
            <a:endParaRPr lang="id-ID"/>
          </a:p>
        </p:txBody>
      </p:sp>
    </p:spTree>
    <p:extLst>
      <p:ext uri="{BB962C8B-B14F-4D97-AF65-F5344CB8AC3E}">
        <p14:creationId xmlns:p14="http://schemas.microsoft.com/office/powerpoint/2010/main" val="3679434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joining us at the Conference. I'm </a:t>
            </a:r>
            <a:r>
              <a:rPr lang="en-US" dirty="0" err="1"/>
              <a:t>Haijiang</a:t>
            </a:r>
            <a:r>
              <a:rPr lang="en-US" dirty="0"/>
              <a:t> Liu, presenting on behalf of our team. Today, I'll discuss our work on "Cross-Cultural Value Alignment Frameworks for Responsible AI Governance: Evidence from China-West Comparative Analysis."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0</a:t>
            </a:fld>
            <a:endParaRPr lang="id-ID"/>
          </a:p>
        </p:txBody>
      </p:sp>
    </p:spTree>
    <p:extLst>
      <p:ext uri="{BB962C8B-B14F-4D97-AF65-F5344CB8AC3E}">
        <p14:creationId xmlns:p14="http://schemas.microsoft.com/office/powerpoint/2010/main" val="2943166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LLMs make decisions impacting billions globally, whose values do they truly reflect? Our mission: Conduct a rigorous China-West comparison to deliver actionable governance protocols.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a:t>
            </a:fld>
            <a:endParaRPr lang="id-ID"/>
          </a:p>
        </p:txBody>
      </p:sp>
    </p:spTree>
    <p:extLst>
      <p:ext uri="{BB962C8B-B14F-4D97-AF65-F5344CB8AC3E}">
        <p14:creationId xmlns:p14="http://schemas.microsoft.com/office/powerpoint/2010/main" val="687556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this, we must first recognize that these high-stakes decisions aren't abstract—they boil down to ethical dilemmas, like choosing between patient privacy and public health in a pandemic, and so on. Yet, as existing research shows, LLMs often falter here, exhibiting issues like </a:t>
            </a:r>
            <a:r>
              <a:rPr lang="en-US" b="1" dirty="0"/>
              <a:t>CLICK</a:t>
            </a:r>
            <a:r>
              <a:rPr lang="en-US" dirty="0"/>
              <a:t> instability, </a:t>
            </a:r>
            <a:r>
              <a:rPr lang="en-US" b="1" dirty="0"/>
              <a:t>CLICK</a:t>
            </a:r>
            <a:r>
              <a:rPr lang="en-US" dirty="0"/>
              <a:t> lack of diversity, </a:t>
            </a:r>
            <a:r>
              <a:rPr lang="en-US" b="1" dirty="0"/>
              <a:t>CLICK</a:t>
            </a:r>
            <a:r>
              <a:rPr lang="en-US" dirty="0"/>
              <a:t> cultural biases, and </a:t>
            </a:r>
            <a:r>
              <a:rPr lang="en-US" b="1" dirty="0"/>
              <a:t>CLICK</a:t>
            </a:r>
            <a:r>
              <a:rPr lang="en-US" dirty="0"/>
              <a:t> insufficient interpretability. </a:t>
            </a:r>
            <a:r>
              <a:rPr lang="en-US" b="1" dirty="0"/>
              <a:t>CLICK</a:t>
            </a:r>
            <a:endParaRPr lang="en-US" dirty="0"/>
          </a:p>
          <a:p>
            <a:endParaRPr lang="en-US" dirty="0"/>
          </a:p>
          <a:p>
            <a:r>
              <a:rPr lang="en-US" dirty="0"/>
              <a:t>To tackle these issues, we developed the Multi-Layered Auditing Platform.</a:t>
            </a:r>
          </a:p>
          <a:p>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2</a:t>
            </a:fld>
            <a:endParaRPr lang="id-ID"/>
          </a:p>
        </p:txBody>
      </p:sp>
    </p:spTree>
    <p:extLst>
      <p:ext uri="{BB962C8B-B14F-4D97-AF65-F5344CB8AC3E}">
        <p14:creationId xmlns:p14="http://schemas.microsoft.com/office/powerpoint/2010/main" val="881118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probes exactly how models navigate these dilemmas, guided by three key research questions. Do LLM responses to ethical dilemmas stem from stable value principles or contextual heuristics? What quantifiable cultural values do these models embody compared to human populations? How can current technological innovations drive genuine value alignment?</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3</a:t>
            </a:fld>
            <a:endParaRPr lang="id-ID"/>
          </a:p>
        </p:txBody>
      </p:sp>
    </p:spTree>
    <p:extLst>
      <p:ext uri="{BB962C8B-B14F-4D97-AF65-F5344CB8AC3E}">
        <p14:creationId xmlns:p14="http://schemas.microsoft.com/office/powerpoint/2010/main" val="21383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Starting with RQ1,</a:t>
            </a:r>
            <a:r>
              <a:rPr lang="en-US" dirty="0"/>
              <a:t> we use the Ethical Dilemma Corpus to assess temporal stability beyond single-step tests.</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4</a:t>
            </a:fld>
            <a:endParaRPr lang="id-ID"/>
          </a:p>
        </p:txBody>
      </p:sp>
    </p:spTree>
    <p:extLst>
      <p:ext uri="{BB962C8B-B14F-4D97-AF65-F5344CB8AC3E}">
        <p14:creationId xmlns:p14="http://schemas.microsoft.com/office/powerpoint/2010/main" val="2532333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that models exhibit rigid biases—prioritizing Truth over Loyalty in 90% of cases and Community over Individual in 70%. Care values remain steady, while Authority degrades in escalations.</a:t>
            </a:r>
          </a:p>
          <a:p>
            <a:r>
              <a:rPr lang="en-US" b="1" dirty="0"/>
              <a:t>This revealed that models present instability in ethical choices, varying across value dimensions. </a:t>
            </a:r>
          </a:p>
          <a:p>
            <a:endParaRPr lang="en-US" b="1" dirty="0"/>
          </a:p>
          <a:p>
            <a:r>
              <a:rPr lang="en-US" b="1" dirty="0"/>
              <a:t>Naturally, this instability prompted us to dig deeper: What kinds of cultural values do these models actually embody?</a:t>
            </a:r>
            <a:endParaRPr lang="en-US" dirty="0"/>
          </a:p>
          <a:p>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5</a:t>
            </a:fld>
            <a:endParaRPr lang="id-ID"/>
          </a:p>
        </p:txBody>
      </p:sp>
    </p:spTree>
    <p:extLst>
      <p:ext uri="{BB962C8B-B14F-4D97-AF65-F5344CB8AC3E}">
        <p14:creationId xmlns:p14="http://schemas.microsoft.com/office/powerpoint/2010/main" val="1281416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That leads us to RQ2.</a:t>
            </a:r>
            <a:r>
              <a:rPr lang="en-US" dirty="0"/>
              <a:t> The Diversity-Enhanced Framework, or DEF, overcomes LLMs' repetitive outputs to simulate diverse survey responses, like those from the World Values Survey. By generating virtual participants with demographic variations—age, gender, region—it quantifies cultural fidelity via KL-Divergence and insensitivity metrics, such as False Fact Presentation and Conflict in Value Expression.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6</a:t>
            </a:fld>
            <a:endParaRPr lang="id-ID"/>
          </a:p>
        </p:txBody>
      </p:sp>
    </p:spTree>
    <p:extLst>
      <p:ext uri="{BB962C8B-B14F-4D97-AF65-F5344CB8AC3E}">
        <p14:creationId xmlns:p14="http://schemas.microsoft.com/office/powerpoint/2010/main" val="796248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found cross-cultural variation encoding difficulties and value expression consistency issues. Models have limitations in distinguishing U.S. and Chinese values, and skew toward male/middle-aged demographics, with up to 80% mismatch.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7</a:t>
            </a:fld>
            <a:endParaRPr lang="id-ID"/>
          </a:p>
        </p:txBody>
      </p:sp>
    </p:spTree>
    <p:extLst>
      <p:ext uri="{BB962C8B-B14F-4D97-AF65-F5344CB8AC3E}">
        <p14:creationId xmlns:p14="http://schemas.microsoft.com/office/powerpoint/2010/main" val="3811699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Insensitivity is high—false facts are ignored 40-60%, and value conflicts are unresolved. </a:t>
            </a:r>
          </a:p>
          <a:p>
            <a:endParaRPr lang="en-US" b="1" dirty="0">
              <a:effectLst/>
            </a:endParaRPr>
          </a:p>
          <a:p>
            <a:r>
              <a:rPr lang="en-US" b="1" dirty="0">
                <a:effectLst/>
              </a:rPr>
              <a:t>Building on these embodied value gaps, we asked: Can existing technologies align models more effectively? Enter RQ3.</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8</a:t>
            </a:fld>
            <a:endParaRPr lang="id-ID"/>
          </a:p>
        </p:txBody>
      </p:sp>
    </p:spTree>
    <p:extLst>
      <p:ext uri="{BB962C8B-B14F-4D97-AF65-F5344CB8AC3E}">
        <p14:creationId xmlns:p14="http://schemas.microsoft.com/office/powerpoint/2010/main" val="2055671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domain adaptations work differently: </a:t>
            </a:r>
            <a:r>
              <a:rPr lang="en-US" b="1" dirty="0">
                <a:effectLst/>
              </a:rPr>
              <a:t>CLICK </a:t>
            </a:r>
            <a:r>
              <a:rPr lang="en-US" dirty="0"/>
              <a:t>Non-linear scaling shows </a:t>
            </a:r>
            <a:r>
              <a:rPr lang="en-US" dirty="0" err="1"/>
              <a:t>Mixtral's</a:t>
            </a:r>
            <a:r>
              <a:rPr lang="en-US" dirty="0"/>
              <a:t> </a:t>
            </a:r>
            <a:r>
              <a:rPr lang="en-US" dirty="0" err="1"/>
              <a:t>MoE</a:t>
            </a:r>
            <a:r>
              <a:rPr lang="en-US" dirty="0"/>
              <a:t> architecture boosting consistency but shifting representations. </a:t>
            </a:r>
            <a:r>
              <a:rPr lang="en-US" b="1" dirty="0">
                <a:effectLst/>
              </a:rPr>
              <a:t>CLICK </a:t>
            </a:r>
            <a:r>
              <a:rPr lang="en-US" dirty="0"/>
              <a:t>Full-Parameter Fine-Tuning outperforms RLHF in preserving variation—Dolphin-</a:t>
            </a:r>
            <a:r>
              <a:rPr lang="en-US" dirty="0" err="1"/>
              <a:t>LLaMA</a:t>
            </a:r>
            <a:r>
              <a:rPr lang="en-US" dirty="0"/>
              <a:t> leads here. </a:t>
            </a:r>
            <a:r>
              <a:rPr lang="en-US" b="1" dirty="0">
                <a:effectLst/>
              </a:rPr>
              <a:t>CLICK </a:t>
            </a:r>
            <a:r>
              <a:rPr lang="en-US" dirty="0"/>
              <a:t>China's multilingual tweaks give +48% gains in Chinese contexts; the West's architectures innovate more.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9</a:t>
            </a:fld>
            <a:endParaRPr lang="id-ID"/>
          </a:p>
        </p:txBody>
      </p:sp>
    </p:spTree>
    <p:extLst>
      <p:ext uri="{BB962C8B-B14F-4D97-AF65-F5344CB8AC3E}">
        <p14:creationId xmlns:p14="http://schemas.microsoft.com/office/powerpoint/2010/main" val="1593827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none of them works the best to present human values. Therefore, we present the First-Token Probability Alignment method, which fine-tunes LLMs to match human value distributions better, minimizing divergence using Jensen-Shannon Distance, and tested on WVS datasets for country-level accuracy. This kind of specialization yields 34% improvements.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10</a:t>
            </a:fld>
            <a:endParaRPr lang="id-ID"/>
          </a:p>
        </p:txBody>
      </p:sp>
    </p:spTree>
    <p:extLst>
      <p:ext uri="{BB962C8B-B14F-4D97-AF65-F5344CB8AC3E}">
        <p14:creationId xmlns:p14="http://schemas.microsoft.com/office/powerpoint/2010/main" val="3864919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also introduced the Multi-</a:t>
            </a:r>
            <a:r>
              <a:rPr lang="en-US" dirty="0" err="1"/>
              <a:t>stAge</a:t>
            </a:r>
            <a:r>
              <a:rPr lang="en-US" dirty="0"/>
              <a:t> Reasoning </a:t>
            </a:r>
            <a:r>
              <a:rPr lang="en-US" dirty="0" err="1"/>
              <a:t>frameworK</a:t>
            </a:r>
            <a:r>
              <a:rPr lang="en-US" dirty="0"/>
              <a:t>, or MARK, which enhances interpretability through cognitive process simulations. Zero-shot prompting with MARK adds 10% simulation accuracy.</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11</a:t>
            </a:fld>
            <a:endParaRPr lang="id-ID"/>
          </a:p>
        </p:txBody>
      </p:sp>
    </p:spTree>
    <p:extLst>
      <p:ext uri="{BB962C8B-B14F-4D97-AF65-F5344CB8AC3E}">
        <p14:creationId xmlns:p14="http://schemas.microsoft.com/office/powerpoint/2010/main" val="3941647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comparison study, we see universal value instability and demographic biases. Regionally, China-origin models emphasize multilingual data integration for context-specific optimization but show limited cross-cultural transfer. Western models experiment more architecturally but persist with U.S.-centric biases. Neither achieves robust generalization.</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12</a:t>
            </a:fld>
            <a:endParaRPr lang="id-ID"/>
          </a:p>
        </p:txBody>
      </p:sp>
    </p:spTree>
    <p:extLst>
      <p:ext uri="{BB962C8B-B14F-4D97-AF65-F5344CB8AC3E}">
        <p14:creationId xmlns:p14="http://schemas.microsoft.com/office/powerpoint/2010/main" val="705647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as this timeline shows, these gaps aren’t going away on their own. From 2023 to 25, universal challenges persist across every generation of LLMs. Early models showed high instability and U.S.-centric bias. Mid-stage models still under-represent youth and rely on heuristic shortcuts. Even advanced models suffer non-linear scaling and cross-cultural failures. So how do we break the cycle? We proposed a suggested governance framework.</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13</a:t>
            </a:fld>
            <a:endParaRPr lang="id-ID"/>
          </a:p>
        </p:txBody>
      </p:sp>
    </p:spTree>
    <p:extLst>
      <p:ext uri="{BB962C8B-B14F-4D97-AF65-F5344CB8AC3E}">
        <p14:creationId xmlns:p14="http://schemas.microsoft.com/office/powerpoint/2010/main" val="2147978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starts by identifying needs for high-stakes deployment, then audits with our platform to diagnose instability, biases, and misalignment. Next, we select techniques like Full-Parameter Fine-Tuning or others and avoid using RLHF alone. Training models on diverse datasets to preserve cultural variation and supply human feedback loops is also very important. For model selections on LLM-powered systems, we recommend prioritizing open-source models—Mistral over </a:t>
            </a:r>
            <a:r>
              <a:rPr lang="en-US" dirty="0" err="1"/>
              <a:t>LLaMA</a:t>
            </a:r>
            <a:r>
              <a:rPr lang="en-US" dirty="0"/>
              <a:t> for cross-cultural tasks. To mitigate biases, we suggest training with KL-Divergence quantification or zero-shot inference adjustment on demographics inclusion. Finally, integrating human oversight in policy consultations and deploying with sustained monitoring is essential to ensure no autonomous moral decisions.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14</a:t>
            </a:fld>
            <a:endParaRPr lang="id-ID"/>
          </a:p>
        </p:txBody>
      </p:sp>
    </p:spTree>
    <p:extLst>
      <p:ext uri="{BB962C8B-B14F-4D97-AF65-F5344CB8AC3E}">
        <p14:creationId xmlns:p14="http://schemas.microsoft.com/office/powerpoint/2010/main" val="594398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Considering Technology for Good implementations, our audit platform and suggested protocols can support these cases, for example: Policy simulation at scale using DEF and First-Token alignment enables cost-effective attitude simulations for reforms like energy policies, predicting U.S./Chinese responses to accelerate evidence-based decisions without replacing humans. Or, AI accountability via MARK explains choices in healthcare or justice, offering EU AI Act compliance through 'algorithmic due process'—validating trajectories to reveal heuristics over principles. </a:t>
            </a:r>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15</a:t>
            </a:fld>
            <a:endParaRPr lang="id-ID"/>
          </a:p>
        </p:txBody>
      </p:sp>
    </p:spTree>
    <p:extLst>
      <p:ext uri="{BB962C8B-B14F-4D97-AF65-F5344CB8AC3E}">
        <p14:creationId xmlns:p14="http://schemas.microsoft.com/office/powerpoint/2010/main" val="767020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platform bridges tech innovation with social and industrial utility, proving LLMs require sustained human oversight amid instabilities. Let's build AI that serves humanity in its full diversity. Thank you—References are on the slide for further reading. I'm happy to take a few questions. </a:t>
            </a:r>
          </a:p>
          <a:p>
            <a:endParaRPr lang="en-CN" dirty="0"/>
          </a:p>
        </p:txBody>
      </p:sp>
      <p:sp>
        <p:nvSpPr>
          <p:cNvPr id="4" name="Slide Number Placeholder 3"/>
          <p:cNvSpPr>
            <a:spLocks noGrp="1"/>
          </p:cNvSpPr>
          <p:nvPr>
            <p:ph type="sldNum" sz="quarter" idx="5"/>
          </p:nvPr>
        </p:nvSpPr>
        <p:spPr/>
        <p:txBody>
          <a:bodyPr/>
          <a:lstStyle/>
          <a:p>
            <a:fld id="{C2CCC430-4263-474E-AE94-84ECD86A4D40}" type="slidenum">
              <a:rPr lang="id-ID" smtClean="0"/>
              <a:t>16</a:t>
            </a:fld>
            <a:endParaRPr lang="id-ID"/>
          </a:p>
        </p:txBody>
      </p:sp>
    </p:spTree>
    <p:extLst>
      <p:ext uri="{BB962C8B-B14F-4D97-AF65-F5344CB8AC3E}">
        <p14:creationId xmlns:p14="http://schemas.microsoft.com/office/powerpoint/2010/main" val="4013360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1A20FB-8195-0FDA-C420-58838FB2725B}"/>
              </a:ext>
            </a:extLst>
          </p:cNvPr>
          <p:cNvSpPr>
            <a:spLocks noGrp="1" noRot="1" noMove="1" noResize="1" noEditPoints="1" noAdjustHandles="1" noChangeArrowheads="1" noChangeShapeType="1"/>
          </p:cNvSpPr>
          <p:nvPr userDrawn="1"/>
        </p:nvSpPr>
        <p:spPr>
          <a:xfrm>
            <a:off x="0" y="0"/>
            <a:ext cx="12192000" cy="6858000"/>
          </a:xfrm>
          <a:prstGeom prst="rect">
            <a:avLst/>
          </a:prstGeom>
          <a:gradFill flip="none" rotWithShape="1">
            <a:gsLst>
              <a:gs pos="74000">
                <a:schemeClr val="bg1"/>
              </a:gs>
              <a:gs pos="0">
                <a:schemeClr val="accent5">
                  <a:lumMod val="20000"/>
                  <a:lumOff val="80000"/>
                  <a:alpha val="87000"/>
                </a:schemeClr>
              </a:gs>
              <a:gs pos="100000">
                <a:srgbClr val="F58634">
                  <a:alpha val="22364"/>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Text Placeholder 16">
            <a:extLst>
              <a:ext uri="{FF2B5EF4-FFF2-40B4-BE49-F238E27FC236}">
                <a16:creationId xmlns:a16="http://schemas.microsoft.com/office/drawing/2014/main" id="{A7F868F2-2DA3-05F4-9568-5F102394C812}"/>
              </a:ext>
            </a:extLst>
          </p:cNvPr>
          <p:cNvSpPr>
            <a:spLocks noGrp="1"/>
          </p:cNvSpPr>
          <p:nvPr>
            <p:ph type="body" sz="quarter" idx="13" hasCustomPrompt="1"/>
          </p:nvPr>
        </p:nvSpPr>
        <p:spPr>
          <a:xfrm>
            <a:off x="498474" y="949325"/>
            <a:ext cx="4049759" cy="4052098"/>
          </a:xfrm>
        </p:spPr>
        <p:txBody>
          <a:bodyPr anchor="ctr"/>
          <a:lstStyle>
            <a:lvl1pPr indent="0" algn="ctr">
              <a:buNone/>
              <a:defRPr>
                <a:solidFill>
                  <a:schemeClr val="bg1"/>
                </a:solidFill>
                <a:highlight>
                  <a:srgbClr val="C0C0C0"/>
                </a:highlight>
              </a:defRPr>
            </a:lvl1pPr>
            <a:lvl2pPr indent="0" algn="ctr">
              <a:buNone/>
              <a:defRPr/>
            </a:lvl2pPr>
            <a:lvl3pPr indent="0" algn="ctr">
              <a:buNone/>
              <a:defRPr/>
            </a:lvl3pPr>
            <a:lvl4pPr indent="0" algn="ctr">
              <a:buNone/>
              <a:defRPr/>
            </a:lvl4pPr>
            <a:lvl5pPr indent="0" algn="ctr">
              <a:buNone/>
              <a:defRPr/>
            </a:lvl5pPr>
          </a:lstStyle>
          <a:p>
            <a:pPr algn="ctr"/>
            <a:r>
              <a:rPr lang="en-GB" sz="2800" dirty="0"/>
              <a:t>You can either replace this picture with yours or can leave it as it.</a:t>
            </a:r>
          </a:p>
        </p:txBody>
      </p:sp>
      <p:sp>
        <p:nvSpPr>
          <p:cNvPr id="2" name="Title 1">
            <a:extLst>
              <a:ext uri="{FF2B5EF4-FFF2-40B4-BE49-F238E27FC236}">
                <a16:creationId xmlns:a16="http://schemas.microsoft.com/office/drawing/2014/main" id="{1153DC06-E68F-AC56-2F8D-8AC9BE75A26D}"/>
              </a:ext>
            </a:extLst>
          </p:cNvPr>
          <p:cNvSpPr>
            <a:spLocks noGrp="1"/>
          </p:cNvSpPr>
          <p:nvPr>
            <p:ph type="ctrTitle" hasCustomPrompt="1"/>
          </p:nvPr>
        </p:nvSpPr>
        <p:spPr>
          <a:xfrm>
            <a:off x="5140036" y="987368"/>
            <a:ext cx="6747164" cy="1048373"/>
          </a:xfrm>
        </p:spPr>
        <p:txBody>
          <a:bodyPr anchor="t">
            <a:noAutofit/>
          </a:bodyPr>
          <a:lstStyle>
            <a:lvl1pPr algn="l">
              <a:defRPr sz="4000" b="1"/>
            </a:lvl1pPr>
          </a:lstStyle>
          <a:p>
            <a:r>
              <a:rPr lang="en-GB" noProof="0" dirty="0"/>
              <a:t>Title of paper/commentary</a:t>
            </a:r>
            <a:br>
              <a:rPr lang="en-GB" noProof="0" dirty="0"/>
            </a:br>
            <a:endParaRPr lang="en-GB" noProof="0" dirty="0"/>
          </a:p>
        </p:txBody>
      </p:sp>
      <p:sp>
        <p:nvSpPr>
          <p:cNvPr id="5" name="Subtitle 2">
            <a:extLst>
              <a:ext uri="{FF2B5EF4-FFF2-40B4-BE49-F238E27FC236}">
                <a16:creationId xmlns:a16="http://schemas.microsoft.com/office/drawing/2014/main" id="{EF20CA8B-F45C-F5F3-22EF-701DC1107CE5}"/>
              </a:ext>
            </a:extLst>
          </p:cNvPr>
          <p:cNvSpPr txBox="1">
            <a:spLocks/>
          </p:cNvSpPr>
          <p:nvPr userDrawn="1"/>
        </p:nvSpPr>
        <p:spPr>
          <a:xfrm>
            <a:off x="5140036" y="3649566"/>
            <a:ext cx="6747164" cy="1258767"/>
          </a:xfrm>
          <a:prstGeom prst="rect">
            <a:avLst/>
          </a:prstGeom>
        </p:spPr>
        <p:txBody>
          <a:bodyPr vert="horz" lIns="91440" tIns="45720" rIns="91440" bIns="45720" rtlCol="0" anchor="t">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defRPr/>
            </a:pPr>
            <a:endParaRPr lang="en-GB" sz="1600" dirty="0"/>
          </a:p>
        </p:txBody>
      </p:sp>
      <p:sp>
        <p:nvSpPr>
          <p:cNvPr id="9" name="Text Placeholder 8">
            <a:extLst>
              <a:ext uri="{FF2B5EF4-FFF2-40B4-BE49-F238E27FC236}">
                <a16:creationId xmlns:a16="http://schemas.microsoft.com/office/drawing/2014/main" id="{A3A67D72-C84F-C860-2999-C7948C9AD8A0}"/>
              </a:ext>
            </a:extLst>
          </p:cNvPr>
          <p:cNvSpPr>
            <a:spLocks noGrp="1"/>
          </p:cNvSpPr>
          <p:nvPr>
            <p:ph type="body" sz="quarter" idx="11" hasCustomPrompt="1"/>
          </p:nvPr>
        </p:nvSpPr>
        <p:spPr>
          <a:xfrm>
            <a:off x="5140035" y="3002790"/>
            <a:ext cx="6747165" cy="617635"/>
          </a:xfrm>
        </p:spPr>
        <p:txBody>
          <a:bodyPr>
            <a:noAutofit/>
          </a:bodyPr>
          <a:lstStyle>
            <a:lvl1pPr>
              <a:buNone/>
              <a:defRPr sz="1800">
                <a:solidFill>
                  <a:schemeClr val="tx1">
                    <a:lumMod val="75000"/>
                    <a:lumOff val="25000"/>
                  </a:schemeClr>
                </a:solidFill>
              </a:defRPr>
            </a:lvl1pPr>
          </a:lstStyle>
          <a:p>
            <a:pPr lvl="0"/>
            <a:r>
              <a:rPr lang="en-GB" dirty="0"/>
              <a:t>First Author</a:t>
            </a:r>
            <a:r>
              <a:rPr lang="en-GB" baseline="30000" dirty="0"/>
              <a:t>1</a:t>
            </a:r>
            <a:r>
              <a:rPr lang="en-GB" dirty="0"/>
              <a:t>, Second Author</a:t>
            </a:r>
            <a:r>
              <a:rPr lang="en-GB" baseline="30000" dirty="0"/>
              <a:t>2</a:t>
            </a:r>
            <a:r>
              <a:rPr lang="en-GB" dirty="0"/>
              <a:t>, Third Author</a:t>
            </a:r>
            <a:r>
              <a:rPr lang="en-GB" baseline="30000" dirty="0"/>
              <a:t>3</a:t>
            </a:r>
            <a:r>
              <a:rPr lang="en-GB" dirty="0"/>
              <a:t>, Fourth Author</a:t>
            </a:r>
            <a:r>
              <a:rPr lang="en-GB" baseline="30000" dirty="0"/>
              <a:t>4</a:t>
            </a:r>
            <a:endParaRPr lang="en-GB" dirty="0"/>
          </a:p>
        </p:txBody>
      </p:sp>
      <p:sp>
        <p:nvSpPr>
          <p:cNvPr id="11" name="Text Placeholder 10">
            <a:extLst>
              <a:ext uri="{FF2B5EF4-FFF2-40B4-BE49-F238E27FC236}">
                <a16:creationId xmlns:a16="http://schemas.microsoft.com/office/drawing/2014/main" id="{AE444AEA-BE23-E111-57F6-F66CEB81E3E9}"/>
              </a:ext>
            </a:extLst>
          </p:cNvPr>
          <p:cNvSpPr>
            <a:spLocks noGrp="1"/>
          </p:cNvSpPr>
          <p:nvPr>
            <p:ph type="body" sz="quarter" idx="12" hasCustomPrompt="1"/>
          </p:nvPr>
        </p:nvSpPr>
        <p:spPr>
          <a:xfrm>
            <a:off x="5131699" y="3883231"/>
            <a:ext cx="6746875" cy="1050925"/>
          </a:xfrm>
        </p:spPr>
        <p:txBody>
          <a:bodyPr>
            <a:noAutofit/>
          </a:bodyPr>
          <a:lstStyle>
            <a:lvl1pPr marL="228600" marR="0" indent="-22860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aseline="0"/>
            </a:lvl1pPr>
            <a:lvl2pPr>
              <a:buNone/>
              <a:defRPr sz="1600"/>
            </a:lvl2pPr>
            <a:lvl3pPr>
              <a:buNone/>
              <a:defRPr sz="1600"/>
            </a:lvl3pPr>
            <a:lvl4pPr>
              <a:buNone/>
              <a:defRPr sz="1600"/>
            </a:lvl4pPr>
            <a:lvl5pPr>
              <a:buNone/>
              <a:defRPr sz="1600"/>
            </a:lvl5pPr>
          </a:lstStyle>
          <a:p>
            <a:pPr lvl="0"/>
            <a:r>
              <a:rPr lang="en-GB" dirty="0"/>
              <a:t>1</a:t>
            </a:r>
            <a:r>
              <a:rPr lang="en-GB" baseline="30000" dirty="0"/>
              <a:t> </a:t>
            </a:r>
            <a:r>
              <a:rPr lang="en-GB" baseline="0" dirty="0"/>
              <a:t>School of A, University of 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2</a:t>
            </a:r>
            <a:r>
              <a:rPr lang="en-GB" baseline="30000" dirty="0"/>
              <a:t> </a:t>
            </a:r>
            <a:r>
              <a:rPr lang="en-GB" baseline="0" dirty="0"/>
              <a:t>School of B, University of B</a:t>
            </a:r>
            <a:endParaRPr lang="en-GB"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3 </a:t>
            </a:r>
            <a:r>
              <a:rPr lang="en-GB" baseline="0" dirty="0"/>
              <a:t>School of C, University of B</a:t>
            </a:r>
            <a:endParaRPr lang="en-GB" dirty="0"/>
          </a:p>
          <a:p>
            <a:pPr lvl="0"/>
            <a:endParaRPr lang="en-GB" dirty="0"/>
          </a:p>
        </p:txBody>
      </p:sp>
    </p:spTree>
    <p:extLst>
      <p:ext uri="{BB962C8B-B14F-4D97-AF65-F5344CB8AC3E}">
        <p14:creationId xmlns:p14="http://schemas.microsoft.com/office/powerpoint/2010/main" val="64416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02CC1-3A4C-B80D-4863-1B4AA1ED76A7}"/>
              </a:ext>
            </a:extLst>
          </p:cNvPr>
          <p:cNvSpPr>
            <a:spLocks noGrp="1"/>
          </p:cNvSpPr>
          <p:nvPr>
            <p:ph type="title"/>
          </p:nvPr>
        </p:nvSpPr>
        <p:spPr>
          <a:xfrm>
            <a:off x="831850" y="1709738"/>
            <a:ext cx="10515600" cy="2852737"/>
          </a:xfrm>
        </p:spPr>
        <p:txBody>
          <a:bodyPr anchor="t">
            <a:normAutofit/>
          </a:bodyPr>
          <a:lstStyle>
            <a:lvl1pPr>
              <a:defRPr sz="4800"/>
            </a:lvl1pPr>
          </a:lstStyle>
          <a:p>
            <a:r>
              <a:rPr lang="en-GB"/>
              <a:t>Click to edit Master title style</a:t>
            </a:r>
            <a:endParaRPr lang="id-ID"/>
          </a:p>
        </p:txBody>
      </p:sp>
      <p:sp>
        <p:nvSpPr>
          <p:cNvPr id="3" name="Text Placeholder 2">
            <a:extLst>
              <a:ext uri="{FF2B5EF4-FFF2-40B4-BE49-F238E27FC236}">
                <a16:creationId xmlns:a16="http://schemas.microsoft.com/office/drawing/2014/main" id="{608BD338-B757-DFB0-CA89-B648AB6F33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CD5983BC-3043-0A3F-C114-8F0C481A68B1}"/>
              </a:ext>
            </a:extLst>
          </p:cNvPr>
          <p:cNvSpPr>
            <a:spLocks noGrp="1"/>
          </p:cNvSpPr>
          <p:nvPr>
            <p:ph type="ftr" sz="quarter" idx="11"/>
          </p:nvPr>
        </p:nvSpPr>
        <p:spPr/>
        <p:txBody>
          <a:bodyPr/>
          <a:lstStyle/>
          <a:p>
            <a:endParaRPr lang="id-ID" dirty="0"/>
          </a:p>
        </p:txBody>
      </p:sp>
      <p:sp>
        <p:nvSpPr>
          <p:cNvPr id="6" name="Slide Number Placeholder 5">
            <a:extLst>
              <a:ext uri="{FF2B5EF4-FFF2-40B4-BE49-F238E27FC236}">
                <a16:creationId xmlns:a16="http://schemas.microsoft.com/office/drawing/2014/main" id="{46251E1E-39EE-E318-78AF-DCFAD8D1C004}"/>
              </a:ext>
            </a:extLst>
          </p:cNvPr>
          <p:cNvSpPr>
            <a:spLocks noGrp="1"/>
          </p:cNvSpPr>
          <p:nvPr>
            <p:ph type="sldNum" sz="quarter" idx="12"/>
          </p:nvPr>
        </p:nvSpPr>
        <p:spPr/>
        <p:txBody>
          <a:bodyPr/>
          <a:lstStyle/>
          <a:p>
            <a:fld id="{BFDBEA21-829B-6241-B888-D243749283AB}" type="slidenum">
              <a:rPr lang="id-ID" smtClean="0"/>
              <a:t>‹#›</a:t>
            </a:fld>
            <a:endParaRPr lang="id-ID"/>
          </a:p>
        </p:txBody>
      </p:sp>
    </p:spTree>
    <p:extLst>
      <p:ext uri="{BB962C8B-B14F-4D97-AF65-F5344CB8AC3E}">
        <p14:creationId xmlns:p14="http://schemas.microsoft.com/office/powerpoint/2010/main" val="4080072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8094BA49-83B5-DA27-DABB-52946620D24D}"/>
              </a:ext>
            </a:extLst>
          </p:cNvPr>
          <p:cNvSpPr>
            <a:spLocks noGrp="1"/>
          </p:cNvSpPr>
          <p:nvPr>
            <p:ph type="title" hasCustomPrompt="1"/>
          </p:nvPr>
        </p:nvSpPr>
        <p:spPr>
          <a:xfrm>
            <a:off x="371475" y="346437"/>
            <a:ext cx="11361337" cy="489585"/>
          </a:xfrm>
        </p:spPr>
        <p:txBody>
          <a:bodyPr>
            <a:noAutofit/>
          </a:bodyPr>
          <a:lstStyle>
            <a:lvl1pPr>
              <a:defRPr sz="3600">
                <a:solidFill>
                  <a:schemeClr val="tx1">
                    <a:lumMod val="75000"/>
                    <a:lumOff val="25000"/>
                  </a:schemeClr>
                </a:solidFill>
              </a:defRPr>
            </a:lvl1pPr>
          </a:lstStyle>
          <a:p>
            <a:r>
              <a:rPr lang="en-GB" dirty="0"/>
              <a:t>Main title</a:t>
            </a:r>
            <a:endParaRPr lang="id-ID" dirty="0"/>
          </a:p>
        </p:txBody>
      </p:sp>
      <p:sp>
        <p:nvSpPr>
          <p:cNvPr id="3" name="Rectangle 2">
            <a:extLst>
              <a:ext uri="{FF2B5EF4-FFF2-40B4-BE49-F238E27FC236}">
                <a16:creationId xmlns:a16="http://schemas.microsoft.com/office/drawing/2014/main" id="{A7549F27-AE4D-BC01-434A-18253F629D5B}"/>
              </a:ext>
            </a:extLst>
          </p:cNvPr>
          <p:cNvSpPr>
            <a:spLocks noGrp="1" noRot="1" noMove="1" noResize="1" noEditPoints="1" noAdjustHandles="1" noChangeArrowheads="1" noChangeShapeType="1"/>
          </p:cNvSpPr>
          <p:nvPr userDrawn="1"/>
        </p:nvSpPr>
        <p:spPr>
          <a:xfrm>
            <a:off x="0" y="6504907"/>
            <a:ext cx="12192000" cy="3651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sz="1100"/>
          </a:p>
        </p:txBody>
      </p:sp>
      <p:sp>
        <p:nvSpPr>
          <p:cNvPr id="4" name="Footer Placeholder 3">
            <a:extLst>
              <a:ext uri="{FF2B5EF4-FFF2-40B4-BE49-F238E27FC236}">
                <a16:creationId xmlns:a16="http://schemas.microsoft.com/office/drawing/2014/main" id="{8FE10F81-6F87-B9AE-CB7D-CD1394E35F49}"/>
              </a:ext>
            </a:extLst>
          </p:cNvPr>
          <p:cNvSpPr>
            <a:spLocks noGrp="1"/>
          </p:cNvSpPr>
          <p:nvPr>
            <p:ph type="ftr" sz="quarter" idx="11"/>
          </p:nvPr>
        </p:nvSpPr>
        <p:spPr>
          <a:xfrm>
            <a:off x="432079" y="6504907"/>
            <a:ext cx="8077200" cy="365125"/>
          </a:xfrm>
        </p:spPr>
        <p:txBody>
          <a:bodyPr/>
          <a:lstStyle>
            <a:lvl1pPr algn="l">
              <a:defRPr/>
            </a:lvl1pPr>
          </a:lstStyle>
          <a:p>
            <a:endParaRPr lang="id-ID" dirty="0"/>
          </a:p>
        </p:txBody>
      </p:sp>
      <p:sp>
        <p:nvSpPr>
          <p:cNvPr id="5" name="Slide Number Placeholder 4">
            <a:extLst>
              <a:ext uri="{FF2B5EF4-FFF2-40B4-BE49-F238E27FC236}">
                <a16:creationId xmlns:a16="http://schemas.microsoft.com/office/drawing/2014/main" id="{F90B7767-A66A-416A-1E7D-A5885023C5C1}"/>
              </a:ext>
            </a:extLst>
          </p:cNvPr>
          <p:cNvSpPr>
            <a:spLocks noGrp="1"/>
          </p:cNvSpPr>
          <p:nvPr>
            <p:ph type="sldNum" sz="quarter" idx="12"/>
          </p:nvPr>
        </p:nvSpPr>
        <p:spPr>
          <a:xfrm>
            <a:off x="9033468" y="6504907"/>
            <a:ext cx="2743200" cy="365125"/>
          </a:xfrm>
        </p:spPr>
        <p:txBody>
          <a:bodyPr/>
          <a:lstStyle>
            <a:lvl1pPr>
              <a:defRPr>
                <a:solidFill>
                  <a:schemeClr val="accent1"/>
                </a:solidFill>
              </a:defRPr>
            </a:lvl1pPr>
          </a:lstStyle>
          <a:p>
            <a:fld id="{BFDBEA21-829B-6241-B888-D243749283AB}" type="slidenum">
              <a:rPr lang="id-ID" smtClean="0"/>
              <a:pPr/>
              <a:t>‹#›</a:t>
            </a:fld>
            <a:endParaRPr lang="id-ID" dirty="0"/>
          </a:p>
        </p:txBody>
      </p:sp>
      <p:sp>
        <p:nvSpPr>
          <p:cNvPr id="8" name="Title 1">
            <a:extLst>
              <a:ext uri="{FF2B5EF4-FFF2-40B4-BE49-F238E27FC236}">
                <a16:creationId xmlns:a16="http://schemas.microsoft.com/office/drawing/2014/main" id="{709EF8B3-570B-01DF-3BC1-6D0798DFF912}"/>
              </a:ext>
            </a:extLst>
          </p:cNvPr>
          <p:cNvSpPr txBox="1">
            <a:spLocks/>
          </p:cNvSpPr>
          <p:nvPr userDrawn="1"/>
        </p:nvSpPr>
        <p:spPr>
          <a:xfrm>
            <a:off x="454025" y="2323775"/>
            <a:ext cx="11400526" cy="1071789"/>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0" kern="1200">
                <a:solidFill>
                  <a:schemeClr val="accent1"/>
                </a:solidFill>
                <a:latin typeface="+mj-lt"/>
                <a:ea typeface="+mj-ea"/>
                <a:cs typeface="+mj-cs"/>
              </a:defRPr>
            </a:lvl1pPr>
          </a:lstStyle>
          <a:p>
            <a:endParaRPr lang="id-ID" sz="2400" dirty="0"/>
          </a:p>
        </p:txBody>
      </p:sp>
      <p:sp>
        <p:nvSpPr>
          <p:cNvPr id="20" name="Text Placeholder 19">
            <a:extLst>
              <a:ext uri="{FF2B5EF4-FFF2-40B4-BE49-F238E27FC236}">
                <a16:creationId xmlns:a16="http://schemas.microsoft.com/office/drawing/2014/main" id="{F60E3CD2-6EA7-DEF7-070F-AB5F187001FB}"/>
              </a:ext>
            </a:extLst>
          </p:cNvPr>
          <p:cNvSpPr>
            <a:spLocks noGrp="1"/>
          </p:cNvSpPr>
          <p:nvPr>
            <p:ph type="body" sz="quarter" idx="15" hasCustomPrompt="1"/>
          </p:nvPr>
        </p:nvSpPr>
        <p:spPr>
          <a:xfrm>
            <a:off x="371475" y="839282"/>
            <a:ext cx="11404600" cy="1200533"/>
          </a:xfrm>
        </p:spPr>
        <p:txBody>
          <a:bodyPr>
            <a:noAutofit/>
          </a:bodyPr>
          <a:lstStyle>
            <a:lvl1pPr marL="12700" indent="-12700" algn="just">
              <a:lnSpc>
                <a:spcPct val="100000"/>
              </a:lnSpc>
              <a:buNone/>
              <a:tabLst/>
              <a:defRPr sz="2400">
                <a:solidFill>
                  <a:schemeClr val="accent1"/>
                </a:solidFill>
                <a:latin typeface="+mj-lt"/>
              </a:defRPr>
            </a:lvl1pPr>
          </a:lstStyle>
          <a:p>
            <a:pPr lvl="0"/>
            <a:r>
              <a:rPr lang="en-GB" dirty="0"/>
              <a:t>Subtitle: One to two sentences to carry you points for this slide. Try to squeeze it to not more than three lines. You could format words to be emphasised in italic, bold, or through colour highlight.</a:t>
            </a:r>
          </a:p>
        </p:txBody>
      </p:sp>
    </p:spTree>
    <p:extLst>
      <p:ext uri="{BB962C8B-B14F-4D97-AF65-F5344CB8AC3E}">
        <p14:creationId xmlns:p14="http://schemas.microsoft.com/office/powerpoint/2010/main" val="2191237774"/>
      </p:ext>
    </p:extLst>
  </p:cSld>
  <p:clrMapOvr>
    <a:masterClrMapping/>
  </p:clrMapOvr>
  <p:extLst>
    <p:ext uri="{DCECCB84-F9BA-43D5-87BE-67443E8EF086}">
      <p15:sldGuideLst xmlns:p15="http://schemas.microsoft.com/office/powerpoint/2012/main">
        <p15:guide id="1" orient="horz" pos="210" userDrawn="1">
          <p15:clr>
            <a:srgbClr val="FBAE40"/>
          </p15:clr>
        </p15:guide>
        <p15:guide id="2" pos="3840" userDrawn="1">
          <p15:clr>
            <a:srgbClr val="FBAE40"/>
          </p15:clr>
        </p15:guide>
        <p15:guide id="3" pos="2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highlite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FB3B64-7B43-E499-0C22-AACD058C00D7}"/>
              </a:ext>
            </a:extLst>
          </p:cNvPr>
          <p:cNvSpPr/>
          <p:nvPr userDrawn="1"/>
        </p:nvSpPr>
        <p:spPr>
          <a:xfrm>
            <a:off x="0" y="8313"/>
            <a:ext cx="12192000" cy="166373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sz="1100" dirty="0">
              <a:solidFill>
                <a:schemeClr val="bg1"/>
              </a:solidFill>
            </a:endParaRPr>
          </a:p>
        </p:txBody>
      </p:sp>
      <p:sp>
        <p:nvSpPr>
          <p:cNvPr id="3" name="Rectangle 2">
            <a:extLst>
              <a:ext uri="{FF2B5EF4-FFF2-40B4-BE49-F238E27FC236}">
                <a16:creationId xmlns:a16="http://schemas.microsoft.com/office/drawing/2014/main" id="{A7549F27-AE4D-BC01-434A-18253F629D5B}"/>
              </a:ext>
            </a:extLst>
          </p:cNvPr>
          <p:cNvSpPr>
            <a:spLocks noGrp="1" noRot="1" noMove="1" noResize="1" noEditPoints="1" noAdjustHandles="1" noChangeArrowheads="1" noChangeShapeType="1"/>
          </p:cNvSpPr>
          <p:nvPr userDrawn="1"/>
        </p:nvSpPr>
        <p:spPr>
          <a:xfrm>
            <a:off x="0" y="6504907"/>
            <a:ext cx="12192000" cy="3651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sz="1100"/>
          </a:p>
        </p:txBody>
      </p:sp>
      <p:sp>
        <p:nvSpPr>
          <p:cNvPr id="4" name="Footer Placeholder 3">
            <a:extLst>
              <a:ext uri="{FF2B5EF4-FFF2-40B4-BE49-F238E27FC236}">
                <a16:creationId xmlns:a16="http://schemas.microsoft.com/office/drawing/2014/main" id="{8FE10F81-6F87-B9AE-CB7D-CD1394E35F49}"/>
              </a:ext>
            </a:extLst>
          </p:cNvPr>
          <p:cNvSpPr>
            <a:spLocks noGrp="1"/>
          </p:cNvSpPr>
          <p:nvPr>
            <p:ph type="ftr" sz="quarter" idx="11"/>
          </p:nvPr>
        </p:nvSpPr>
        <p:spPr>
          <a:xfrm>
            <a:off x="432079" y="6504907"/>
            <a:ext cx="8077200" cy="365125"/>
          </a:xfrm>
        </p:spPr>
        <p:txBody>
          <a:bodyPr/>
          <a:lstStyle>
            <a:lvl1pPr algn="l">
              <a:defRPr/>
            </a:lvl1pPr>
          </a:lstStyle>
          <a:p>
            <a:endParaRPr lang="id-ID" dirty="0"/>
          </a:p>
        </p:txBody>
      </p:sp>
      <p:sp>
        <p:nvSpPr>
          <p:cNvPr id="5" name="Slide Number Placeholder 4">
            <a:extLst>
              <a:ext uri="{FF2B5EF4-FFF2-40B4-BE49-F238E27FC236}">
                <a16:creationId xmlns:a16="http://schemas.microsoft.com/office/drawing/2014/main" id="{F90B7767-A66A-416A-1E7D-A5885023C5C1}"/>
              </a:ext>
            </a:extLst>
          </p:cNvPr>
          <p:cNvSpPr>
            <a:spLocks noGrp="1"/>
          </p:cNvSpPr>
          <p:nvPr>
            <p:ph type="sldNum" sz="quarter" idx="12"/>
          </p:nvPr>
        </p:nvSpPr>
        <p:spPr>
          <a:xfrm>
            <a:off x="9033468" y="6504907"/>
            <a:ext cx="2743200" cy="365125"/>
          </a:xfrm>
        </p:spPr>
        <p:txBody>
          <a:bodyPr/>
          <a:lstStyle>
            <a:lvl1pPr>
              <a:defRPr>
                <a:solidFill>
                  <a:schemeClr val="accent1"/>
                </a:solidFill>
              </a:defRPr>
            </a:lvl1pPr>
          </a:lstStyle>
          <a:p>
            <a:fld id="{BFDBEA21-829B-6241-B888-D243749283AB}" type="slidenum">
              <a:rPr lang="id-ID" smtClean="0"/>
              <a:pPr/>
              <a:t>‹#›</a:t>
            </a:fld>
            <a:endParaRPr lang="id-ID" dirty="0"/>
          </a:p>
        </p:txBody>
      </p:sp>
      <p:sp>
        <p:nvSpPr>
          <p:cNvPr id="10" name="Title 1">
            <a:extLst>
              <a:ext uri="{FF2B5EF4-FFF2-40B4-BE49-F238E27FC236}">
                <a16:creationId xmlns:a16="http://schemas.microsoft.com/office/drawing/2014/main" id="{67A1059D-C4D3-BA4B-C305-26D51A2EBE73}"/>
              </a:ext>
            </a:extLst>
          </p:cNvPr>
          <p:cNvSpPr>
            <a:spLocks noGrp="1"/>
          </p:cNvSpPr>
          <p:nvPr>
            <p:ph type="title" hasCustomPrompt="1"/>
          </p:nvPr>
        </p:nvSpPr>
        <p:spPr>
          <a:xfrm>
            <a:off x="376142" y="346437"/>
            <a:ext cx="11361337" cy="1071789"/>
          </a:xfrm>
        </p:spPr>
        <p:txBody>
          <a:bodyPr>
            <a:noAutofit/>
          </a:bodyPr>
          <a:lstStyle>
            <a:lvl1pPr>
              <a:defRPr b="0">
                <a:solidFill>
                  <a:schemeClr val="accent1"/>
                </a:solidFill>
              </a:defRPr>
            </a:lvl1pPr>
          </a:lstStyle>
          <a:p>
            <a:r>
              <a:rPr lang="en-GB" dirty="0"/>
              <a:t>One sentence to carry you points for this slide. Try to squeeze it to not more than two lines.</a:t>
            </a:r>
            <a:endParaRPr lang="id-ID" dirty="0"/>
          </a:p>
        </p:txBody>
      </p:sp>
    </p:spTree>
    <p:extLst>
      <p:ext uri="{BB962C8B-B14F-4D97-AF65-F5344CB8AC3E}">
        <p14:creationId xmlns:p14="http://schemas.microsoft.com/office/powerpoint/2010/main" val="6204311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7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549F27-AE4D-BC01-434A-18253F629D5B}"/>
              </a:ext>
            </a:extLst>
          </p:cNvPr>
          <p:cNvSpPr>
            <a:spLocks noGrp="1" noRot="1" noMove="1" noResize="1" noEditPoints="1" noAdjustHandles="1" noChangeArrowheads="1" noChangeShapeType="1"/>
          </p:cNvSpPr>
          <p:nvPr userDrawn="1"/>
        </p:nvSpPr>
        <p:spPr>
          <a:xfrm>
            <a:off x="0" y="6504907"/>
            <a:ext cx="12192000" cy="3651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sz="1100"/>
          </a:p>
        </p:txBody>
      </p:sp>
      <p:sp>
        <p:nvSpPr>
          <p:cNvPr id="4" name="Footer Placeholder 3">
            <a:extLst>
              <a:ext uri="{FF2B5EF4-FFF2-40B4-BE49-F238E27FC236}">
                <a16:creationId xmlns:a16="http://schemas.microsoft.com/office/drawing/2014/main" id="{8FE10F81-6F87-B9AE-CB7D-CD1394E35F49}"/>
              </a:ext>
            </a:extLst>
          </p:cNvPr>
          <p:cNvSpPr>
            <a:spLocks noGrp="1"/>
          </p:cNvSpPr>
          <p:nvPr>
            <p:ph type="ftr" sz="quarter" idx="11"/>
          </p:nvPr>
        </p:nvSpPr>
        <p:spPr>
          <a:xfrm>
            <a:off x="432079" y="6504907"/>
            <a:ext cx="8077200" cy="365125"/>
          </a:xfrm>
        </p:spPr>
        <p:txBody>
          <a:bodyPr/>
          <a:lstStyle>
            <a:lvl1pPr algn="l">
              <a:defRPr/>
            </a:lvl1pPr>
          </a:lstStyle>
          <a:p>
            <a:endParaRPr lang="id-ID" dirty="0"/>
          </a:p>
        </p:txBody>
      </p:sp>
      <p:sp>
        <p:nvSpPr>
          <p:cNvPr id="5" name="Slide Number Placeholder 4">
            <a:extLst>
              <a:ext uri="{FF2B5EF4-FFF2-40B4-BE49-F238E27FC236}">
                <a16:creationId xmlns:a16="http://schemas.microsoft.com/office/drawing/2014/main" id="{F90B7767-A66A-416A-1E7D-A5885023C5C1}"/>
              </a:ext>
            </a:extLst>
          </p:cNvPr>
          <p:cNvSpPr>
            <a:spLocks noGrp="1"/>
          </p:cNvSpPr>
          <p:nvPr>
            <p:ph type="sldNum" sz="quarter" idx="12"/>
          </p:nvPr>
        </p:nvSpPr>
        <p:spPr>
          <a:xfrm>
            <a:off x="9033468" y="6504907"/>
            <a:ext cx="2743200" cy="365125"/>
          </a:xfrm>
        </p:spPr>
        <p:txBody>
          <a:bodyPr/>
          <a:lstStyle>
            <a:lvl1pPr>
              <a:defRPr>
                <a:solidFill>
                  <a:schemeClr val="accent1"/>
                </a:solidFill>
              </a:defRPr>
            </a:lvl1pPr>
          </a:lstStyle>
          <a:p>
            <a:fld id="{BFDBEA21-829B-6241-B888-D243749283AB}" type="slidenum">
              <a:rPr lang="id-ID" smtClean="0"/>
              <a:pPr/>
              <a:t>‹#›</a:t>
            </a:fld>
            <a:endParaRPr lang="id-ID" dirty="0"/>
          </a:p>
        </p:txBody>
      </p:sp>
      <p:sp>
        <p:nvSpPr>
          <p:cNvPr id="10" name="Title 1">
            <a:extLst>
              <a:ext uri="{FF2B5EF4-FFF2-40B4-BE49-F238E27FC236}">
                <a16:creationId xmlns:a16="http://schemas.microsoft.com/office/drawing/2014/main" id="{67A1059D-C4D3-BA4B-C305-26D51A2EBE73}"/>
              </a:ext>
            </a:extLst>
          </p:cNvPr>
          <p:cNvSpPr>
            <a:spLocks noGrp="1"/>
          </p:cNvSpPr>
          <p:nvPr>
            <p:ph type="title" hasCustomPrompt="1"/>
          </p:nvPr>
        </p:nvSpPr>
        <p:spPr>
          <a:xfrm>
            <a:off x="376142" y="346437"/>
            <a:ext cx="11361337" cy="1071789"/>
          </a:xfrm>
        </p:spPr>
        <p:txBody>
          <a:bodyPr>
            <a:noAutofit/>
          </a:bodyPr>
          <a:lstStyle>
            <a:lvl1pPr>
              <a:defRPr b="0">
                <a:solidFill>
                  <a:schemeClr val="accent1"/>
                </a:solidFill>
              </a:defRPr>
            </a:lvl1pPr>
          </a:lstStyle>
          <a:p>
            <a:r>
              <a:rPr lang="en-GB" dirty="0"/>
              <a:t>One sentence to carry you points for this slide. Try to squeeze it to not more than two lines.</a:t>
            </a:r>
            <a:endParaRPr lang="id-ID" dirty="0"/>
          </a:p>
        </p:txBody>
      </p:sp>
    </p:spTree>
    <p:extLst>
      <p:ext uri="{BB962C8B-B14F-4D97-AF65-F5344CB8AC3E}">
        <p14:creationId xmlns:p14="http://schemas.microsoft.com/office/powerpoint/2010/main" val="7120485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7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oint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549F27-AE4D-BC01-434A-18253F629D5B}"/>
              </a:ext>
            </a:extLst>
          </p:cNvPr>
          <p:cNvSpPr>
            <a:spLocks noGrp="1" noRot="1" noMove="1" noResize="1" noEditPoints="1" noAdjustHandles="1" noChangeArrowheads="1" noChangeShapeType="1"/>
          </p:cNvSpPr>
          <p:nvPr userDrawn="1"/>
        </p:nvSpPr>
        <p:spPr>
          <a:xfrm>
            <a:off x="0" y="6504907"/>
            <a:ext cx="12192000" cy="36512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sz="1100"/>
          </a:p>
        </p:txBody>
      </p:sp>
      <p:sp>
        <p:nvSpPr>
          <p:cNvPr id="4" name="Footer Placeholder 3">
            <a:extLst>
              <a:ext uri="{FF2B5EF4-FFF2-40B4-BE49-F238E27FC236}">
                <a16:creationId xmlns:a16="http://schemas.microsoft.com/office/drawing/2014/main" id="{8FE10F81-6F87-B9AE-CB7D-CD1394E35F49}"/>
              </a:ext>
            </a:extLst>
          </p:cNvPr>
          <p:cNvSpPr>
            <a:spLocks noGrp="1"/>
          </p:cNvSpPr>
          <p:nvPr>
            <p:ph type="ftr" sz="quarter" idx="11"/>
          </p:nvPr>
        </p:nvSpPr>
        <p:spPr>
          <a:xfrm>
            <a:off x="432079" y="6504907"/>
            <a:ext cx="8077200" cy="365125"/>
          </a:xfrm>
        </p:spPr>
        <p:txBody>
          <a:bodyPr/>
          <a:lstStyle>
            <a:lvl1pPr algn="l">
              <a:defRPr/>
            </a:lvl1pPr>
          </a:lstStyle>
          <a:p>
            <a:endParaRPr lang="id-ID" dirty="0"/>
          </a:p>
        </p:txBody>
      </p:sp>
      <p:sp>
        <p:nvSpPr>
          <p:cNvPr id="5" name="Slide Number Placeholder 4">
            <a:extLst>
              <a:ext uri="{FF2B5EF4-FFF2-40B4-BE49-F238E27FC236}">
                <a16:creationId xmlns:a16="http://schemas.microsoft.com/office/drawing/2014/main" id="{F90B7767-A66A-416A-1E7D-A5885023C5C1}"/>
              </a:ext>
            </a:extLst>
          </p:cNvPr>
          <p:cNvSpPr>
            <a:spLocks noGrp="1"/>
          </p:cNvSpPr>
          <p:nvPr>
            <p:ph type="sldNum" sz="quarter" idx="12"/>
          </p:nvPr>
        </p:nvSpPr>
        <p:spPr>
          <a:xfrm>
            <a:off x="9033468" y="6504907"/>
            <a:ext cx="2743200" cy="365125"/>
          </a:xfrm>
        </p:spPr>
        <p:txBody>
          <a:bodyPr/>
          <a:lstStyle>
            <a:lvl1pPr>
              <a:defRPr>
                <a:solidFill>
                  <a:schemeClr val="accent1"/>
                </a:solidFill>
              </a:defRPr>
            </a:lvl1pPr>
          </a:lstStyle>
          <a:p>
            <a:fld id="{BFDBEA21-829B-6241-B888-D243749283AB}" type="slidenum">
              <a:rPr lang="id-ID" smtClean="0"/>
              <a:pPr/>
              <a:t>‹#›</a:t>
            </a:fld>
            <a:endParaRPr lang="id-ID" dirty="0"/>
          </a:p>
        </p:txBody>
      </p:sp>
      <p:sp>
        <p:nvSpPr>
          <p:cNvPr id="7" name="Text Placeholder 6">
            <a:extLst>
              <a:ext uri="{FF2B5EF4-FFF2-40B4-BE49-F238E27FC236}">
                <a16:creationId xmlns:a16="http://schemas.microsoft.com/office/drawing/2014/main" id="{D957A06B-24D4-9146-8616-30F9DFFAC3C5}"/>
              </a:ext>
            </a:extLst>
          </p:cNvPr>
          <p:cNvSpPr>
            <a:spLocks noGrp="1"/>
          </p:cNvSpPr>
          <p:nvPr>
            <p:ph type="body" sz="quarter" idx="13" hasCustomPrompt="1"/>
          </p:nvPr>
        </p:nvSpPr>
        <p:spPr>
          <a:xfrm>
            <a:off x="376142" y="1711234"/>
            <a:ext cx="11353260" cy="4481967"/>
          </a:xfrm>
        </p:spPr>
        <p:txBody>
          <a:bodyPr>
            <a:normAutofit/>
          </a:bodyPr>
          <a:lstStyle>
            <a:lvl1pPr algn="just">
              <a:spcBef>
                <a:spcPts val="0"/>
              </a:spcBef>
              <a:spcAft>
                <a:spcPts val="600"/>
              </a:spcAft>
              <a:defRPr sz="2400">
                <a:solidFill>
                  <a:schemeClr val="tx1">
                    <a:lumMod val="75000"/>
                    <a:lumOff val="25000"/>
                  </a:schemeClr>
                </a:solidFill>
              </a:defRPr>
            </a:lvl1pPr>
            <a:lvl2pPr>
              <a:defRPr sz="2000"/>
            </a:lvl2pPr>
            <a:lvl3pPr>
              <a:defRPr sz="1800"/>
            </a:lvl3pPr>
            <a:lvl4pPr>
              <a:defRPr sz="1600"/>
            </a:lvl4pPr>
            <a:lvl5pPr>
              <a:defRPr sz="1600"/>
            </a:lvl5pPr>
          </a:lstStyle>
          <a:p>
            <a:pPr lvl="0"/>
            <a:r>
              <a:rPr lang="en-GB" dirty="0"/>
              <a:t>This is your points. Try to use less of this point listing deck as it is encouraged of you to get creative with your visualisation to carry you message.</a:t>
            </a:r>
            <a:endParaRPr lang="id-ID" dirty="0"/>
          </a:p>
        </p:txBody>
      </p:sp>
      <p:cxnSp>
        <p:nvCxnSpPr>
          <p:cNvPr id="12" name="Straight Connector 11">
            <a:extLst>
              <a:ext uri="{FF2B5EF4-FFF2-40B4-BE49-F238E27FC236}">
                <a16:creationId xmlns:a16="http://schemas.microsoft.com/office/drawing/2014/main" id="{901E2BFC-CAF9-B66B-27E7-18EBAE82F4C8}"/>
              </a:ext>
            </a:extLst>
          </p:cNvPr>
          <p:cNvCxnSpPr>
            <a:cxnSpLocks/>
          </p:cNvCxnSpPr>
          <p:nvPr userDrawn="1"/>
        </p:nvCxnSpPr>
        <p:spPr>
          <a:xfrm>
            <a:off x="419370" y="1440519"/>
            <a:ext cx="11353260"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14" name="Title 1">
            <a:extLst>
              <a:ext uri="{FF2B5EF4-FFF2-40B4-BE49-F238E27FC236}">
                <a16:creationId xmlns:a16="http://schemas.microsoft.com/office/drawing/2014/main" id="{5CCA59EB-70EF-6E22-109D-18ABAF88CF47}"/>
              </a:ext>
            </a:extLst>
          </p:cNvPr>
          <p:cNvSpPr>
            <a:spLocks noGrp="1"/>
          </p:cNvSpPr>
          <p:nvPr>
            <p:ph type="title" hasCustomPrompt="1"/>
          </p:nvPr>
        </p:nvSpPr>
        <p:spPr>
          <a:xfrm>
            <a:off x="376142" y="346437"/>
            <a:ext cx="11361337" cy="1071789"/>
          </a:xfrm>
        </p:spPr>
        <p:txBody>
          <a:bodyPr>
            <a:noAutofit/>
          </a:bodyPr>
          <a:lstStyle>
            <a:lvl1pPr>
              <a:defRPr b="0">
                <a:solidFill>
                  <a:schemeClr val="accent1"/>
                </a:solidFill>
              </a:defRPr>
            </a:lvl1pPr>
          </a:lstStyle>
          <a:p>
            <a:r>
              <a:rPr lang="en-GB" dirty="0"/>
              <a:t>One sentence to carry you points for this slide. Try to squeeze it to not more than two lines.</a:t>
            </a:r>
            <a:endParaRPr lang="id-ID" dirty="0"/>
          </a:p>
        </p:txBody>
      </p:sp>
    </p:spTree>
    <p:extLst>
      <p:ext uri="{BB962C8B-B14F-4D97-AF65-F5344CB8AC3E}">
        <p14:creationId xmlns:p14="http://schemas.microsoft.com/office/powerpoint/2010/main" val="4694687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7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773F8C2-5237-FD57-8CB9-468104FDC725}"/>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5B5AADDB-590C-C47C-69AD-C12E117E15DE}"/>
              </a:ext>
            </a:extLst>
          </p:cNvPr>
          <p:cNvSpPr>
            <a:spLocks noGrp="1"/>
          </p:cNvSpPr>
          <p:nvPr>
            <p:ph type="sldNum" sz="quarter" idx="12"/>
          </p:nvPr>
        </p:nvSpPr>
        <p:spPr/>
        <p:txBody>
          <a:bodyPr/>
          <a:lstStyle/>
          <a:p>
            <a:fld id="{BFDBEA21-829B-6241-B888-D243749283AB}" type="slidenum">
              <a:rPr lang="en-GB" smtClean="0"/>
              <a:t>‹#›</a:t>
            </a:fld>
            <a:endParaRPr lang="en-GB" dirty="0"/>
          </a:p>
        </p:txBody>
      </p:sp>
    </p:spTree>
    <p:extLst>
      <p:ext uri="{BB962C8B-B14F-4D97-AF65-F5344CB8AC3E}">
        <p14:creationId xmlns:p14="http://schemas.microsoft.com/office/powerpoint/2010/main" val="21482768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3EA911-EE41-80E3-B62E-2FE70A866124}"/>
              </a:ext>
            </a:extLst>
          </p:cNvPr>
          <p:cNvSpPr>
            <a:spLocks noGrp="1"/>
          </p:cNvSpPr>
          <p:nvPr>
            <p:ph type="title"/>
          </p:nvPr>
        </p:nvSpPr>
        <p:spPr>
          <a:xfrm>
            <a:off x="415331" y="286222"/>
            <a:ext cx="11361337" cy="1071789"/>
          </a:xfrm>
          <a:prstGeom prst="rect">
            <a:avLst/>
          </a:prstGeom>
        </p:spPr>
        <p:txBody>
          <a:bodyPr vert="horz" lIns="91440" tIns="45720" rIns="91440" bIns="45720" rtlCol="0" anchor="t">
            <a:normAutofit/>
          </a:bodyPr>
          <a:lstStyle/>
          <a:p>
            <a:r>
              <a:rPr lang="en-GB" dirty="0"/>
              <a:t>Click to edit Master title style</a:t>
            </a:r>
            <a:br>
              <a:rPr lang="en-GB" dirty="0"/>
            </a:br>
            <a:r>
              <a:rPr lang="en-GB" dirty="0"/>
              <a:t>Click to edit Master title style</a:t>
            </a:r>
          </a:p>
        </p:txBody>
      </p:sp>
      <p:sp>
        <p:nvSpPr>
          <p:cNvPr id="3" name="Text Placeholder 2">
            <a:extLst>
              <a:ext uri="{FF2B5EF4-FFF2-40B4-BE49-F238E27FC236}">
                <a16:creationId xmlns:a16="http://schemas.microsoft.com/office/drawing/2014/main" id="{7472DFB2-AC66-AA09-AF7B-9187E4923D72}"/>
              </a:ext>
            </a:extLst>
          </p:cNvPr>
          <p:cNvSpPr>
            <a:spLocks noGrp="1"/>
          </p:cNvSpPr>
          <p:nvPr>
            <p:ph type="body" idx="1"/>
          </p:nvPr>
        </p:nvSpPr>
        <p:spPr>
          <a:xfrm>
            <a:off x="432079" y="1537398"/>
            <a:ext cx="11344589" cy="463956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Footer Placeholder 4">
            <a:extLst>
              <a:ext uri="{FF2B5EF4-FFF2-40B4-BE49-F238E27FC236}">
                <a16:creationId xmlns:a16="http://schemas.microsoft.com/office/drawing/2014/main" id="{F213AAD8-AF56-D395-1F80-3161CCFB186A}"/>
              </a:ext>
            </a:extLst>
          </p:cNvPr>
          <p:cNvSpPr>
            <a:spLocks noGrp="1"/>
          </p:cNvSpPr>
          <p:nvPr>
            <p:ph type="ftr" sz="quarter" idx="3"/>
          </p:nvPr>
        </p:nvSpPr>
        <p:spPr>
          <a:xfrm>
            <a:off x="415332" y="6356350"/>
            <a:ext cx="8186057"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49A9CEEE-FC93-375A-5493-63CCF1D35E32}"/>
              </a:ext>
            </a:extLst>
          </p:cNvPr>
          <p:cNvSpPr>
            <a:spLocks noGrp="1"/>
          </p:cNvSpPr>
          <p:nvPr>
            <p:ph type="sldNum" sz="quarter" idx="4"/>
          </p:nvPr>
        </p:nvSpPr>
        <p:spPr>
          <a:xfrm>
            <a:off x="9033468"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DBEA21-829B-6241-B888-D243749283AB}" type="slidenum">
              <a:rPr lang="en-GB" smtClean="0"/>
              <a:t>‹#›</a:t>
            </a:fld>
            <a:endParaRPr lang="en-GB" dirty="0"/>
          </a:p>
        </p:txBody>
      </p:sp>
    </p:spTree>
    <p:extLst>
      <p:ext uri="{BB962C8B-B14F-4D97-AF65-F5344CB8AC3E}">
        <p14:creationId xmlns:p14="http://schemas.microsoft.com/office/powerpoint/2010/main" val="7192539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4" r:id="rId3"/>
    <p:sldLayoutId id="2147483657" r:id="rId4"/>
    <p:sldLayoutId id="2147483658" r:id="rId5"/>
    <p:sldLayoutId id="2147483656" r:id="rId6"/>
    <p:sldLayoutId id="2147483655" r:id="rId7"/>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jpe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jpe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jpe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9.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48550/ARXIV.2412.19926"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doi.org/10.1016/j.ipm.2025.104099" TargetMode="External"/><Relationship Id="rId4" Type="http://schemas.openxmlformats.org/officeDocument/2006/relationships/hyperlink" Target="https://aclanthology.org/2025.naacl-long.1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B2B06D66-D742-A313-D28A-BADE39348765}"/>
              </a:ext>
            </a:extLst>
          </p:cNvPr>
          <p:cNvSpPr/>
          <p:nvPr/>
        </p:nvSpPr>
        <p:spPr>
          <a:xfrm rot="19338903">
            <a:off x="-110398" y="1740204"/>
            <a:ext cx="2148547" cy="2214997"/>
          </a:xfrm>
          <a:custGeom>
            <a:avLst/>
            <a:gdLst/>
            <a:ahLst/>
            <a:cxnLst/>
            <a:rect l="l" t="t" r="r" b="b"/>
            <a:pathLst>
              <a:path w="3462720" h="3569814">
                <a:moveTo>
                  <a:pt x="0" y="0"/>
                </a:moveTo>
                <a:lnTo>
                  <a:pt x="3462720" y="0"/>
                </a:lnTo>
                <a:lnTo>
                  <a:pt x="3462720" y="3569814"/>
                </a:lnTo>
                <a:lnTo>
                  <a:pt x="0" y="35698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000" dirty="0"/>
          </a:p>
        </p:txBody>
      </p:sp>
      <p:sp>
        <p:nvSpPr>
          <p:cNvPr id="18" name="Freeform 11">
            <a:extLst>
              <a:ext uri="{FF2B5EF4-FFF2-40B4-BE49-F238E27FC236}">
                <a16:creationId xmlns:a16="http://schemas.microsoft.com/office/drawing/2014/main" id="{0BB6AEA6-40FA-A094-43A5-869946A7AB9D}"/>
              </a:ext>
            </a:extLst>
          </p:cNvPr>
          <p:cNvSpPr/>
          <p:nvPr/>
        </p:nvSpPr>
        <p:spPr>
          <a:xfrm rot="6893256">
            <a:off x="2944828" y="1328408"/>
            <a:ext cx="2148547" cy="2214996"/>
          </a:xfrm>
          <a:custGeom>
            <a:avLst/>
            <a:gdLst/>
            <a:ahLst/>
            <a:cxnLst/>
            <a:rect l="l" t="t" r="r" b="b"/>
            <a:pathLst>
              <a:path w="3462720" h="3569814">
                <a:moveTo>
                  <a:pt x="0" y="0"/>
                </a:moveTo>
                <a:lnTo>
                  <a:pt x="3462719" y="0"/>
                </a:lnTo>
                <a:lnTo>
                  <a:pt x="3462719" y="3569814"/>
                </a:lnTo>
                <a:lnTo>
                  <a:pt x="0" y="35698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000" dirty="0"/>
          </a:p>
        </p:txBody>
      </p:sp>
      <p:sp>
        <p:nvSpPr>
          <p:cNvPr id="26" name="Title 25">
            <a:extLst>
              <a:ext uri="{FF2B5EF4-FFF2-40B4-BE49-F238E27FC236}">
                <a16:creationId xmlns:a16="http://schemas.microsoft.com/office/drawing/2014/main" id="{6C8760A9-78C8-3A3A-AC19-8FABDDE07D2C}"/>
              </a:ext>
            </a:extLst>
          </p:cNvPr>
          <p:cNvSpPr>
            <a:spLocks noGrp="1"/>
          </p:cNvSpPr>
          <p:nvPr>
            <p:ph type="ctrTitle"/>
          </p:nvPr>
        </p:nvSpPr>
        <p:spPr>
          <a:xfrm>
            <a:off x="5140036" y="984780"/>
            <a:ext cx="6747164" cy="1048373"/>
          </a:xfrm>
        </p:spPr>
        <p:txBody>
          <a:bodyPr/>
          <a:lstStyle/>
          <a:p>
            <a:r>
              <a:rPr lang="en-GB" sz="2800" dirty="0"/>
              <a:t>CROSS-CULTURAL VALUE ALIGNMENT FRAMEWORKS</a:t>
            </a:r>
            <a:br>
              <a:rPr lang="en-GB" sz="2800" dirty="0"/>
            </a:br>
            <a:r>
              <a:rPr lang="en-GB" sz="2800" dirty="0"/>
              <a:t>FOR RESPONSIBLE AI GOVERNANCE:</a:t>
            </a:r>
          </a:p>
        </p:txBody>
      </p:sp>
      <p:sp>
        <p:nvSpPr>
          <p:cNvPr id="27" name="Subtitle 26">
            <a:extLst>
              <a:ext uri="{FF2B5EF4-FFF2-40B4-BE49-F238E27FC236}">
                <a16:creationId xmlns:a16="http://schemas.microsoft.com/office/drawing/2014/main" id="{4E487A66-BD24-705B-2C9D-C61E2C87F77D}"/>
              </a:ext>
            </a:extLst>
          </p:cNvPr>
          <p:cNvSpPr>
            <a:spLocks noGrp="1"/>
          </p:cNvSpPr>
          <p:nvPr>
            <p:ph type="subTitle" idx="4294967295"/>
          </p:nvPr>
        </p:nvSpPr>
        <p:spPr>
          <a:xfrm>
            <a:off x="5140036" y="2277965"/>
            <a:ext cx="6747164" cy="1258767"/>
          </a:xfrm>
        </p:spPr>
        <p:txBody>
          <a:bodyPr/>
          <a:lstStyle/>
          <a:p>
            <a:pPr marL="0" indent="0">
              <a:buNone/>
            </a:pPr>
            <a:r>
              <a:rPr lang="en-GB" sz="2800" dirty="0"/>
              <a:t>EVIDENCE FROM</a:t>
            </a:r>
            <a:br>
              <a:rPr lang="en-GB" sz="2800" dirty="0"/>
            </a:br>
            <a:r>
              <a:rPr lang="en-GB" sz="2800" dirty="0"/>
              <a:t>CHINA-WEST COMPARATIVE ANALYSIS</a:t>
            </a:r>
            <a:endParaRPr lang="en-GB" dirty="0"/>
          </a:p>
        </p:txBody>
      </p:sp>
      <p:sp>
        <p:nvSpPr>
          <p:cNvPr id="21" name="Text Placeholder 20">
            <a:extLst>
              <a:ext uri="{FF2B5EF4-FFF2-40B4-BE49-F238E27FC236}">
                <a16:creationId xmlns:a16="http://schemas.microsoft.com/office/drawing/2014/main" id="{B6C6E7EB-1D8F-80D7-7825-9B0366EA4C3B}"/>
              </a:ext>
            </a:extLst>
          </p:cNvPr>
          <p:cNvSpPr>
            <a:spLocks noGrp="1"/>
          </p:cNvSpPr>
          <p:nvPr>
            <p:ph type="body" sz="quarter" idx="11"/>
          </p:nvPr>
        </p:nvSpPr>
        <p:spPr>
          <a:xfrm>
            <a:off x="5140035" y="3208122"/>
            <a:ext cx="6747165" cy="617635"/>
          </a:xfrm>
        </p:spPr>
        <p:txBody>
          <a:bodyPr/>
          <a:lstStyle/>
          <a:p>
            <a:r>
              <a:rPr lang="en-GB" sz="1600" dirty="0" err="1"/>
              <a:t>Haijiang</a:t>
            </a:r>
            <a:r>
              <a:rPr lang="en-GB" sz="1600" dirty="0"/>
              <a:t> Liu</a:t>
            </a:r>
            <a:r>
              <a:rPr lang="en-GB" sz="1600" baseline="30000" dirty="0"/>
              <a:t>1,2</a:t>
            </a:r>
            <a:r>
              <a:rPr lang="en-GB" sz="1600" dirty="0"/>
              <a:t>, </a:t>
            </a:r>
            <a:r>
              <a:rPr lang="en-GB" sz="1600" dirty="0" err="1"/>
              <a:t>Jinguang</a:t>
            </a:r>
            <a:r>
              <a:rPr lang="en-GB" sz="1600" dirty="0"/>
              <a:t> Gu</a:t>
            </a:r>
            <a:r>
              <a:rPr lang="en-GB" sz="1600" baseline="30000" dirty="0"/>
              <a:t>1</a:t>
            </a:r>
            <a:r>
              <a:rPr lang="en-GB" sz="1600" dirty="0"/>
              <a:t>, Xun Wu</a:t>
            </a:r>
            <a:r>
              <a:rPr lang="en-GB" sz="1600" baseline="30000" dirty="0"/>
              <a:t>2</a:t>
            </a:r>
            <a:r>
              <a:rPr lang="en-GB" sz="1600" dirty="0"/>
              <a:t>, Daniel Hershcovich</a:t>
            </a:r>
            <a:r>
              <a:rPr lang="en-GB" sz="1600" baseline="30000" dirty="0"/>
              <a:t>3</a:t>
            </a:r>
            <a:r>
              <a:rPr lang="en-GB" sz="1600" dirty="0"/>
              <a:t>, </a:t>
            </a:r>
            <a:r>
              <a:rPr lang="en-GB" sz="1600" dirty="0" err="1"/>
              <a:t>Qiaoling</a:t>
            </a:r>
            <a:r>
              <a:rPr lang="en-GB" sz="1600" dirty="0"/>
              <a:t> Xiao</a:t>
            </a:r>
            <a:r>
              <a:rPr lang="en-GB" sz="1600" baseline="30000" dirty="0"/>
              <a:t>4</a:t>
            </a:r>
          </a:p>
        </p:txBody>
      </p:sp>
      <p:sp>
        <p:nvSpPr>
          <p:cNvPr id="22" name="Text Placeholder 21">
            <a:extLst>
              <a:ext uri="{FF2B5EF4-FFF2-40B4-BE49-F238E27FC236}">
                <a16:creationId xmlns:a16="http://schemas.microsoft.com/office/drawing/2014/main" id="{FD73C06E-11F7-DA32-C1B9-2E03E508B22E}"/>
              </a:ext>
            </a:extLst>
          </p:cNvPr>
          <p:cNvSpPr>
            <a:spLocks noGrp="1"/>
          </p:cNvSpPr>
          <p:nvPr>
            <p:ph type="body" sz="quarter" idx="12"/>
          </p:nvPr>
        </p:nvSpPr>
        <p:spPr>
          <a:xfrm>
            <a:off x="5179063" y="3742804"/>
            <a:ext cx="6746875" cy="1571298"/>
          </a:xfrm>
        </p:spPr>
        <p:txBody>
          <a:bodyPr/>
          <a:lstStyle/>
          <a:p>
            <a:r>
              <a:rPr lang="en-GB" dirty="0"/>
              <a:t>1 School of Computer Science and Technology, Wuhan University of Science and Technology</a:t>
            </a:r>
          </a:p>
          <a:p>
            <a:r>
              <a:rPr lang="en-GB" dirty="0"/>
              <a:t>2 Innovation, Policy and Entrepreneurship Thrust, The Hong Kong University of Science and Technology (Guangzhou)</a:t>
            </a:r>
          </a:p>
          <a:p>
            <a:r>
              <a:rPr lang="en-GB" dirty="0"/>
              <a:t>3 Department of Computer Science, University of Copenhagen</a:t>
            </a:r>
          </a:p>
          <a:p>
            <a:r>
              <a:rPr lang="en-GB" dirty="0"/>
              <a:t>4 WUST-Marid Complutense Institute, Wuhan University of Science and Technology</a:t>
            </a:r>
          </a:p>
        </p:txBody>
      </p:sp>
      <p:sp>
        <p:nvSpPr>
          <p:cNvPr id="5" name="TextBox 4">
            <a:extLst>
              <a:ext uri="{FF2B5EF4-FFF2-40B4-BE49-F238E27FC236}">
                <a16:creationId xmlns:a16="http://schemas.microsoft.com/office/drawing/2014/main" id="{E67AF1AE-E9ED-8415-91A9-6A3BCABC56C4}"/>
              </a:ext>
            </a:extLst>
          </p:cNvPr>
          <p:cNvSpPr txBox="1"/>
          <p:nvPr/>
        </p:nvSpPr>
        <p:spPr>
          <a:xfrm>
            <a:off x="-10081866" y="3709136"/>
            <a:ext cx="13115058" cy="3887040"/>
          </a:xfrm>
          <a:prstGeom prst="rect">
            <a:avLst/>
          </a:prstGeom>
        </p:spPr>
        <p:txBody>
          <a:bodyPr lIns="50800" tIns="50800" rIns="50800" bIns="50800" rtlCol="0" anchor="ctr"/>
          <a:lstStyle/>
          <a:p>
            <a:pPr algn="ctr">
              <a:lnSpc>
                <a:spcPts val="2659"/>
              </a:lnSpc>
              <a:spcBef>
                <a:spcPct val="0"/>
              </a:spcBef>
            </a:pPr>
            <a:endParaRPr lang="en-GB" sz="1100" dirty="0"/>
          </a:p>
        </p:txBody>
      </p:sp>
      <p:sp>
        <p:nvSpPr>
          <p:cNvPr id="7" name="Freeform 12">
            <a:extLst>
              <a:ext uri="{FF2B5EF4-FFF2-40B4-BE49-F238E27FC236}">
                <a16:creationId xmlns:a16="http://schemas.microsoft.com/office/drawing/2014/main" id="{80E1BBA6-5FDA-FA6D-F237-A166A2A93D0F}"/>
              </a:ext>
            </a:extLst>
          </p:cNvPr>
          <p:cNvSpPr>
            <a:spLocks/>
          </p:cNvSpPr>
          <p:nvPr/>
        </p:nvSpPr>
        <p:spPr>
          <a:xfrm>
            <a:off x="4062686" y="6244216"/>
            <a:ext cx="1792174" cy="472998"/>
          </a:xfrm>
          <a:custGeom>
            <a:avLst/>
            <a:gdLst/>
            <a:ahLst/>
            <a:cxnLst/>
            <a:rect l="l" t="t" r="r" b="b"/>
            <a:pathLst>
              <a:path w="3676959" h="970439">
                <a:moveTo>
                  <a:pt x="0" y="0"/>
                </a:moveTo>
                <a:lnTo>
                  <a:pt x="3676959" y="0"/>
                </a:lnTo>
                <a:lnTo>
                  <a:pt x="3676959" y="970439"/>
                </a:lnTo>
                <a:lnTo>
                  <a:pt x="0" y="970439"/>
                </a:lnTo>
                <a:lnTo>
                  <a:pt x="0" y="0"/>
                </a:lnTo>
                <a:close/>
              </a:path>
            </a:pathLst>
          </a:custGeom>
          <a:blipFill>
            <a:blip r:embed="rId5"/>
            <a:stretch>
              <a:fillRect t="-27899" b="-27899"/>
            </a:stretch>
          </a:blipFill>
        </p:spPr>
        <p:txBody>
          <a:bodyPr/>
          <a:lstStyle/>
          <a:p>
            <a:endParaRPr lang="en-GB" sz="1100" dirty="0"/>
          </a:p>
        </p:txBody>
      </p:sp>
      <p:sp>
        <p:nvSpPr>
          <p:cNvPr id="8" name="Freeform 13">
            <a:extLst>
              <a:ext uri="{FF2B5EF4-FFF2-40B4-BE49-F238E27FC236}">
                <a16:creationId xmlns:a16="http://schemas.microsoft.com/office/drawing/2014/main" id="{5C3ECDE9-C32E-7409-C099-F81AD171F746}"/>
              </a:ext>
            </a:extLst>
          </p:cNvPr>
          <p:cNvSpPr>
            <a:spLocks/>
          </p:cNvSpPr>
          <p:nvPr/>
        </p:nvSpPr>
        <p:spPr>
          <a:xfrm>
            <a:off x="6428362" y="6248496"/>
            <a:ext cx="1482855" cy="413346"/>
          </a:xfrm>
          <a:custGeom>
            <a:avLst/>
            <a:gdLst/>
            <a:ahLst/>
            <a:cxnLst/>
            <a:rect l="l" t="t" r="r" b="b"/>
            <a:pathLst>
              <a:path w="3042339" h="848052">
                <a:moveTo>
                  <a:pt x="0" y="0"/>
                </a:moveTo>
                <a:lnTo>
                  <a:pt x="3042339" y="0"/>
                </a:lnTo>
                <a:lnTo>
                  <a:pt x="3042339" y="848052"/>
                </a:lnTo>
                <a:lnTo>
                  <a:pt x="0" y="848052"/>
                </a:lnTo>
                <a:lnTo>
                  <a:pt x="0" y="0"/>
                </a:lnTo>
                <a:close/>
              </a:path>
            </a:pathLst>
          </a:custGeom>
          <a:blipFill>
            <a:blip r:embed="rId6"/>
            <a:stretch>
              <a:fillRect/>
            </a:stretch>
          </a:blipFill>
        </p:spPr>
        <p:txBody>
          <a:bodyPr/>
          <a:lstStyle/>
          <a:p>
            <a:endParaRPr lang="en-GB" sz="1100" dirty="0"/>
          </a:p>
        </p:txBody>
      </p:sp>
      <p:sp>
        <p:nvSpPr>
          <p:cNvPr id="9" name="Freeform 15">
            <a:extLst>
              <a:ext uri="{FF2B5EF4-FFF2-40B4-BE49-F238E27FC236}">
                <a16:creationId xmlns:a16="http://schemas.microsoft.com/office/drawing/2014/main" id="{E67E1C22-0DB1-2335-13EE-27BE89B4E124}"/>
              </a:ext>
            </a:extLst>
          </p:cNvPr>
          <p:cNvSpPr>
            <a:spLocks/>
          </p:cNvSpPr>
          <p:nvPr/>
        </p:nvSpPr>
        <p:spPr>
          <a:xfrm>
            <a:off x="498474" y="6225142"/>
            <a:ext cx="3351660" cy="511344"/>
          </a:xfrm>
          <a:custGeom>
            <a:avLst/>
            <a:gdLst/>
            <a:ahLst/>
            <a:cxnLst/>
            <a:rect l="l" t="t" r="r" b="b"/>
            <a:pathLst>
              <a:path w="6716062" h="866366">
                <a:moveTo>
                  <a:pt x="0" y="0"/>
                </a:moveTo>
                <a:lnTo>
                  <a:pt x="6716062" y="0"/>
                </a:lnTo>
                <a:lnTo>
                  <a:pt x="6716062" y="866365"/>
                </a:lnTo>
                <a:lnTo>
                  <a:pt x="0" y="866365"/>
                </a:lnTo>
                <a:lnTo>
                  <a:pt x="0" y="0"/>
                </a:lnTo>
                <a:close/>
              </a:path>
            </a:pathLst>
          </a:custGeom>
          <a:blipFill>
            <a:blip r:embed="rId7"/>
            <a:stretch>
              <a:fillRect l="-4541" t="-33392" r="-3991" b="-36275"/>
            </a:stretch>
          </a:blipFill>
        </p:spPr>
        <p:txBody>
          <a:bodyPr/>
          <a:lstStyle/>
          <a:p>
            <a:endParaRPr lang="en-GB" sz="1100" dirty="0"/>
          </a:p>
        </p:txBody>
      </p:sp>
      <p:sp>
        <p:nvSpPr>
          <p:cNvPr id="11" name="TextBox 18">
            <a:extLst>
              <a:ext uri="{FF2B5EF4-FFF2-40B4-BE49-F238E27FC236}">
                <a16:creationId xmlns:a16="http://schemas.microsoft.com/office/drawing/2014/main" id="{7834E85E-C4EC-6655-DAF3-85FEB2C9A18B}"/>
              </a:ext>
            </a:extLst>
          </p:cNvPr>
          <p:cNvSpPr txBox="1">
            <a:spLocks/>
          </p:cNvSpPr>
          <p:nvPr/>
        </p:nvSpPr>
        <p:spPr>
          <a:xfrm>
            <a:off x="444306" y="5919875"/>
            <a:ext cx="1723858" cy="242118"/>
          </a:xfrm>
          <a:prstGeom prst="rect">
            <a:avLst/>
          </a:prstGeom>
        </p:spPr>
        <p:txBody>
          <a:bodyPr wrap="square" lIns="0" tIns="0" rIns="0" bIns="0" rtlCol="0" anchor="t">
            <a:spAutoFit/>
          </a:bodyPr>
          <a:lstStyle/>
          <a:p>
            <a:pPr algn="ctr">
              <a:lnSpc>
                <a:spcPts val="1960"/>
              </a:lnSpc>
              <a:spcBef>
                <a:spcPct val="0"/>
              </a:spcBef>
            </a:pPr>
            <a:r>
              <a:rPr lang="en-GB" sz="1400" dirty="0">
                <a:ea typeface="Canva Sans"/>
                <a:cs typeface="Canva Sans"/>
                <a:sym typeface="Canva Sans"/>
              </a:rPr>
              <a:t>Jointly  organised </a:t>
            </a:r>
            <a:r>
              <a:rPr lang="en-GB" sz="1100" dirty="0">
                <a:solidFill>
                  <a:srgbClr val="000000"/>
                </a:solidFill>
                <a:ea typeface="Canva Sans"/>
                <a:cs typeface="Canva Sans"/>
                <a:sym typeface="Canva Sans"/>
              </a:rPr>
              <a:t>by</a:t>
            </a:r>
          </a:p>
        </p:txBody>
      </p:sp>
      <p:sp>
        <p:nvSpPr>
          <p:cNvPr id="12" name="TextBox 19">
            <a:extLst>
              <a:ext uri="{FF2B5EF4-FFF2-40B4-BE49-F238E27FC236}">
                <a16:creationId xmlns:a16="http://schemas.microsoft.com/office/drawing/2014/main" id="{A136A3D2-5C25-B829-A888-411F370BBFF4}"/>
              </a:ext>
            </a:extLst>
          </p:cNvPr>
          <p:cNvSpPr txBox="1">
            <a:spLocks noGrp="1" noRot="1" noMove="1" noResize="1" noEditPoints="1" noAdjustHandles="1" noChangeArrowheads="1" noChangeShapeType="1"/>
          </p:cNvSpPr>
          <p:nvPr/>
        </p:nvSpPr>
        <p:spPr>
          <a:xfrm>
            <a:off x="6485237" y="5995975"/>
            <a:ext cx="1070506" cy="242118"/>
          </a:xfrm>
          <a:prstGeom prst="rect">
            <a:avLst/>
          </a:prstGeom>
        </p:spPr>
        <p:txBody>
          <a:bodyPr lIns="0" tIns="0" rIns="0" bIns="0" rtlCol="0" anchor="t">
            <a:spAutoFit/>
          </a:bodyPr>
          <a:lstStyle/>
          <a:p>
            <a:pPr algn="ctr">
              <a:lnSpc>
                <a:spcPts val="1960"/>
              </a:lnSpc>
              <a:spcBef>
                <a:spcPct val="0"/>
              </a:spcBef>
            </a:pPr>
            <a:r>
              <a:rPr lang="en-GB" sz="1400" dirty="0">
                <a:ea typeface="Canva Sans"/>
                <a:cs typeface="Canva Sans"/>
                <a:sym typeface="Canva Sans"/>
              </a:rPr>
              <a:t>Supported by</a:t>
            </a:r>
          </a:p>
        </p:txBody>
      </p:sp>
      <p:sp>
        <p:nvSpPr>
          <p:cNvPr id="20" name="TextBox 17">
            <a:extLst>
              <a:ext uri="{FF2B5EF4-FFF2-40B4-BE49-F238E27FC236}">
                <a16:creationId xmlns:a16="http://schemas.microsoft.com/office/drawing/2014/main" id="{B8236988-127E-F373-7D7B-B99E387E4B8E}"/>
              </a:ext>
            </a:extLst>
          </p:cNvPr>
          <p:cNvSpPr txBox="1">
            <a:spLocks noGrp="1" noRot="1" noMove="1" noResize="1" noEditPoints="1" noAdjustHandles="1" noChangeArrowheads="1" noChangeShapeType="1"/>
          </p:cNvSpPr>
          <p:nvPr/>
        </p:nvSpPr>
        <p:spPr>
          <a:xfrm>
            <a:off x="537321" y="198518"/>
            <a:ext cx="11180193" cy="369332"/>
          </a:xfrm>
          <a:prstGeom prst="rect">
            <a:avLst/>
          </a:prstGeom>
        </p:spPr>
        <p:txBody>
          <a:bodyPr wrap="square" lIns="0" tIns="0" rIns="0" bIns="0" rtlCol="0" anchor="t">
            <a:spAutoFit/>
          </a:bodyPr>
          <a:lstStyle/>
          <a:p>
            <a:pPr>
              <a:spcBef>
                <a:spcPct val="0"/>
              </a:spcBef>
            </a:pPr>
            <a:r>
              <a:rPr lang="en-GB" sz="2400" b="1" dirty="0">
                <a:solidFill>
                  <a:schemeClr val="accent1"/>
                </a:solidFill>
                <a:ea typeface="Big Shoulders Display Bold"/>
                <a:cs typeface="Big Shoulders Display Bold"/>
                <a:sym typeface="Big Shoulders Display Bold"/>
              </a:rPr>
              <a:t>Tencent-CGS Academic Conference - Technology for Good: Driving Social Impact</a:t>
            </a:r>
            <a:endParaRPr lang="en-GB" sz="2400" dirty="0">
              <a:solidFill>
                <a:schemeClr val="accent1"/>
              </a:solidFill>
              <a:ea typeface="Big Shoulders Display Bold"/>
              <a:cs typeface="Big Shoulders Display Bold"/>
              <a:sym typeface="Big Shoulders Display Bold"/>
            </a:endParaRPr>
          </a:p>
        </p:txBody>
      </p:sp>
      <p:sp>
        <p:nvSpPr>
          <p:cNvPr id="24" name="TextBox 23">
            <a:extLst>
              <a:ext uri="{FF2B5EF4-FFF2-40B4-BE49-F238E27FC236}">
                <a16:creationId xmlns:a16="http://schemas.microsoft.com/office/drawing/2014/main" id="{F36AC94A-926D-DB16-1E37-DC93294B2B6B}"/>
              </a:ext>
            </a:extLst>
          </p:cNvPr>
          <p:cNvSpPr txBox="1">
            <a:spLocks noGrp="1" noRot="1" noMove="1" noResize="1" noEditPoints="1" noAdjustHandles="1" noChangeArrowheads="1" noChangeShapeType="1"/>
          </p:cNvSpPr>
          <p:nvPr/>
        </p:nvSpPr>
        <p:spPr>
          <a:xfrm>
            <a:off x="422626" y="5518172"/>
            <a:ext cx="6747164" cy="338554"/>
          </a:xfrm>
          <a:prstGeom prst="rect">
            <a:avLst/>
          </a:prstGeom>
          <a:noFill/>
        </p:spPr>
        <p:txBody>
          <a:bodyPr wrap="square">
            <a:spAutoFit/>
          </a:bodyPr>
          <a:lstStyle/>
          <a:p>
            <a:pPr>
              <a:spcBef>
                <a:spcPct val="0"/>
              </a:spcBef>
            </a:pPr>
            <a:r>
              <a:rPr lang="en-GB" sz="1600" b="1" dirty="0">
                <a:solidFill>
                  <a:schemeClr val="accent1"/>
                </a:solidFill>
                <a:ea typeface="Big Shoulders Display Bold"/>
                <a:cs typeface="Big Shoulders Display Bold"/>
                <a:sym typeface="Big Shoulders Display Bold"/>
              </a:rPr>
              <a:t>19 November 2025, National University of Singapore Business School</a:t>
            </a:r>
          </a:p>
        </p:txBody>
      </p:sp>
      <p:sp>
        <p:nvSpPr>
          <p:cNvPr id="4" name="Oval 3">
            <a:extLst>
              <a:ext uri="{FF2B5EF4-FFF2-40B4-BE49-F238E27FC236}">
                <a16:creationId xmlns:a16="http://schemas.microsoft.com/office/drawing/2014/main" id="{9E54A4BA-EB7A-2727-826C-1C2C5CDAC733}"/>
              </a:ext>
            </a:extLst>
          </p:cNvPr>
          <p:cNvSpPr/>
          <p:nvPr/>
        </p:nvSpPr>
        <p:spPr>
          <a:xfrm>
            <a:off x="659786" y="1082170"/>
            <a:ext cx="3805136" cy="3805136"/>
          </a:xfrm>
          <a:prstGeom prst="ellipse">
            <a:avLst/>
          </a:prstGeom>
          <a:blipFill dpi="0" rotWithShape="1">
            <a:blip r:embed="rId8">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87289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6E53D2-BC00-099D-57F1-C2F02F08BD79}"/>
              </a:ext>
            </a:extLst>
          </p:cNvPr>
          <p:cNvSpPr>
            <a:spLocks noGrp="1"/>
          </p:cNvSpPr>
          <p:nvPr>
            <p:ph type="sldNum" sz="quarter" idx="12"/>
          </p:nvPr>
        </p:nvSpPr>
        <p:spPr/>
        <p:txBody>
          <a:bodyPr/>
          <a:lstStyle/>
          <a:p>
            <a:fld id="{BFDBEA21-829B-6241-B888-D243749283AB}" type="slidenum">
              <a:rPr lang="id-ID" smtClean="0"/>
              <a:pPr/>
              <a:t>1</a:t>
            </a:fld>
            <a:endParaRPr lang="id-ID" dirty="0"/>
          </a:p>
        </p:txBody>
      </p:sp>
      <p:sp>
        <p:nvSpPr>
          <p:cNvPr id="5" name="Slide Number Placeholder 1">
            <a:extLst>
              <a:ext uri="{FF2B5EF4-FFF2-40B4-BE49-F238E27FC236}">
                <a16:creationId xmlns:a16="http://schemas.microsoft.com/office/drawing/2014/main" id="{F1B8C4C2-9925-2572-156E-C572AF919772}"/>
              </a:ext>
            </a:extLst>
          </p:cNvPr>
          <p:cNvSpPr txBox="1">
            <a:spLocks/>
          </p:cNvSpPr>
          <p:nvPr/>
        </p:nvSpPr>
        <p:spPr>
          <a:xfrm>
            <a:off x="9033468" y="650490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DBEA21-829B-6241-B888-D243749283AB}" type="slidenum">
              <a:rPr lang="id-ID" smtClean="0"/>
              <a:pPr/>
              <a:t>1</a:t>
            </a:fld>
            <a:endParaRPr lang="id-ID" dirty="0"/>
          </a:p>
        </p:txBody>
      </p:sp>
      <p:sp>
        <p:nvSpPr>
          <p:cNvPr id="6" name="Title 2">
            <a:extLst>
              <a:ext uri="{FF2B5EF4-FFF2-40B4-BE49-F238E27FC236}">
                <a16:creationId xmlns:a16="http://schemas.microsoft.com/office/drawing/2014/main" id="{E3AF53F6-AA72-5882-8E7D-7E9DAB3C6998}"/>
              </a:ext>
            </a:extLst>
          </p:cNvPr>
          <p:cNvSpPr>
            <a:spLocks noGrp="1"/>
          </p:cNvSpPr>
          <p:nvPr>
            <p:ph type="title"/>
          </p:nvPr>
        </p:nvSpPr>
        <p:spPr>
          <a:xfrm>
            <a:off x="376142" y="346437"/>
            <a:ext cx="11361337" cy="1071789"/>
          </a:xfrm>
        </p:spPr>
        <p:txBody>
          <a:bodyPr/>
          <a:lstStyle/>
          <a:p>
            <a:pPr algn="ctr"/>
            <a:r>
              <a:rPr lang="en-CN" b="1" dirty="0"/>
              <a:t>Global Ipact: Whose Values?</a:t>
            </a:r>
            <a:br>
              <a:rPr lang="en-CN" b="1" dirty="0"/>
            </a:br>
            <a:r>
              <a:rPr lang="en-CN" sz="2800" dirty="0"/>
              <a:t>LLMs: Decision-Making &amp; Critical ALignment</a:t>
            </a:r>
            <a:endParaRPr lang="en-CN" dirty="0"/>
          </a:p>
        </p:txBody>
      </p:sp>
      <p:sp>
        <p:nvSpPr>
          <p:cNvPr id="7" name="Text 1">
            <a:extLst>
              <a:ext uri="{FF2B5EF4-FFF2-40B4-BE49-F238E27FC236}">
                <a16:creationId xmlns:a16="http://schemas.microsoft.com/office/drawing/2014/main" id="{0769710F-D8D2-D5ED-9F99-F58281B01653}"/>
              </a:ext>
            </a:extLst>
          </p:cNvPr>
          <p:cNvSpPr/>
          <p:nvPr/>
        </p:nvSpPr>
        <p:spPr>
          <a:xfrm>
            <a:off x="1338241" y="2660631"/>
            <a:ext cx="9437138" cy="609600"/>
          </a:xfrm>
          <a:prstGeom prst="rect">
            <a:avLst/>
          </a:prstGeom>
          <a:noFill/>
          <a:ln/>
        </p:spPr>
        <p:txBody>
          <a:bodyPr wrap="square" lIns="0" tIns="0" rIns="0" bIns="0" rtlCol="0" anchor="ctr"/>
          <a:lstStyle/>
          <a:p>
            <a:pPr algn="just">
              <a:lnSpc>
                <a:spcPct val="130000"/>
              </a:lnSpc>
            </a:pPr>
            <a:r>
              <a:rPr lang="en-US" sz="1600" dirty="0">
                <a:solidFill>
                  <a:srgbClr val="333333"/>
                </a:solidFill>
                <a:ea typeface="MiSans" pitchFamily="34" charset="-122"/>
                <a:cs typeface="MiSans" pitchFamily="34" charset="-120"/>
              </a:rPr>
              <a:t>As LLMs make decisions affecting billions globally, whose values do they reflect? </a:t>
            </a:r>
            <a:r>
              <a:rPr lang="en-US" sz="1600" dirty="0">
                <a:effectLst/>
              </a:rPr>
              <a:t>Our audit of 20+ models reveals deep moral instability &amp; cultural bias.</a:t>
            </a:r>
          </a:p>
        </p:txBody>
      </p:sp>
      <p:grpSp>
        <p:nvGrpSpPr>
          <p:cNvPr id="8" name="Group 7">
            <a:extLst>
              <a:ext uri="{FF2B5EF4-FFF2-40B4-BE49-F238E27FC236}">
                <a16:creationId xmlns:a16="http://schemas.microsoft.com/office/drawing/2014/main" id="{C100618E-2CBB-60F4-1751-E9D354AD057A}"/>
              </a:ext>
            </a:extLst>
          </p:cNvPr>
          <p:cNvGrpSpPr/>
          <p:nvPr/>
        </p:nvGrpSpPr>
        <p:grpSpPr>
          <a:xfrm>
            <a:off x="1256010" y="3623814"/>
            <a:ext cx="9679980" cy="1052548"/>
            <a:chOff x="812491" y="3962723"/>
            <a:chExt cx="9679980" cy="1052548"/>
          </a:xfrm>
        </p:grpSpPr>
        <p:sp>
          <p:nvSpPr>
            <p:cNvPr id="9" name="Shape 2">
              <a:extLst>
                <a:ext uri="{FF2B5EF4-FFF2-40B4-BE49-F238E27FC236}">
                  <a16:creationId xmlns:a16="http://schemas.microsoft.com/office/drawing/2014/main" id="{CE4A7A2A-7709-2927-F395-421A7C4A5F4C}"/>
                </a:ext>
              </a:extLst>
            </p:cNvPr>
            <p:cNvSpPr/>
            <p:nvPr/>
          </p:nvSpPr>
          <p:spPr>
            <a:xfrm>
              <a:off x="812491" y="3966239"/>
              <a:ext cx="402001"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87CEEB"/>
            </a:solidFill>
            <a:ln/>
          </p:spPr>
        </p:sp>
        <p:sp>
          <p:nvSpPr>
            <p:cNvPr id="10" name="Shape 3">
              <a:extLst>
                <a:ext uri="{FF2B5EF4-FFF2-40B4-BE49-F238E27FC236}">
                  <a16:creationId xmlns:a16="http://schemas.microsoft.com/office/drawing/2014/main" id="{52FDC3E1-C645-B9D3-B361-0C037733FD0F}"/>
                </a:ext>
              </a:extLst>
            </p:cNvPr>
            <p:cNvSpPr/>
            <p:nvPr/>
          </p:nvSpPr>
          <p:spPr>
            <a:xfrm>
              <a:off x="929966" y="4080539"/>
              <a:ext cx="175876" cy="177800"/>
            </a:xfrm>
            <a:custGeom>
              <a:avLst/>
              <a:gdLst/>
              <a:ahLst/>
              <a:cxnLst/>
              <a:rect l="l" t="t" r="r" b="b"/>
              <a:pathLst>
                <a:path w="177800" h="177800">
                  <a:moveTo>
                    <a:pt x="88900" y="0"/>
                  </a:moveTo>
                  <a:cubicBezTo>
                    <a:pt x="94005" y="0"/>
                    <a:pt x="98693" y="2813"/>
                    <a:pt x="101124" y="7293"/>
                  </a:cubicBezTo>
                  <a:lnTo>
                    <a:pt x="176133" y="146199"/>
                  </a:lnTo>
                  <a:cubicBezTo>
                    <a:pt x="178460" y="150505"/>
                    <a:pt x="178356" y="155714"/>
                    <a:pt x="175855" y="159916"/>
                  </a:cubicBezTo>
                  <a:cubicBezTo>
                    <a:pt x="173355" y="164118"/>
                    <a:pt x="168806" y="166688"/>
                    <a:pt x="163909" y="166688"/>
                  </a:cubicBezTo>
                  <a:lnTo>
                    <a:pt x="13891" y="166688"/>
                  </a:lnTo>
                  <a:cubicBezTo>
                    <a:pt x="8994" y="166688"/>
                    <a:pt x="4480" y="164118"/>
                    <a:pt x="1945" y="159916"/>
                  </a:cubicBezTo>
                  <a:cubicBezTo>
                    <a:pt x="-590" y="155714"/>
                    <a:pt x="-660" y="150505"/>
                    <a:pt x="1667" y="146199"/>
                  </a:cubicBezTo>
                  <a:lnTo>
                    <a:pt x="76676" y="7293"/>
                  </a:lnTo>
                  <a:cubicBezTo>
                    <a:pt x="79107" y="2813"/>
                    <a:pt x="83795" y="0"/>
                    <a:pt x="88900" y="0"/>
                  </a:cubicBezTo>
                  <a:close/>
                  <a:moveTo>
                    <a:pt x="88900" y="58341"/>
                  </a:moveTo>
                  <a:cubicBezTo>
                    <a:pt x="84281" y="58341"/>
                    <a:pt x="80566" y="62056"/>
                    <a:pt x="80566" y="66675"/>
                  </a:cubicBezTo>
                  <a:lnTo>
                    <a:pt x="80566" y="105569"/>
                  </a:lnTo>
                  <a:cubicBezTo>
                    <a:pt x="80566" y="110187"/>
                    <a:pt x="84281" y="113903"/>
                    <a:pt x="88900" y="113903"/>
                  </a:cubicBezTo>
                  <a:cubicBezTo>
                    <a:pt x="93519" y="113903"/>
                    <a:pt x="97234" y="110187"/>
                    <a:pt x="97234" y="105569"/>
                  </a:cubicBezTo>
                  <a:lnTo>
                    <a:pt x="97234" y="66675"/>
                  </a:lnTo>
                  <a:cubicBezTo>
                    <a:pt x="97234" y="62056"/>
                    <a:pt x="93519" y="58341"/>
                    <a:pt x="88900" y="58341"/>
                  </a:cubicBezTo>
                  <a:close/>
                  <a:moveTo>
                    <a:pt x="98172" y="133350"/>
                  </a:moveTo>
                  <a:cubicBezTo>
                    <a:pt x="98383" y="129908"/>
                    <a:pt x="96667" y="126634"/>
                    <a:pt x="93716" y="124849"/>
                  </a:cubicBezTo>
                  <a:cubicBezTo>
                    <a:pt x="90766" y="123065"/>
                    <a:pt x="87069" y="123065"/>
                    <a:pt x="84119" y="124849"/>
                  </a:cubicBezTo>
                  <a:cubicBezTo>
                    <a:pt x="81168" y="126634"/>
                    <a:pt x="79452" y="129908"/>
                    <a:pt x="79663" y="133350"/>
                  </a:cubicBezTo>
                  <a:cubicBezTo>
                    <a:pt x="79452" y="136792"/>
                    <a:pt x="81168" y="140066"/>
                    <a:pt x="84119" y="141851"/>
                  </a:cubicBezTo>
                  <a:cubicBezTo>
                    <a:pt x="87069" y="143635"/>
                    <a:pt x="90766" y="143635"/>
                    <a:pt x="93716" y="141851"/>
                  </a:cubicBezTo>
                  <a:cubicBezTo>
                    <a:pt x="96667" y="140066"/>
                    <a:pt x="98383" y="136792"/>
                    <a:pt x="98172" y="133350"/>
                  </a:cubicBezTo>
                  <a:close/>
                </a:path>
              </a:pathLst>
            </a:custGeom>
            <a:solidFill>
              <a:srgbClr val="FFFFFF"/>
            </a:solidFill>
            <a:ln/>
          </p:spPr>
        </p:sp>
        <p:sp>
          <p:nvSpPr>
            <p:cNvPr id="11" name="Text 4">
              <a:extLst>
                <a:ext uri="{FF2B5EF4-FFF2-40B4-BE49-F238E27FC236}">
                  <a16:creationId xmlns:a16="http://schemas.microsoft.com/office/drawing/2014/main" id="{58DC14FE-CF8E-3F15-424B-4E9FD4A0BB7F}"/>
                </a:ext>
              </a:extLst>
            </p:cNvPr>
            <p:cNvSpPr/>
            <p:nvPr/>
          </p:nvSpPr>
          <p:spPr>
            <a:xfrm>
              <a:off x="1371291" y="3966239"/>
              <a:ext cx="5653142" cy="304800"/>
            </a:xfrm>
            <a:prstGeom prst="rect">
              <a:avLst/>
            </a:prstGeom>
            <a:noFill/>
            <a:ln/>
          </p:spPr>
          <p:txBody>
            <a:bodyPr wrap="square" lIns="0" tIns="0" rIns="0" bIns="0" rtlCol="0" anchor="ctr"/>
            <a:lstStyle/>
            <a:p>
              <a:pPr>
                <a:lnSpc>
                  <a:spcPct val="130000"/>
                </a:lnSpc>
              </a:pPr>
              <a:r>
                <a:rPr lang="en-US" sz="1600" b="1" dirty="0">
                  <a:solidFill>
                    <a:srgbClr val="4A90E2"/>
                  </a:solidFill>
                  <a:ea typeface="MiSans" pitchFamily="34" charset="-122"/>
                  <a:cs typeface="MiSans" pitchFamily="34" charset="-120"/>
                </a:rPr>
                <a:t>Core Problem</a:t>
              </a:r>
              <a:endParaRPr lang="en-US" sz="1600" dirty="0"/>
            </a:p>
          </p:txBody>
        </p:sp>
        <p:sp>
          <p:nvSpPr>
            <p:cNvPr id="12" name="Text 5">
              <a:extLst>
                <a:ext uri="{FF2B5EF4-FFF2-40B4-BE49-F238E27FC236}">
                  <a16:creationId xmlns:a16="http://schemas.microsoft.com/office/drawing/2014/main" id="{B7B408FF-1227-629F-F36D-C4F411B0F573}"/>
                </a:ext>
              </a:extLst>
            </p:cNvPr>
            <p:cNvSpPr/>
            <p:nvPr/>
          </p:nvSpPr>
          <p:spPr>
            <a:xfrm>
              <a:off x="1371291" y="4271038"/>
              <a:ext cx="2673109" cy="744233"/>
            </a:xfrm>
            <a:prstGeom prst="rect">
              <a:avLst/>
            </a:prstGeom>
            <a:noFill/>
            <a:ln/>
          </p:spPr>
          <p:txBody>
            <a:bodyPr wrap="square" lIns="0" tIns="0" rIns="0" bIns="0" rtlCol="0" anchor="ctr"/>
            <a:lstStyle/>
            <a:p>
              <a:pPr>
                <a:lnSpc>
                  <a:spcPct val="120000"/>
                </a:lnSpc>
              </a:pPr>
              <a:r>
                <a:rPr lang="en-CN" sz="1600" dirty="0">
                  <a:effectLst/>
                </a:rPr>
                <a:t>⚠️ </a:t>
              </a:r>
              <a:r>
                <a:rPr lang="en-US" sz="1600" dirty="0">
                  <a:solidFill>
                    <a:srgbClr val="333333"/>
                  </a:solidFill>
                  <a:ea typeface="MiSans" pitchFamily="34" charset="-122"/>
                  <a:cs typeface="MiSans" pitchFamily="34" charset="-120"/>
                </a:rPr>
                <a:t>Unstable moral reasoning. </a:t>
              </a:r>
              <a:r>
                <a:rPr lang="en-CN" sz="1600" dirty="0">
                  <a:effectLst/>
                </a:rPr>
                <a:t>⚠️</a:t>
              </a:r>
              <a:r>
                <a:rPr lang="en-US" sz="1600" dirty="0">
                  <a:effectLst/>
                </a:rPr>
                <a:t> Deep cultural biases.</a:t>
              </a:r>
              <a:endParaRPr lang="en-CN" sz="1600" dirty="0">
                <a:effectLst/>
              </a:endParaRPr>
            </a:p>
          </p:txBody>
        </p:sp>
        <p:sp>
          <p:nvSpPr>
            <p:cNvPr id="13" name="Shape 6">
              <a:extLst>
                <a:ext uri="{FF2B5EF4-FFF2-40B4-BE49-F238E27FC236}">
                  <a16:creationId xmlns:a16="http://schemas.microsoft.com/office/drawing/2014/main" id="{A8809426-15BA-01FC-3EFE-A4D6A5135C9E}"/>
                </a:ext>
              </a:extLst>
            </p:cNvPr>
            <p:cNvSpPr/>
            <p:nvPr/>
          </p:nvSpPr>
          <p:spPr>
            <a:xfrm>
              <a:off x="4544342" y="3962723"/>
              <a:ext cx="402001"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7B68EE"/>
            </a:solidFill>
            <a:ln/>
          </p:spPr>
        </p:sp>
        <p:sp>
          <p:nvSpPr>
            <p:cNvPr id="14" name="Shape 7">
              <a:extLst>
                <a:ext uri="{FF2B5EF4-FFF2-40B4-BE49-F238E27FC236}">
                  <a16:creationId xmlns:a16="http://schemas.microsoft.com/office/drawing/2014/main" id="{750F3B17-FDB0-E903-9A65-7FD3D3F1273F}"/>
                </a:ext>
              </a:extLst>
            </p:cNvPr>
            <p:cNvSpPr/>
            <p:nvPr/>
          </p:nvSpPr>
          <p:spPr>
            <a:xfrm>
              <a:off x="4661817" y="4077023"/>
              <a:ext cx="175876" cy="177800"/>
            </a:xfrm>
            <a:custGeom>
              <a:avLst/>
              <a:gdLst/>
              <a:ahLst/>
              <a:cxnLst/>
              <a:rect l="l" t="t" r="r" b="b"/>
              <a:pathLst>
                <a:path w="177800" h="177800">
                  <a:moveTo>
                    <a:pt x="155575" y="88900"/>
                  </a:moveTo>
                  <a:cubicBezTo>
                    <a:pt x="155575" y="52101"/>
                    <a:pt x="125699" y="22225"/>
                    <a:pt x="88900" y="22225"/>
                  </a:cubicBezTo>
                  <a:cubicBezTo>
                    <a:pt x="52101" y="22225"/>
                    <a:pt x="22225" y="52101"/>
                    <a:pt x="22225" y="88900"/>
                  </a:cubicBezTo>
                  <a:cubicBezTo>
                    <a:pt x="22225" y="125699"/>
                    <a:pt x="52101" y="155575"/>
                    <a:pt x="88900" y="155575"/>
                  </a:cubicBezTo>
                  <a:cubicBezTo>
                    <a:pt x="125699" y="155575"/>
                    <a:pt x="155575" y="125699"/>
                    <a:pt x="155575" y="88900"/>
                  </a:cubicBezTo>
                  <a:close/>
                  <a:moveTo>
                    <a:pt x="0" y="88900"/>
                  </a:moveTo>
                  <a:cubicBezTo>
                    <a:pt x="0" y="39835"/>
                    <a:pt x="39835" y="0"/>
                    <a:pt x="88900" y="0"/>
                  </a:cubicBezTo>
                  <a:cubicBezTo>
                    <a:pt x="137965" y="0"/>
                    <a:pt x="177800" y="39835"/>
                    <a:pt x="177800" y="88900"/>
                  </a:cubicBezTo>
                  <a:cubicBezTo>
                    <a:pt x="177800" y="137965"/>
                    <a:pt x="137965" y="177800"/>
                    <a:pt x="88900" y="177800"/>
                  </a:cubicBezTo>
                  <a:cubicBezTo>
                    <a:pt x="39835" y="177800"/>
                    <a:pt x="0" y="137965"/>
                    <a:pt x="0" y="88900"/>
                  </a:cubicBezTo>
                  <a:close/>
                  <a:moveTo>
                    <a:pt x="88900" y="116681"/>
                  </a:moveTo>
                  <a:cubicBezTo>
                    <a:pt x="104233" y="116681"/>
                    <a:pt x="116681" y="104233"/>
                    <a:pt x="116681" y="88900"/>
                  </a:cubicBezTo>
                  <a:cubicBezTo>
                    <a:pt x="116681" y="73567"/>
                    <a:pt x="104233" y="61119"/>
                    <a:pt x="88900" y="61119"/>
                  </a:cubicBezTo>
                  <a:cubicBezTo>
                    <a:pt x="73567" y="61119"/>
                    <a:pt x="61119" y="73567"/>
                    <a:pt x="61119" y="88900"/>
                  </a:cubicBezTo>
                  <a:cubicBezTo>
                    <a:pt x="61119" y="104233"/>
                    <a:pt x="73567" y="116681"/>
                    <a:pt x="88900" y="116681"/>
                  </a:cubicBezTo>
                  <a:close/>
                  <a:moveTo>
                    <a:pt x="88900" y="38894"/>
                  </a:moveTo>
                  <a:cubicBezTo>
                    <a:pt x="116499" y="38894"/>
                    <a:pt x="138906" y="61301"/>
                    <a:pt x="138906" y="88900"/>
                  </a:cubicBezTo>
                  <a:cubicBezTo>
                    <a:pt x="138906" y="116499"/>
                    <a:pt x="116499" y="138906"/>
                    <a:pt x="88900" y="138906"/>
                  </a:cubicBezTo>
                  <a:cubicBezTo>
                    <a:pt x="61301" y="138906"/>
                    <a:pt x="38894" y="116499"/>
                    <a:pt x="38894" y="88900"/>
                  </a:cubicBezTo>
                  <a:cubicBezTo>
                    <a:pt x="38894" y="61301"/>
                    <a:pt x="61301" y="38894"/>
                    <a:pt x="88900" y="38894"/>
                  </a:cubicBezTo>
                  <a:close/>
                  <a:moveTo>
                    <a:pt x="77788" y="88900"/>
                  </a:moveTo>
                  <a:cubicBezTo>
                    <a:pt x="77788" y="82767"/>
                    <a:pt x="82767" y="77788"/>
                    <a:pt x="88900" y="77788"/>
                  </a:cubicBezTo>
                  <a:cubicBezTo>
                    <a:pt x="95033" y="77788"/>
                    <a:pt x="100013" y="82767"/>
                    <a:pt x="100013" y="88900"/>
                  </a:cubicBezTo>
                  <a:cubicBezTo>
                    <a:pt x="100013" y="95033"/>
                    <a:pt x="95033" y="100013"/>
                    <a:pt x="88900" y="100013"/>
                  </a:cubicBezTo>
                  <a:cubicBezTo>
                    <a:pt x="82767" y="100013"/>
                    <a:pt x="77788" y="95033"/>
                    <a:pt x="77788" y="88900"/>
                  </a:cubicBezTo>
                  <a:close/>
                </a:path>
              </a:pathLst>
            </a:custGeom>
            <a:solidFill>
              <a:srgbClr val="FFFFFF"/>
            </a:solidFill>
            <a:ln/>
          </p:spPr>
        </p:sp>
        <p:sp>
          <p:nvSpPr>
            <p:cNvPr id="15" name="Text 8">
              <a:extLst>
                <a:ext uri="{FF2B5EF4-FFF2-40B4-BE49-F238E27FC236}">
                  <a16:creationId xmlns:a16="http://schemas.microsoft.com/office/drawing/2014/main" id="{28DE951E-C844-18DF-B364-409E02341F34}"/>
                </a:ext>
              </a:extLst>
            </p:cNvPr>
            <p:cNvSpPr/>
            <p:nvPr/>
          </p:nvSpPr>
          <p:spPr>
            <a:xfrm>
              <a:off x="5103142" y="3962723"/>
              <a:ext cx="5389329" cy="304800"/>
            </a:xfrm>
            <a:prstGeom prst="rect">
              <a:avLst/>
            </a:prstGeom>
            <a:noFill/>
            <a:ln/>
          </p:spPr>
          <p:txBody>
            <a:bodyPr wrap="square" lIns="0" tIns="0" rIns="0" bIns="0" rtlCol="0" anchor="ctr"/>
            <a:lstStyle/>
            <a:p>
              <a:pPr>
                <a:lnSpc>
                  <a:spcPct val="130000"/>
                </a:lnSpc>
              </a:pPr>
              <a:r>
                <a:rPr lang="en-US" sz="1600" b="1" dirty="0">
                  <a:solidFill>
                    <a:srgbClr val="4A90E2"/>
                  </a:solidFill>
                  <a:ea typeface="MiSans" pitchFamily="34" charset="-122"/>
                  <a:cs typeface="MiSans" pitchFamily="34" charset="-120"/>
                </a:rPr>
                <a:t>Our Mission</a:t>
              </a:r>
              <a:endParaRPr lang="en-US" sz="1600" dirty="0"/>
            </a:p>
          </p:txBody>
        </p:sp>
        <p:sp>
          <p:nvSpPr>
            <p:cNvPr id="16" name="Text 9">
              <a:extLst>
                <a:ext uri="{FF2B5EF4-FFF2-40B4-BE49-F238E27FC236}">
                  <a16:creationId xmlns:a16="http://schemas.microsoft.com/office/drawing/2014/main" id="{04F85C94-9B68-A413-2797-EF01564BFDC8}"/>
                </a:ext>
              </a:extLst>
            </p:cNvPr>
            <p:cNvSpPr/>
            <p:nvPr/>
          </p:nvSpPr>
          <p:spPr>
            <a:xfrm>
              <a:off x="5103142" y="4267522"/>
              <a:ext cx="5376766" cy="655351"/>
            </a:xfrm>
            <a:prstGeom prst="rect">
              <a:avLst/>
            </a:prstGeom>
            <a:noFill/>
            <a:ln/>
          </p:spPr>
          <p:txBody>
            <a:bodyPr wrap="square" lIns="0" tIns="0" rIns="0" bIns="0" rtlCol="0" anchor="ctr"/>
            <a:lstStyle/>
            <a:p>
              <a:pPr>
                <a:lnSpc>
                  <a:spcPct val="120000"/>
                </a:lnSpc>
              </a:pPr>
              <a:r>
                <a:rPr lang="en-CN" sz="1600" dirty="0">
                  <a:effectLst/>
                </a:rPr>
                <a:t>🔍 </a:t>
              </a:r>
              <a:r>
                <a:rPr lang="en-US" sz="1600" dirty="0">
                  <a:solidFill>
                    <a:srgbClr val="333333"/>
                  </a:solidFill>
                  <a:ea typeface="MiSans" pitchFamily="34" charset="-122"/>
                  <a:cs typeface="MiSans" pitchFamily="34" charset="-120"/>
                </a:rPr>
                <a:t>A systematic audit of </a:t>
              </a:r>
              <a:r>
                <a:rPr lang="en-US" sz="1600" dirty="0">
                  <a:solidFill>
                    <a:srgbClr val="333333"/>
                  </a:solidFill>
                  <a:highlight>
                    <a:srgbClr val="87CEEB">
                      <a:alpha val="100000"/>
                    </a:srgbClr>
                  </a:highlight>
                  <a:ea typeface="MiSans" pitchFamily="34" charset="-122"/>
                  <a:cs typeface="MiSans" pitchFamily="34" charset="-120"/>
                </a:rPr>
                <a:t>20+ models </a:t>
              </a:r>
              <a:r>
                <a:rPr lang="en-US" sz="1600" dirty="0">
                  <a:solidFill>
                    <a:srgbClr val="333333"/>
                  </a:solidFill>
                  <a:ea typeface="MiSans" pitchFamily="34" charset="-122"/>
                  <a:cs typeface="MiSans" pitchFamily="34" charset="-120"/>
                </a:rPr>
                <a:t>China &lt;-&gt; Western.</a:t>
              </a:r>
            </a:p>
            <a:p>
              <a:pPr>
                <a:lnSpc>
                  <a:spcPct val="120000"/>
                </a:lnSpc>
              </a:pPr>
              <a:r>
                <a:rPr lang="en-US" sz="1600" dirty="0">
                  <a:solidFill>
                    <a:srgbClr val="333333"/>
                  </a:solidFill>
                  <a:ea typeface="MiSans" pitchFamily="34" charset="-122"/>
                  <a:cs typeface="MiSans" pitchFamily="34" charset="-120"/>
                </a:rPr>
                <a:t>-&gt; </a:t>
              </a:r>
              <a:r>
                <a:rPr lang="en-US" sz="1600" dirty="0">
                  <a:effectLst/>
                </a:rPr>
                <a:t>Actionable governance protocols</a:t>
              </a:r>
            </a:p>
          </p:txBody>
        </p:sp>
      </p:grpSp>
      <p:pic>
        <p:nvPicPr>
          <p:cNvPr id="17" name="Picture 16" descr="A doctor talking to a patient&#10;&#10;Description automatically generated">
            <a:extLst>
              <a:ext uri="{FF2B5EF4-FFF2-40B4-BE49-F238E27FC236}">
                <a16:creationId xmlns:a16="http://schemas.microsoft.com/office/drawing/2014/main" id="{997DE280-3490-6ECD-5511-45F6F0A4DC29}"/>
              </a:ext>
            </a:extLst>
          </p:cNvPr>
          <p:cNvPicPr>
            <a:picLocks noChangeAspect="1"/>
          </p:cNvPicPr>
          <p:nvPr/>
        </p:nvPicPr>
        <p:blipFill>
          <a:blip r:embed="rId3"/>
          <a:stretch>
            <a:fillRect/>
          </a:stretch>
        </p:blipFill>
        <p:spPr>
          <a:xfrm>
            <a:off x="-6647" y="4906003"/>
            <a:ext cx="3157433" cy="2368076"/>
          </a:xfrm>
          <a:prstGeom prst="rect">
            <a:avLst/>
          </a:prstGeom>
        </p:spPr>
      </p:pic>
      <p:pic>
        <p:nvPicPr>
          <p:cNvPr id="18" name="Picture 14" descr="OpenAI人工智能标志logo图片-诗宸标志设计">
            <a:extLst>
              <a:ext uri="{FF2B5EF4-FFF2-40B4-BE49-F238E27FC236}">
                <a16:creationId xmlns:a16="http://schemas.microsoft.com/office/drawing/2014/main" id="{0A6B6536-CC6D-68F3-DE07-FE422721BE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74" t="32831" r="17386" b="33010"/>
          <a:stretch/>
        </p:blipFill>
        <p:spPr bwMode="auto">
          <a:xfrm>
            <a:off x="376142" y="1806163"/>
            <a:ext cx="1807667" cy="64683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6" descr="Claude Logo PNG With Transparent Background">
            <a:extLst>
              <a:ext uri="{FF2B5EF4-FFF2-40B4-BE49-F238E27FC236}">
                <a16:creationId xmlns:a16="http://schemas.microsoft.com/office/drawing/2014/main" id="{6774505D-D8B9-7F27-95DE-3B517A94214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17" t="34109" r="-337" b="32558"/>
          <a:stretch/>
        </p:blipFill>
        <p:spPr bwMode="auto">
          <a:xfrm>
            <a:off x="2329064" y="1823059"/>
            <a:ext cx="1715336" cy="56807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8" descr="Ke Zhu @ LAMDA, NJU-CS">
            <a:extLst>
              <a:ext uri="{FF2B5EF4-FFF2-40B4-BE49-F238E27FC236}">
                <a16:creationId xmlns:a16="http://schemas.microsoft.com/office/drawing/2014/main" id="{9934D195-B9AF-69C0-4B94-5B333D7512F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7862" b="7748"/>
          <a:stretch/>
        </p:blipFill>
        <p:spPr bwMode="auto">
          <a:xfrm>
            <a:off x="7318132" y="1740164"/>
            <a:ext cx="1715336" cy="64683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DeepSeek官网 - 专注于研究世界领先的通用人工智能底层模型与技术，挑战人工智能前沿性难题 | 元宇宙官网">
            <a:extLst>
              <a:ext uri="{FF2B5EF4-FFF2-40B4-BE49-F238E27FC236}">
                <a16:creationId xmlns:a16="http://schemas.microsoft.com/office/drawing/2014/main" id="{EA85F016-160F-D227-1CAD-26E775B8453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482" t="27219" r="1977" b="24484"/>
          <a:stretch/>
        </p:blipFill>
        <p:spPr bwMode="auto">
          <a:xfrm>
            <a:off x="9144450" y="1740164"/>
            <a:ext cx="2521236" cy="686986"/>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2" descr="消息称 Meta 将发布商用版 LLaMA 大模型 - 数码前沿 数码之家">
            <a:extLst>
              <a:ext uri="{FF2B5EF4-FFF2-40B4-BE49-F238E27FC236}">
                <a16:creationId xmlns:a16="http://schemas.microsoft.com/office/drawing/2014/main" id="{EEB6A663-8C16-A469-F1D6-0A365BD17C0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0811" t="20681" r="21883" b="16762"/>
          <a:stretch/>
        </p:blipFill>
        <p:spPr bwMode="auto">
          <a:xfrm>
            <a:off x="4254879" y="1778851"/>
            <a:ext cx="716673" cy="61395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6" descr="Kimi Logo 免费下载 SVG, PNG, 矢量图标 · LobeHub">
            <a:extLst>
              <a:ext uri="{FF2B5EF4-FFF2-40B4-BE49-F238E27FC236}">
                <a16:creationId xmlns:a16="http://schemas.microsoft.com/office/drawing/2014/main" id="{26139B1D-497A-861E-738B-215E23FFC6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72211" y="1830317"/>
            <a:ext cx="500666" cy="50066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8" descr="Chinese Zhipu AI Secures $400M Aims to Compete with OpenAI">
            <a:extLst>
              <a:ext uri="{FF2B5EF4-FFF2-40B4-BE49-F238E27FC236}">
                <a16:creationId xmlns:a16="http://schemas.microsoft.com/office/drawing/2014/main" id="{BEE0523E-5344-CFD8-B770-997065A8BF53}"/>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6540" t="34423" r="55464" b="33080"/>
          <a:stretch/>
        </p:blipFill>
        <p:spPr bwMode="auto">
          <a:xfrm>
            <a:off x="5893783" y="1808011"/>
            <a:ext cx="566497" cy="57540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0" descr="Mistral Logo Free Download SVG, PNG ... · LobeHub">
            <a:extLst>
              <a:ext uri="{FF2B5EF4-FFF2-40B4-BE49-F238E27FC236}">
                <a16:creationId xmlns:a16="http://schemas.microsoft.com/office/drawing/2014/main" id="{1FE7C423-E642-5955-D41C-1F1F9FB80AD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3142" y="1759524"/>
            <a:ext cx="646838" cy="64683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A doctor looking at a computer screen&#10;&#10;Description automatically generated">
            <a:extLst>
              <a:ext uri="{FF2B5EF4-FFF2-40B4-BE49-F238E27FC236}">
                <a16:creationId xmlns:a16="http://schemas.microsoft.com/office/drawing/2014/main" id="{1EFCC806-ED2E-2F10-028F-F67F5F26B2B4}"/>
              </a:ext>
            </a:extLst>
          </p:cNvPr>
          <p:cNvPicPr>
            <a:picLocks noChangeAspect="1"/>
          </p:cNvPicPr>
          <p:nvPr/>
        </p:nvPicPr>
        <p:blipFill>
          <a:blip r:embed="rId12"/>
          <a:stretch>
            <a:fillRect/>
          </a:stretch>
        </p:blipFill>
        <p:spPr>
          <a:xfrm>
            <a:off x="2991293" y="4906003"/>
            <a:ext cx="3157433" cy="2368076"/>
          </a:xfrm>
          <a:prstGeom prst="rect">
            <a:avLst/>
          </a:prstGeom>
        </p:spPr>
      </p:pic>
      <p:pic>
        <p:nvPicPr>
          <p:cNvPr id="27" name="Picture 26" descr="A person sitting at a desk with multiple computer screens&#10;&#10;Description automatically generated">
            <a:extLst>
              <a:ext uri="{FF2B5EF4-FFF2-40B4-BE49-F238E27FC236}">
                <a16:creationId xmlns:a16="http://schemas.microsoft.com/office/drawing/2014/main" id="{36022A11-072D-1910-E574-28936F905D95}"/>
              </a:ext>
            </a:extLst>
          </p:cNvPr>
          <p:cNvPicPr>
            <a:picLocks noChangeAspect="1"/>
          </p:cNvPicPr>
          <p:nvPr/>
        </p:nvPicPr>
        <p:blipFill>
          <a:blip r:embed="rId13"/>
          <a:stretch>
            <a:fillRect/>
          </a:stretch>
        </p:blipFill>
        <p:spPr>
          <a:xfrm>
            <a:off x="6021131" y="4904166"/>
            <a:ext cx="3157433" cy="2368076"/>
          </a:xfrm>
          <a:prstGeom prst="rect">
            <a:avLst/>
          </a:prstGeom>
        </p:spPr>
      </p:pic>
      <p:pic>
        <p:nvPicPr>
          <p:cNvPr id="28" name="Picture 27" descr="A person showing a computer to a person&#10;&#10;Description automatically generated">
            <a:extLst>
              <a:ext uri="{FF2B5EF4-FFF2-40B4-BE49-F238E27FC236}">
                <a16:creationId xmlns:a16="http://schemas.microsoft.com/office/drawing/2014/main" id="{44FBE31E-D1AE-9009-AA7B-9E8AC6EF7EDF}"/>
              </a:ext>
            </a:extLst>
          </p:cNvPr>
          <p:cNvPicPr>
            <a:picLocks noChangeAspect="1"/>
          </p:cNvPicPr>
          <p:nvPr/>
        </p:nvPicPr>
        <p:blipFill>
          <a:blip r:embed="rId14"/>
          <a:stretch>
            <a:fillRect/>
          </a:stretch>
        </p:blipFill>
        <p:spPr>
          <a:xfrm>
            <a:off x="9033468" y="4904166"/>
            <a:ext cx="3157433" cy="2368076"/>
          </a:xfrm>
          <a:prstGeom prst="rect">
            <a:avLst/>
          </a:prstGeom>
        </p:spPr>
      </p:pic>
    </p:spTree>
    <p:extLst>
      <p:ext uri="{BB962C8B-B14F-4D97-AF65-F5344CB8AC3E}">
        <p14:creationId xmlns:p14="http://schemas.microsoft.com/office/powerpoint/2010/main" val="2470865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ADEC6B-55CC-39A7-3162-6729D4E9918B}"/>
              </a:ext>
            </a:extLst>
          </p:cNvPr>
          <p:cNvSpPr>
            <a:spLocks noGrp="1"/>
          </p:cNvSpPr>
          <p:nvPr>
            <p:ph type="sldNum" sz="quarter" idx="12"/>
          </p:nvPr>
        </p:nvSpPr>
        <p:spPr/>
        <p:txBody>
          <a:bodyPr/>
          <a:lstStyle/>
          <a:p>
            <a:fld id="{BFDBEA21-829B-6241-B888-D243749283AB}" type="slidenum">
              <a:rPr lang="id-ID" smtClean="0"/>
              <a:pPr/>
              <a:t>2</a:t>
            </a:fld>
            <a:endParaRPr lang="id-ID" dirty="0"/>
          </a:p>
        </p:txBody>
      </p:sp>
      <p:sp>
        <p:nvSpPr>
          <p:cNvPr id="4" name="Title 3">
            <a:extLst>
              <a:ext uri="{FF2B5EF4-FFF2-40B4-BE49-F238E27FC236}">
                <a16:creationId xmlns:a16="http://schemas.microsoft.com/office/drawing/2014/main" id="{3614F4A0-F449-AAAE-750E-4905FB3B3E06}"/>
              </a:ext>
            </a:extLst>
          </p:cNvPr>
          <p:cNvSpPr>
            <a:spLocks noGrp="1"/>
          </p:cNvSpPr>
          <p:nvPr>
            <p:ph type="title"/>
          </p:nvPr>
        </p:nvSpPr>
        <p:spPr/>
        <p:txBody>
          <a:bodyPr/>
          <a:lstStyle/>
          <a:p>
            <a:pPr lvl="0" algn="ctr"/>
            <a:r>
              <a:rPr lang="en-US" b="1" dirty="0"/>
              <a:t>Four-Layer Evaluation Framework</a:t>
            </a:r>
            <a:br>
              <a:rPr lang="en-US" dirty="0"/>
            </a:br>
            <a:r>
              <a:rPr lang="en-US" sz="1800" dirty="0"/>
              <a:t>The first comprehensive platform assessing LLMs across stability, fidelity, and interpretability.</a:t>
            </a:r>
            <a:endParaRPr lang="en-CN" dirty="0"/>
          </a:p>
        </p:txBody>
      </p:sp>
      <p:pic>
        <p:nvPicPr>
          <p:cNvPr id="6" name="Picture 5" descr="A diagram of a research&#10;&#10;Description automatically generated">
            <a:extLst>
              <a:ext uri="{FF2B5EF4-FFF2-40B4-BE49-F238E27FC236}">
                <a16:creationId xmlns:a16="http://schemas.microsoft.com/office/drawing/2014/main" id="{FB845A25-63CD-C0D5-6F7D-74CA2FFAD1EC}"/>
              </a:ext>
            </a:extLst>
          </p:cNvPr>
          <p:cNvPicPr>
            <a:picLocks noChangeAspect="1"/>
          </p:cNvPicPr>
          <p:nvPr/>
        </p:nvPicPr>
        <p:blipFill>
          <a:blip r:embed="rId3"/>
          <a:stretch>
            <a:fillRect/>
          </a:stretch>
        </p:blipFill>
        <p:spPr>
          <a:xfrm>
            <a:off x="376142" y="1873378"/>
            <a:ext cx="8296000" cy="4070224"/>
          </a:xfrm>
          <a:prstGeom prst="rect">
            <a:avLst/>
          </a:prstGeom>
        </p:spPr>
      </p:pic>
      <p:graphicFrame>
        <p:nvGraphicFramePr>
          <p:cNvPr id="10" name="Diagram 9">
            <a:extLst>
              <a:ext uri="{FF2B5EF4-FFF2-40B4-BE49-F238E27FC236}">
                <a16:creationId xmlns:a16="http://schemas.microsoft.com/office/drawing/2014/main" id="{72FA143C-199B-CB6E-C51B-B9DF6784E0C4}"/>
              </a:ext>
            </a:extLst>
          </p:cNvPr>
          <p:cNvGraphicFramePr/>
          <p:nvPr>
            <p:extLst>
              <p:ext uri="{D42A27DB-BD31-4B8C-83A1-F6EECF244321}">
                <p14:modId xmlns:p14="http://schemas.microsoft.com/office/powerpoint/2010/main" val="4168227806"/>
              </p:ext>
            </p:extLst>
          </p:nvPr>
        </p:nvGraphicFramePr>
        <p:xfrm>
          <a:off x="8431619" y="1648047"/>
          <a:ext cx="3305860" cy="42955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Rectangle 2">
            <a:extLst>
              <a:ext uri="{FF2B5EF4-FFF2-40B4-BE49-F238E27FC236}">
                <a16:creationId xmlns:a16="http://schemas.microsoft.com/office/drawing/2014/main" id="{81DB06EB-FB0D-EBC2-00C1-65487F2F2F78}"/>
              </a:ext>
            </a:extLst>
          </p:cNvPr>
          <p:cNvSpPr/>
          <p:nvPr/>
        </p:nvSpPr>
        <p:spPr>
          <a:xfrm>
            <a:off x="548640" y="3224463"/>
            <a:ext cx="3080084" cy="1366788"/>
          </a:xfrm>
          <a:prstGeom prst="rect">
            <a:avLst/>
          </a:prstGeom>
          <a:noFill/>
          <a:ln w="190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CN"/>
          </a:p>
        </p:txBody>
      </p:sp>
      <p:sp>
        <p:nvSpPr>
          <p:cNvPr id="5" name="Rectangle 4">
            <a:extLst>
              <a:ext uri="{FF2B5EF4-FFF2-40B4-BE49-F238E27FC236}">
                <a16:creationId xmlns:a16="http://schemas.microsoft.com/office/drawing/2014/main" id="{1797B169-3497-1D23-A35F-55BAFCD36E1E}"/>
              </a:ext>
            </a:extLst>
          </p:cNvPr>
          <p:cNvSpPr/>
          <p:nvPr/>
        </p:nvSpPr>
        <p:spPr>
          <a:xfrm>
            <a:off x="4555957" y="2059806"/>
            <a:ext cx="3529263" cy="1143802"/>
          </a:xfrm>
          <a:prstGeom prst="rect">
            <a:avLst/>
          </a:prstGeom>
          <a:noFill/>
          <a:ln w="190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CN"/>
          </a:p>
        </p:txBody>
      </p:sp>
      <p:sp>
        <p:nvSpPr>
          <p:cNvPr id="7" name="Rectangle 6">
            <a:extLst>
              <a:ext uri="{FF2B5EF4-FFF2-40B4-BE49-F238E27FC236}">
                <a16:creationId xmlns:a16="http://schemas.microsoft.com/office/drawing/2014/main" id="{FAF7EC27-AFA6-EF12-1252-00FAD9B8873C}"/>
              </a:ext>
            </a:extLst>
          </p:cNvPr>
          <p:cNvSpPr/>
          <p:nvPr/>
        </p:nvSpPr>
        <p:spPr>
          <a:xfrm>
            <a:off x="1722921" y="4283242"/>
            <a:ext cx="2414337" cy="1446555"/>
          </a:xfrm>
          <a:prstGeom prst="rect">
            <a:avLst/>
          </a:prstGeom>
          <a:noFill/>
          <a:ln w="190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CN"/>
          </a:p>
        </p:txBody>
      </p:sp>
      <p:sp>
        <p:nvSpPr>
          <p:cNvPr id="8" name="Rectangle 7">
            <a:extLst>
              <a:ext uri="{FF2B5EF4-FFF2-40B4-BE49-F238E27FC236}">
                <a16:creationId xmlns:a16="http://schemas.microsoft.com/office/drawing/2014/main" id="{D7B2BD70-666A-77F0-2BDC-42FCE4E99845}"/>
              </a:ext>
            </a:extLst>
          </p:cNvPr>
          <p:cNvSpPr/>
          <p:nvPr/>
        </p:nvSpPr>
        <p:spPr>
          <a:xfrm>
            <a:off x="5360403" y="3301465"/>
            <a:ext cx="3080084" cy="1222409"/>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CN"/>
          </a:p>
        </p:txBody>
      </p:sp>
    </p:spTree>
    <p:extLst>
      <p:ext uri="{BB962C8B-B14F-4D97-AF65-F5344CB8AC3E}">
        <p14:creationId xmlns:p14="http://schemas.microsoft.com/office/powerpoint/2010/main" val="413003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P spid="3" grpId="0" animBg="1"/>
      <p:bldP spid="5" grpId="0" animBg="1"/>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6C3299-F079-4AE2-FCD7-C8AE9AE06A00}"/>
              </a:ext>
            </a:extLst>
          </p:cNvPr>
          <p:cNvSpPr>
            <a:spLocks noGrp="1"/>
          </p:cNvSpPr>
          <p:nvPr>
            <p:ph type="sldNum" sz="quarter" idx="12"/>
          </p:nvPr>
        </p:nvSpPr>
        <p:spPr/>
        <p:txBody>
          <a:bodyPr/>
          <a:lstStyle/>
          <a:p>
            <a:fld id="{BFDBEA21-829B-6241-B888-D243749283AB}" type="slidenum">
              <a:rPr lang="id-ID" smtClean="0"/>
              <a:pPr/>
              <a:t>3</a:t>
            </a:fld>
            <a:endParaRPr lang="id-ID" dirty="0"/>
          </a:p>
        </p:txBody>
      </p:sp>
      <p:sp>
        <p:nvSpPr>
          <p:cNvPr id="4" name="Title 3">
            <a:extLst>
              <a:ext uri="{FF2B5EF4-FFF2-40B4-BE49-F238E27FC236}">
                <a16:creationId xmlns:a16="http://schemas.microsoft.com/office/drawing/2014/main" id="{CCF4BA12-88AA-66B5-4ACA-C521124AEB27}"/>
              </a:ext>
            </a:extLst>
          </p:cNvPr>
          <p:cNvSpPr>
            <a:spLocks noGrp="1"/>
          </p:cNvSpPr>
          <p:nvPr>
            <p:ph type="title"/>
          </p:nvPr>
        </p:nvSpPr>
        <p:spPr/>
        <p:txBody>
          <a:bodyPr/>
          <a:lstStyle/>
          <a:p>
            <a:pPr algn="ctr"/>
            <a:r>
              <a:rPr kumimoji="0" lang="en-US" sz="3600" b="1" i="0" u="none" strike="noStrike" kern="1200" cap="none" spc="0" normalizeH="0" baseline="0" noProof="0" dirty="0">
                <a:ln>
                  <a:noFill/>
                </a:ln>
                <a:solidFill>
                  <a:srgbClr val="156082"/>
                </a:solidFill>
                <a:effectLst/>
                <a:uLnTx/>
                <a:uFillTx/>
                <a:latin typeface="Raleway Medium"/>
                <a:ea typeface="+mj-ea"/>
                <a:cs typeface="+mj-cs"/>
              </a:rPr>
              <a:t>Four-Layer Evaluation Framework</a:t>
            </a:r>
            <a:br>
              <a:rPr kumimoji="0" lang="en-US" sz="3600" b="0" i="0" u="none" strike="noStrike" kern="1200" cap="none" spc="0" normalizeH="0" baseline="0" noProof="0" dirty="0">
                <a:ln>
                  <a:noFill/>
                </a:ln>
                <a:solidFill>
                  <a:srgbClr val="156082"/>
                </a:solidFill>
                <a:effectLst/>
                <a:uLnTx/>
                <a:uFillTx/>
                <a:latin typeface="Raleway Medium"/>
                <a:ea typeface="+mj-ea"/>
                <a:cs typeface="+mj-cs"/>
              </a:rPr>
            </a:br>
            <a:r>
              <a:rPr kumimoji="0" lang="en-US" sz="1800" b="0" i="0" u="none" strike="noStrike" kern="1200" cap="none" spc="0" normalizeH="0" baseline="0" noProof="0" dirty="0">
                <a:ln>
                  <a:noFill/>
                </a:ln>
                <a:solidFill>
                  <a:srgbClr val="156082"/>
                </a:solidFill>
                <a:effectLst/>
                <a:uLnTx/>
                <a:uFillTx/>
                <a:latin typeface="Raleway Medium"/>
                <a:ea typeface="+mj-ea"/>
                <a:cs typeface="+mj-cs"/>
              </a:rPr>
              <a:t>The first comprehensive platform assessing LLMs across stability, fidelity, and interpretability.</a:t>
            </a:r>
            <a:endParaRPr lang="en-CN" dirty="0"/>
          </a:p>
        </p:txBody>
      </p:sp>
      <p:pic>
        <p:nvPicPr>
          <p:cNvPr id="6" name="Picture 5" descr="A diagram of a process&#10;&#10;Description automatically generated">
            <a:extLst>
              <a:ext uri="{FF2B5EF4-FFF2-40B4-BE49-F238E27FC236}">
                <a16:creationId xmlns:a16="http://schemas.microsoft.com/office/drawing/2014/main" id="{66D67FFF-7C54-65DE-4C63-75CE8E4034D0}"/>
              </a:ext>
            </a:extLst>
          </p:cNvPr>
          <p:cNvPicPr>
            <a:picLocks noChangeAspect="1"/>
          </p:cNvPicPr>
          <p:nvPr/>
        </p:nvPicPr>
        <p:blipFill>
          <a:blip r:embed="rId3"/>
          <a:stretch>
            <a:fillRect/>
          </a:stretch>
        </p:blipFill>
        <p:spPr>
          <a:xfrm>
            <a:off x="566326" y="1807535"/>
            <a:ext cx="5333125" cy="4104167"/>
          </a:xfrm>
          <a:prstGeom prst="rect">
            <a:avLst/>
          </a:prstGeom>
        </p:spPr>
      </p:pic>
      <p:sp>
        <p:nvSpPr>
          <p:cNvPr id="8" name="TextBox 7">
            <a:extLst>
              <a:ext uri="{FF2B5EF4-FFF2-40B4-BE49-F238E27FC236}">
                <a16:creationId xmlns:a16="http://schemas.microsoft.com/office/drawing/2014/main" id="{F52AB3F7-0D53-C0B9-E4A4-ABAD10FEDD6D}"/>
              </a:ext>
            </a:extLst>
          </p:cNvPr>
          <p:cNvSpPr txBox="1"/>
          <p:nvPr/>
        </p:nvSpPr>
        <p:spPr>
          <a:xfrm>
            <a:off x="6387509" y="1807535"/>
            <a:ext cx="5349970" cy="2585323"/>
          </a:xfrm>
          <a:prstGeom prst="rect">
            <a:avLst/>
          </a:prstGeom>
          <a:noFill/>
        </p:spPr>
        <p:txBody>
          <a:bodyPr wrap="square">
            <a:spAutoFit/>
          </a:bodyPr>
          <a:lstStyle/>
          <a:p>
            <a:pPr algn="just"/>
            <a:r>
              <a:rPr lang="en-CN" b="1" dirty="0"/>
              <a:t>Research questions</a:t>
            </a:r>
            <a:r>
              <a:rPr lang="en-CN" dirty="0"/>
              <a:t>:</a:t>
            </a:r>
          </a:p>
          <a:p>
            <a:pPr algn="just"/>
            <a:r>
              <a:rPr lang="en-CN" dirty="0"/>
              <a:t>1. Whether LLM responses to ethical dilemmas stem from </a:t>
            </a:r>
            <a:r>
              <a:rPr lang="en-CN" dirty="0">
                <a:solidFill>
                  <a:srgbClr val="FF0000"/>
                </a:solidFill>
              </a:rPr>
              <a:t>stable value principles </a:t>
            </a:r>
            <a:r>
              <a:rPr lang="en-CN" dirty="0"/>
              <a:t>or </a:t>
            </a:r>
            <a:r>
              <a:rPr lang="en-CN" dirty="0">
                <a:solidFill>
                  <a:srgbClr val="FF0000"/>
                </a:solidFill>
              </a:rPr>
              <a:t>contextual heuristics</a:t>
            </a:r>
            <a:r>
              <a:rPr lang="en-CN" dirty="0"/>
              <a:t>?</a:t>
            </a:r>
          </a:p>
          <a:p>
            <a:pPr algn="just"/>
            <a:r>
              <a:rPr lang="en-CN" dirty="0"/>
              <a:t>2. What </a:t>
            </a:r>
            <a:r>
              <a:rPr lang="en-CN" dirty="0">
                <a:solidFill>
                  <a:srgbClr val="FF0000"/>
                </a:solidFill>
              </a:rPr>
              <a:t>quantifiable cultural values </a:t>
            </a:r>
            <a:r>
              <a:rPr lang="en-US" dirty="0"/>
              <a:t>do these</a:t>
            </a:r>
            <a:r>
              <a:rPr lang="en-CN" dirty="0"/>
              <a:t> models actually embody when compared to human populations?</a:t>
            </a:r>
          </a:p>
          <a:p>
            <a:pPr algn="just"/>
            <a:r>
              <a:rPr lang="en-CN" dirty="0"/>
              <a:t>3. </a:t>
            </a:r>
            <a:r>
              <a:rPr lang="en-US" dirty="0"/>
              <a:t>How</a:t>
            </a:r>
            <a:r>
              <a:rPr lang="en-CN" dirty="0"/>
              <a:t> current technological innovations can effectively </a:t>
            </a:r>
            <a:r>
              <a:rPr lang="en-CN" dirty="0">
                <a:solidFill>
                  <a:srgbClr val="FF0000"/>
                </a:solidFill>
              </a:rPr>
              <a:t>contribute to genuine value alignment</a:t>
            </a:r>
            <a:r>
              <a:rPr lang="en-CN" dirty="0"/>
              <a:t>.</a:t>
            </a:r>
          </a:p>
        </p:txBody>
      </p:sp>
      <p:sp>
        <p:nvSpPr>
          <p:cNvPr id="9" name="TextBox 8">
            <a:extLst>
              <a:ext uri="{FF2B5EF4-FFF2-40B4-BE49-F238E27FC236}">
                <a16:creationId xmlns:a16="http://schemas.microsoft.com/office/drawing/2014/main" id="{C722A4E4-CA4C-593B-673A-517316AF71D3}"/>
              </a:ext>
            </a:extLst>
          </p:cNvPr>
          <p:cNvSpPr txBox="1"/>
          <p:nvPr/>
        </p:nvSpPr>
        <p:spPr>
          <a:xfrm>
            <a:off x="6426698" y="4597501"/>
            <a:ext cx="5349970" cy="1077218"/>
          </a:xfrm>
          <a:prstGeom prst="rect">
            <a:avLst/>
          </a:prstGeom>
          <a:noFill/>
        </p:spPr>
        <p:txBody>
          <a:bodyPr wrap="square">
            <a:spAutoFit/>
          </a:bodyPr>
          <a:lstStyle/>
          <a:p>
            <a:pPr algn="just"/>
            <a:r>
              <a:rPr lang="en-CN" sz="1600" dirty="0"/>
              <a:t>Through </a:t>
            </a:r>
            <a:r>
              <a:rPr lang="en-US" sz="1600" dirty="0"/>
              <a:t>a series</a:t>
            </a:r>
            <a:r>
              <a:rPr lang="en-CN" sz="1600" dirty="0"/>
              <a:t> of </a:t>
            </a:r>
            <a:r>
              <a:rPr lang="en-US" sz="1600" dirty="0"/>
              <a:t>research,</a:t>
            </a:r>
            <a:r>
              <a:rPr lang="en-CN" sz="1600" dirty="0"/>
              <a:t> we </a:t>
            </a:r>
            <a:r>
              <a:rPr lang="en-US" sz="1600" dirty="0"/>
              <a:t>audit LLM behaviors against specific Chinese and Western cultural human value distributions to ensure genuine alignment, fairness, and safety in deployment.</a:t>
            </a:r>
            <a:endParaRPr lang="en-CN" sz="1600" dirty="0"/>
          </a:p>
        </p:txBody>
      </p:sp>
    </p:spTree>
    <p:extLst>
      <p:ext uri="{BB962C8B-B14F-4D97-AF65-F5344CB8AC3E}">
        <p14:creationId xmlns:p14="http://schemas.microsoft.com/office/powerpoint/2010/main" val="1423678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F31FA-B267-8FBF-5CFA-D8EFF55E46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821598-00F1-1C30-69DE-BC7C1F9A450C}"/>
              </a:ext>
            </a:extLst>
          </p:cNvPr>
          <p:cNvSpPr>
            <a:spLocks noGrp="1"/>
          </p:cNvSpPr>
          <p:nvPr>
            <p:ph type="sldNum" sz="quarter" idx="12"/>
          </p:nvPr>
        </p:nvSpPr>
        <p:spPr/>
        <p:txBody>
          <a:bodyPr/>
          <a:lstStyle/>
          <a:p>
            <a:fld id="{BFDBEA21-829B-6241-B888-D243749283AB}" type="slidenum">
              <a:rPr lang="id-ID" smtClean="0"/>
              <a:pPr/>
              <a:t>4</a:t>
            </a:fld>
            <a:endParaRPr lang="id-ID" dirty="0"/>
          </a:p>
        </p:txBody>
      </p:sp>
      <p:sp>
        <p:nvSpPr>
          <p:cNvPr id="4" name="Title 3">
            <a:extLst>
              <a:ext uri="{FF2B5EF4-FFF2-40B4-BE49-F238E27FC236}">
                <a16:creationId xmlns:a16="http://schemas.microsoft.com/office/drawing/2014/main" id="{AF642EB7-9F9D-8878-328C-7D830C1CBE97}"/>
              </a:ext>
            </a:extLst>
          </p:cNvPr>
          <p:cNvSpPr>
            <a:spLocks noGrp="1"/>
          </p:cNvSpPr>
          <p:nvPr>
            <p:ph type="title"/>
          </p:nvPr>
        </p:nvSpPr>
        <p:spPr/>
        <p:txBody>
          <a:bodyPr/>
          <a:lstStyle/>
          <a:p>
            <a:pPr algn="ctr"/>
            <a:r>
              <a:rPr lang="en-US" b="1" dirty="0">
                <a:effectLst/>
              </a:rPr>
              <a:t>Ethical Dilemma Corpus</a:t>
            </a:r>
            <a:br>
              <a:rPr kumimoji="0" lang="en-US" sz="3600" b="0" i="0" u="none" strike="noStrike" kern="1200" cap="none" spc="0" normalizeH="0" baseline="0" noProof="0" dirty="0">
                <a:ln>
                  <a:noFill/>
                </a:ln>
                <a:solidFill>
                  <a:srgbClr val="156082"/>
                </a:solidFill>
                <a:effectLst/>
                <a:uLnTx/>
                <a:uFillTx/>
                <a:latin typeface="Raleway Medium"/>
                <a:ea typeface="+mj-ea"/>
                <a:cs typeface="+mj-cs"/>
              </a:rPr>
            </a:br>
            <a:r>
              <a:rPr lang="en-US" altLang="zh-CN" sz="1800" b="0" kern="1200" dirty="0"/>
              <a:t>Test temporal stability</a:t>
            </a:r>
            <a:endParaRPr lang="en-CN" dirty="0"/>
          </a:p>
        </p:txBody>
      </p:sp>
      <p:pic>
        <p:nvPicPr>
          <p:cNvPr id="10" name="Picture 9" descr="A diagram of a business process&#10;&#10;Description automatically generated">
            <a:extLst>
              <a:ext uri="{FF2B5EF4-FFF2-40B4-BE49-F238E27FC236}">
                <a16:creationId xmlns:a16="http://schemas.microsoft.com/office/drawing/2014/main" id="{74F7EAC4-0E23-4CB5-C2B5-E589D65FB58E}"/>
              </a:ext>
            </a:extLst>
          </p:cNvPr>
          <p:cNvPicPr>
            <a:picLocks noChangeAspect="1"/>
          </p:cNvPicPr>
          <p:nvPr/>
        </p:nvPicPr>
        <p:blipFill>
          <a:blip r:embed="rId3"/>
          <a:stretch>
            <a:fillRect/>
          </a:stretch>
        </p:blipFill>
        <p:spPr>
          <a:xfrm>
            <a:off x="763202" y="1798127"/>
            <a:ext cx="5978543" cy="4177369"/>
          </a:xfrm>
          <a:prstGeom prst="rect">
            <a:avLst/>
          </a:prstGeom>
        </p:spPr>
      </p:pic>
      <p:sp>
        <p:nvSpPr>
          <p:cNvPr id="12" name="TextBox 11">
            <a:extLst>
              <a:ext uri="{FF2B5EF4-FFF2-40B4-BE49-F238E27FC236}">
                <a16:creationId xmlns:a16="http://schemas.microsoft.com/office/drawing/2014/main" id="{61AA00AA-D099-04D7-56E0-C267C92CFFF9}"/>
              </a:ext>
            </a:extLst>
          </p:cNvPr>
          <p:cNvSpPr txBox="1"/>
          <p:nvPr/>
        </p:nvSpPr>
        <p:spPr>
          <a:xfrm>
            <a:off x="6779711" y="2136338"/>
            <a:ext cx="4649087" cy="3139321"/>
          </a:xfrm>
          <a:prstGeom prst="rect">
            <a:avLst/>
          </a:prstGeom>
          <a:noFill/>
        </p:spPr>
        <p:txBody>
          <a:bodyPr wrap="square">
            <a:spAutoFit/>
          </a:bodyPr>
          <a:lstStyle/>
          <a:p>
            <a:pPr algn="just"/>
            <a:r>
              <a:rPr lang="en-US" b="1" dirty="0">
                <a:effectLst/>
              </a:rPr>
              <a:t>RQ1</a:t>
            </a:r>
            <a:r>
              <a:rPr lang="en-US" b="1" dirty="0"/>
              <a:t>:</a:t>
            </a:r>
            <a:r>
              <a:rPr lang="en-US" dirty="0">
                <a:effectLst/>
              </a:rPr>
              <a:t> Assess temporal stability beyond single-step tests. </a:t>
            </a:r>
          </a:p>
          <a:p>
            <a:pPr algn="just"/>
            <a:endParaRPr lang="en-US" dirty="0"/>
          </a:p>
          <a:p>
            <a:pPr algn="just"/>
            <a:r>
              <a:rPr lang="en-US" dirty="0">
                <a:effectLst/>
              </a:rPr>
              <a:t>Uses 1,730 </a:t>
            </a:r>
            <a:r>
              <a:rPr lang="en-US" b="1" dirty="0">
                <a:effectLst/>
              </a:rPr>
              <a:t>real-world</a:t>
            </a:r>
            <a:r>
              <a:rPr lang="zh-CN" altLang="en-US" b="1" dirty="0">
                <a:effectLst/>
              </a:rPr>
              <a:t> </a:t>
            </a:r>
            <a:r>
              <a:rPr lang="en-US" altLang="zh-CN" b="1" dirty="0">
                <a:effectLst/>
              </a:rPr>
              <a:t>Ethic</a:t>
            </a:r>
            <a:r>
              <a:rPr lang="en-US" altLang="zh-CN" b="1" dirty="0"/>
              <a:t>al Dilemmas </a:t>
            </a:r>
            <a:r>
              <a:rPr lang="en-US" dirty="0">
                <a:effectLst/>
              </a:rPr>
              <a:t>from Kidder's framework (Truth vs. Loyalty, etc.). </a:t>
            </a:r>
          </a:p>
          <a:p>
            <a:pPr algn="just"/>
            <a:endParaRPr lang="en-US" dirty="0"/>
          </a:p>
          <a:p>
            <a:pPr algn="just"/>
            <a:r>
              <a:rPr lang="en-US" dirty="0">
                <a:effectLst/>
              </a:rPr>
              <a:t>Measures </a:t>
            </a:r>
            <a:r>
              <a:rPr lang="en-US" b="1" dirty="0">
                <a:effectLst/>
              </a:rPr>
              <a:t>preference consistency</a:t>
            </a:r>
            <a:r>
              <a:rPr lang="en-US" dirty="0">
                <a:effectLst/>
              </a:rPr>
              <a:t>, </a:t>
            </a:r>
            <a:r>
              <a:rPr lang="en-US" b="1" dirty="0">
                <a:effectLst/>
              </a:rPr>
              <a:t>flipping rates </a:t>
            </a:r>
            <a:r>
              <a:rPr lang="en-US" dirty="0">
                <a:effectLst/>
              </a:rPr>
              <a:t>when consequences change, and agreement across prompt variations—diagnosing heuristics vs. principles.</a:t>
            </a:r>
          </a:p>
        </p:txBody>
      </p:sp>
    </p:spTree>
    <p:extLst>
      <p:ext uri="{BB962C8B-B14F-4D97-AF65-F5344CB8AC3E}">
        <p14:creationId xmlns:p14="http://schemas.microsoft.com/office/powerpoint/2010/main" val="3923197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7EA541-D38A-0AF5-03C7-0B2206885416}"/>
              </a:ext>
            </a:extLst>
          </p:cNvPr>
          <p:cNvSpPr>
            <a:spLocks noGrp="1"/>
          </p:cNvSpPr>
          <p:nvPr>
            <p:ph type="sldNum" sz="quarter" idx="12"/>
          </p:nvPr>
        </p:nvSpPr>
        <p:spPr/>
        <p:txBody>
          <a:bodyPr/>
          <a:lstStyle/>
          <a:p>
            <a:fld id="{BFDBEA21-829B-6241-B888-D243749283AB}" type="slidenum">
              <a:rPr lang="id-ID" smtClean="0"/>
              <a:pPr/>
              <a:t>5</a:t>
            </a:fld>
            <a:endParaRPr lang="id-ID" dirty="0"/>
          </a:p>
        </p:txBody>
      </p:sp>
      <p:sp>
        <p:nvSpPr>
          <p:cNvPr id="3" name="Title 2">
            <a:extLst>
              <a:ext uri="{FF2B5EF4-FFF2-40B4-BE49-F238E27FC236}">
                <a16:creationId xmlns:a16="http://schemas.microsoft.com/office/drawing/2014/main" id="{3EA5A9CE-0129-0433-E78E-2976ABD17B05}"/>
              </a:ext>
            </a:extLst>
          </p:cNvPr>
          <p:cNvSpPr>
            <a:spLocks noGrp="1"/>
          </p:cNvSpPr>
          <p:nvPr>
            <p:ph type="title"/>
          </p:nvPr>
        </p:nvSpPr>
        <p:spPr/>
        <p:txBody>
          <a:bodyPr/>
          <a:lstStyle/>
          <a:p>
            <a:pPr algn="ctr"/>
            <a:r>
              <a:rPr lang="en-CN" b="1" dirty="0"/>
              <a:t>RQ1: </a:t>
            </a:r>
            <a:r>
              <a:rPr lang="en-US" b="1" dirty="0">
                <a:effectLst/>
              </a:rPr>
              <a:t>Stable Principles or Heuristics?</a:t>
            </a:r>
            <a:br>
              <a:rPr lang="en-US" b="1" dirty="0">
                <a:effectLst/>
              </a:rPr>
            </a:br>
            <a:r>
              <a:rPr lang="en-US" sz="1800" dirty="0">
                <a:effectLst/>
              </a:rPr>
              <a:t>Western Claude most stable; </a:t>
            </a:r>
            <a:r>
              <a:rPr lang="en-US" sz="1800" dirty="0" err="1">
                <a:effectLst/>
              </a:rPr>
              <a:t>LLaMA</a:t>
            </a:r>
            <a:r>
              <a:rPr lang="en-US" sz="1800" dirty="0">
                <a:effectLst/>
              </a:rPr>
              <a:t>/</a:t>
            </a:r>
            <a:r>
              <a:rPr lang="en-US" sz="1800" dirty="0" err="1">
                <a:effectLst/>
              </a:rPr>
              <a:t>DeepSeek</a:t>
            </a:r>
            <a:r>
              <a:rPr lang="en-US" sz="1800" dirty="0">
                <a:effectLst/>
              </a:rPr>
              <a:t> volatile—architecture over origin drives consistency</a:t>
            </a:r>
            <a:endParaRPr lang="en-CN" b="1" dirty="0"/>
          </a:p>
        </p:txBody>
      </p:sp>
      <p:pic>
        <p:nvPicPr>
          <p:cNvPr id="5" name="Picture 4" descr="A screenshot of a computer screen&#10;&#10;Description automatically generated">
            <a:extLst>
              <a:ext uri="{FF2B5EF4-FFF2-40B4-BE49-F238E27FC236}">
                <a16:creationId xmlns:a16="http://schemas.microsoft.com/office/drawing/2014/main" id="{A296ADBA-361F-BD07-45FD-593F163B0596}"/>
              </a:ext>
            </a:extLst>
          </p:cNvPr>
          <p:cNvPicPr>
            <a:picLocks noChangeAspect="1"/>
          </p:cNvPicPr>
          <p:nvPr/>
        </p:nvPicPr>
        <p:blipFill>
          <a:blip r:embed="rId3"/>
          <a:stretch>
            <a:fillRect/>
          </a:stretch>
        </p:blipFill>
        <p:spPr>
          <a:xfrm>
            <a:off x="376142" y="2082354"/>
            <a:ext cx="7772400" cy="2938618"/>
          </a:xfrm>
          <a:prstGeom prst="rect">
            <a:avLst/>
          </a:prstGeom>
        </p:spPr>
      </p:pic>
      <p:sp>
        <p:nvSpPr>
          <p:cNvPr id="7" name="TextBox 6">
            <a:extLst>
              <a:ext uri="{FF2B5EF4-FFF2-40B4-BE49-F238E27FC236}">
                <a16:creationId xmlns:a16="http://schemas.microsoft.com/office/drawing/2014/main" id="{1C5E1EBD-D50E-4B7C-A1B5-3B2A8EF81F62}"/>
              </a:ext>
            </a:extLst>
          </p:cNvPr>
          <p:cNvSpPr txBox="1"/>
          <p:nvPr/>
        </p:nvSpPr>
        <p:spPr>
          <a:xfrm>
            <a:off x="5984582" y="5439774"/>
            <a:ext cx="5752897" cy="646331"/>
          </a:xfrm>
          <a:prstGeom prst="rect">
            <a:avLst/>
          </a:prstGeom>
          <a:noFill/>
        </p:spPr>
        <p:txBody>
          <a:bodyPr wrap="square">
            <a:spAutoFit/>
          </a:bodyPr>
          <a:lstStyle/>
          <a:p>
            <a:pPr algn="just"/>
            <a:r>
              <a:rPr lang="en-US" dirty="0">
                <a:effectLst/>
              </a:rPr>
              <a:t>Models show rigid deontological biases—e.g., Truth over Loyalty in 93%, Community over Individual in 73%</a:t>
            </a:r>
          </a:p>
        </p:txBody>
      </p:sp>
    </p:spTree>
    <p:extLst>
      <p:ext uri="{BB962C8B-B14F-4D97-AF65-F5344CB8AC3E}">
        <p14:creationId xmlns:p14="http://schemas.microsoft.com/office/powerpoint/2010/main" val="245289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9A79-9732-C1EC-CAD7-55227BB44F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4C4EE-2492-19E1-6606-F4FA3552F742}"/>
              </a:ext>
            </a:extLst>
          </p:cNvPr>
          <p:cNvSpPr>
            <a:spLocks noGrp="1"/>
          </p:cNvSpPr>
          <p:nvPr>
            <p:ph type="sldNum" sz="quarter" idx="12"/>
          </p:nvPr>
        </p:nvSpPr>
        <p:spPr/>
        <p:txBody>
          <a:bodyPr/>
          <a:lstStyle/>
          <a:p>
            <a:fld id="{BFDBEA21-829B-6241-B888-D243749283AB}" type="slidenum">
              <a:rPr lang="id-ID" smtClean="0"/>
              <a:pPr/>
              <a:t>6</a:t>
            </a:fld>
            <a:endParaRPr lang="id-ID" dirty="0"/>
          </a:p>
        </p:txBody>
      </p:sp>
      <p:sp>
        <p:nvSpPr>
          <p:cNvPr id="4" name="Title 3">
            <a:extLst>
              <a:ext uri="{FF2B5EF4-FFF2-40B4-BE49-F238E27FC236}">
                <a16:creationId xmlns:a16="http://schemas.microsoft.com/office/drawing/2014/main" id="{F718AFB5-2AE4-F26E-612E-B4AB2C3059FE}"/>
              </a:ext>
            </a:extLst>
          </p:cNvPr>
          <p:cNvSpPr>
            <a:spLocks noGrp="1"/>
          </p:cNvSpPr>
          <p:nvPr>
            <p:ph type="title"/>
          </p:nvPr>
        </p:nvSpPr>
        <p:spPr/>
        <p:txBody>
          <a:bodyPr/>
          <a:lstStyle/>
          <a:p>
            <a:pPr algn="ctr"/>
            <a:r>
              <a:rPr lang="en-US" b="1" dirty="0">
                <a:effectLst/>
              </a:rPr>
              <a:t>Diversity-Enhanced Framework</a:t>
            </a:r>
            <a:br>
              <a:rPr kumimoji="0" lang="en-US" sz="3600" b="0" i="0" u="none" strike="noStrike" kern="1200" cap="none" spc="0" normalizeH="0" baseline="0" noProof="0" dirty="0">
                <a:ln>
                  <a:noFill/>
                </a:ln>
                <a:solidFill>
                  <a:srgbClr val="156082"/>
                </a:solidFill>
                <a:effectLst/>
                <a:uLnTx/>
                <a:uFillTx/>
                <a:latin typeface="Raleway Medium"/>
                <a:ea typeface="+mj-ea"/>
                <a:cs typeface="+mj-cs"/>
              </a:rPr>
            </a:br>
            <a:r>
              <a:rPr lang="en-US" altLang="zh-CN" sz="1800" b="0" kern="1200" dirty="0"/>
              <a:t>Quantifiers cultural fidelity vs. actual populations</a:t>
            </a:r>
            <a:endParaRPr lang="en-CN" dirty="0"/>
          </a:p>
        </p:txBody>
      </p:sp>
      <p:sp>
        <p:nvSpPr>
          <p:cNvPr id="12" name="TextBox 11">
            <a:extLst>
              <a:ext uri="{FF2B5EF4-FFF2-40B4-BE49-F238E27FC236}">
                <a16:creationId xmlns:a16="http://schemas.microsoft.com/office/drawing/2014/main" id="{BF5CD242-2A0B-7453-D315-E780B3B5B23B}"/>
              </a:ext>
            </a:extLst>
          </p:cNvPr>
          <p:cNvSpPr txBox="1"/>
          <p:nvPr/>
        </p:nvSpPr>
        <p:spPr>
          <a:xfrm>
            <a:off x="763201" y="5039027"/>
            <a:ext cx="10599517" cy="1200329"/>
          </a:xfrm>
          <a:prstGeom prst="rect">
            <a:avLst/>
          </a:prstGeom>
          <a:noFill/>
        </p:spPr>
        <p:txBody>
          <a:bodyPr wrap="square">
            <a:spAutoFit/>
          </a:bodyPr>
          <a:lstStyle/>
          <a:p>
            <a:r>
              <a:rPr lang="en-US" b="1" dirty="0">
                <a:effectLst/>
              </a:rPr>
              <a:t>RQ2</a:t>
            </a:r>
            <a:r>
              <a:rPr lang="en-US" b="1" dirty="0"/>
              <a:t>:</a:t>
            </a:r>
            <a:r>
              <a:rPr lang="en-US" dirty="0">
                <a:effectLst/>
              </a:rPr>
              <a:t> </a:t>
            </a:r>
            <a:r>
              <a:rPr lang="en-US" dirty="0"/>
              <a:t>O</a:t>
            </a:r>
            <a:r>
              <a:rPr lang="en-US" dirty="0">
                <a:effectLst/>
              </a:rPr>
              <a:t>vercomes </a:t>
            </a:r>
            <a:r>
              <a:rPr lang="en-US" b="1" dirty="0">
                <a:effectLst/>
              </a:rPr>
              <a:t>repetitive outputs </a:t>
            </a:r>
            <a:r>
              <a:rPr lang="en-US" dirty="0">
                <a:effectLst/>
              </a:rPr>
              <a:t>to simulate diverse survey responses (e.g., World Values Survey). </a:t>
            </a:r>
          </a:p>
          <a:p>
            <a:endParaRPr lang="en-US" dirty="0"/>
          </a:p>
          <a:p>
            <a:pPr algn="just"/>
            <a:r>
              <a:rPr lang="en-US" dirty="0">
                <a:effectLst/>
              </a:rPr>
              <a:t>Generates </a:t>
            </a:r>
            <a:r>
              <a:rPr lang="en-US" b="1" dirty="0">
                <a:effectLst/>
              </a:rPr>
              <a:t>virtual participants </a:t>
            </a:r>
            <a:r>
              <a:rPr lang="en-US" dirty="0">
                <a:effectLst/>
              </a:rPr>
              <a:t>with demographic variation; quantifies fidelity via KL-Divergence, insensitivity metrics (False Fact Presentation, Conflict in Value Expression).</a:t>
            </a:r>
          </a:p>
        </p:txBody>
      </p:sp>
      <p:pic>
        <p:nvPicPr>
          <p:cNvPr id="5" name="Picture 4" descr="A diagram of a diagram&#10;&#10;Description automatically generated">
            <a:extLst>
              <a:ext uri="{FF2B5EF4-FFF2-40B4-BE49-F238E27FC236}">
                <a16:creationId xmlns:a16="http://schemas.microsoft.com/office/drawing/2014/main" id="{CDFCAB8B-26A7-7492-DA0C-392FE60883E3}"/>
              </a:ext>
            </a:extLst>
          </p:cNvPr>
          <p:cNvPicPr>
            <a:picLocks noChangeAspect="1"/>
          </p:cNvPicPr>
          <p:nvPr/>
        </p:nvPicPr>
        <p:blipFill>
          <a:blip r:embed="rId3"/>
          <a:stretch>
            <a:fillRect/>
          </a:stretch>
        </p:blipFill>
        <p:spPr>
          <a:xfrm>
            <a:off x="763201" y="1871889"/>
            <a:ext cx="10599517" cy="2849772"/>
          </a:xfrm>
          <a:prstGeom prst="rect">
            <a:avLst/>
          </a:prstGeom>
        </p:spPr>
      </p:pic>
    </p:spTree>
    <p:extLst>
      <p:ext uri="{BB962C8B-B14F-4D97-AF65-F5344CB8AC3E}">
        <p14:creationId xmlns:p14="http://schemas.microsoft.com/office/powerpoint/2010/main" val="1601079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BCD57-6D27-6D92-08C4-BC4F019DB6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F40407-F478-3AB2-7F1D-F18A87B679C3}"/>
              </a:ext>
            </a:extLst>
          </p:cNvPr>
          <p:cNvSpPr>
            <a:spLocks noGrp="1"/>
          </p:cNvSpPr>
          <p:nvPr>
            <p:ph type="sldNum" sz="quarter" idx="12"/>
          </p:nvPr>
        </p:nvSpPr>
        <p:spPr/>
        <p:txBody>
          <a:bodyPr/>
          <a:lstStyle/>
          <a:p>
            <a:fld id="{BFDBEA21-829B-6241-B888-D243749283AB}" type="slidenum">
              <a:rPr lang="id-ID" smtClean="0"/>
              <a:pPr/>
              <a:t>7</a:t>
            </a:fld>
            <a:endParaRPr lang="id-ID" dirty="0"/>
          </a:p>
        </p:txBody>
      </p:sp>
      <p:sp>
        <p:nvSpPr>
          <p:cNvPr id="3" name="Title 2">
            <a:extLst>
              <a:ext uri="{FF2B5EF4-FFF2-40B4-BE49-F238E27FC236}">
                <a16:creationId xmlns:a16="http://schemas.microsoft.com/office/drawing/2014/main" id="{689425D8-76AB-FDFB-909D-1F2E64C1D762}"/>
              </a:ext>
            </a:extLst>
          </p:cNvPr>
          <p:cNvSpPr>
            <a:spLocks noGrp="1"/>
          </p:cNvSpPr>
          <p:nvPr>
            <p:ph type="title"/>
          </p:nvPr>
        </p:nvSpPr>
        <p:spPr/>
        <p:txBody>
          <a:bodyPr/>
          <a:lstStyle/>
          <a:p>
            <a:pPr algn="ctr"/>
            <a:r>
              <a:rPr lang="en-CN" b="1" dirty="0"/>
              <a:t>RQ2: </a:t>
            </a:r>
            <a:r>
              <a:rPr lang="en-US" b="1" dirty="0">
                <a:effectLst/>
              </a:rPr>
              <a:t>What Cultural Values Do They Embody?</a:t>
            </a:r>
            <a:br>
              <a:rPr lang="en-US" b="1" dirty="0">
                <a:effectLst/>
              </a:rPr>
            </a:br>
            <a:r>
              <a:rPr kumimoji="0" lang="en-US" sz="1800" b="0" i="0" u="none" strike="noStrike" kern="1200" cap="none" spc="0" normalizeH="0" baseline="0" noProof="0" dirty="0">
                <a:ln>
                  <a:noFill/>
                </a:ln>
                <a:solidFill>
                  <a:srgbClr val="156082"/>
                </a:solidFill>
                <a:effectLst/>
                <a:uLnTx/>
                <a:uFillTx/>
                <a:latin typeface="Raleway Medium"/>
                <a:ea typeface="+mj-ea"/>
                <a:cs typeface="+mj-cs"/>
              </a:rPr>
              <a:t>Cross-Cultural Variation Encoding Difficulty</a:t>
            </a:r>
            <a:endParaRPr lang="en-CN" b="1" dirty="0"/>
          </a:p>
        </p:txBody>
      </p:sp>
      <p:pic>
        <p:nvPicPr>
          <p:cNvPr id="5" name="Picture 4" descr="A screenshot of a computer&#10;&#10;Description automatically generated">
            <a:extLst>
              <a:ext uri="{FF2B5EF4-FFF2-40B4-BE49-F238E27FC236}">
                <a16:creationId xmlns:a16="http://schemas.microsoft.com/office/drawing/2014/main" id="{C8482B33-924C-A402-BD03-A1DDE0E9EAEF}"/>
              </a:ext>
            </a:extLst>
          </p:cNvPr>
          <p:cNvPicPr>
            <a:picLocks noChangeAspect="1"/>
          </p:cNvPicPr>
          <p:nvPr/>
        </p:nvPicPr>
        <p:blipFill>
          <a:blip r:embed="rId3"/>
          <a:stretch>
            <a:fillRect/>
          </a:stretch>
        </p:blipFill>
        <p:spPr>
          <a:xfrm>
            <a:off x="981739" y="1911581"/>
            <a:ext cx="10228521" cy="4383651"/>
          </a:xfrm>
          <a:prstGeom prst="rect">
            <a:avLst/>
          </a:prstGeom>
        </p:spPr>
      </p:pic>
    </p:spTree>
    <p:extLst>
      <p:ext uri="{BB962C8B-B14F-4D97-AF65-F5344CB8AC3E}">
        <p14:creationId xmlns:p14="http://schemas.microsoft.com/office/powerpoint/2010/main" val="2180191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C4F3D-3051-4577-2C5E-1216EE1BD5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6CCF07-780C-57C5-7F2F-2FBC71149969}"/>
              </a:ext>
            </a:extLst>
          </p:cNvPr>
          <p:cNvSpPr>
            <a:spLocks noGrp="1"/>
          </p:cNvSpPr>
          <p:nvPr>
            <p:ph type="sldNum" sz="quarter" idx="12"/>
          </p:nvPr>
        </p:nvSpPr>
        <p:spPr/>
        <p:txBody>
          <a:bodyPr/>
          <a:lstStyle/>
          <a:p>
            <a:fld id="{BFDBEA21-829B-6241-B888-D243749283AB}" type="slidenum">
              <a:rPr lang="id-ID" smtClean="0"/>
              <a:pPr/>
              <a:t>8</a:t>
            </a:fld>
            <a:endParaRPr lang="id-ID" dirty="0"/>
          </a:p>
        </p:txBody>
      </p:sp>
      <p:sp>
        <p:nvSpPr>
          <p:cNvPr id="3" name="Title 2">
            <a:extLst>
              <a:ext uri="{FF2B5EF4-FFF2-40B4-BE49-F238E27FC236}">
                <a16:creationId xmlns:a16="http://schemas.microsoft.com/office/drawing/2014/main" id="{1F40ED38-7AFB-DC6E-71C6-7273AF9FA60D}"/>
              </a:ext>
            </a:extLst>
          </p:cNvPr>
          <p:cNvSpPr>
            <a:spLocks noGrp="1"/>
          </p:cNvSpPr>
          <p:nvPr>
            <p:ph type="title"/>
          </p:nvPr>
        </p:nvSpPr>
        <p:spPr/>
        <p:txBody>
          <a:bodyPr/>
          <a:lstStyle/>
          <a:p>
            <a:pPr algn="ctr"/>
            <a:r>
              <a:rPr lang="en-CN" b="1" dirty="0"/>
              <a:t>RQ2: </a:t>
            </a:r>
            <a:r>
              <a:rPr lang="en-US" b="1" dirty="0">
                <a:effectLst/>
              </a:rPr>
              <a:t>What Cultural Values Do They Embody?</a:t>
            </a:r>
            <a:br>
              <a:rPr lang="en-US" b="1" dirty="0">
                <a:effectLst/>
              </a:rPr>
            </a:br>
            <a:r>
              <a:rPr kumimoji="0" lang="en-US" sz="1800" b="0" i="0" u="none" strike="noStrike" kern="1200" cap="none" spc="0" normalizeH="0" baseline="0" noProof="0" dirty="0">
                <a:ln>
                  <a:noFill/>
                </a:ln>
                <a:solidFill>
                  <a:srgbClr val="156082"/>
                </a:solidFill>
                <a:effectLst/>
                <a:uLnTx/>
                <a:uFillTx/>
                <a:latin typeface="Raleway Medium"/>
                <a:ea typeface="+mj-ea"/>
                <a:cs typeface="+mj-cs"/>
              </a:rPr>
              <a:t>Value Expression Consistency Issue</a:t>
            </a:r>
            <a:endParaRPr lang="en-CN" b="1" dirty="0"/>
          </a:p>
        </p:txBody>
      </p:sp>
      <p:pic>
        <p:nvPicPr>
          <p:cNvPr id="8" name="Picture 7" descr="A diagram of different colored shapes&#10;&#10;Description automatically generated with medium confidence">
            <a:extLst>
              <a:ext uri="{FF2B5EF4-FFF2-40B4-BE49-F238E27FC236}">
                <a16:creationId xmlns:a16="http://schemas.microsoft.com/office/drawing/2014/main" id="{CBC00FAE-CBAD-04E2-DF8F-C751C1D22BF0}"/>
              </a:ext>
            </a:extLst>
          </p:cNvPr>
          <p:cNvPicPr>
            <a:picLocks noChangeAspect="1"/>
          </p:cNvPicPr>
          <p:nvPr/>
        </p:nvPicPr>
        <p:blipFill>
          <a:blip r:embed="rId3"/>
          <a:stretch>
            <a:fillRect/>
          </a:stretch>
        </p:blipFill>
        <p:spPr>
          <a:xfrm>
            <a:off x="856381" y="1871177"/>
            <a:ext cx="10479237" cy="4359502"/>
          </a:xfrm>
          <a:prstGeom prst="rect">
            <a:avLst/>
          </a:prstGeom>
        </p:spPr>
      </p:pic>
      <p:sp>
        <p:nvSpPr>
          <p:cNvPr id="4" name="Rectangle 3">
            <a:extLst>
              <a:ext uri="{FF2B5EF4-FFF2-40B4-BE49-F238E27FC236}">
                <a16:creationId xmlns:a16="http://schemas.microsoft.com/office/drawing/2014/main" id="{7AD21075-E586-509E-2CBD-4EC4C35E839B}"/>
              </a:ext>
            </a:extLst>
          </p:cNvPr>
          <p:cNvSpPr/>
          <p:nvPr/>
        </p:nvSpPr>
        <p:spPr>
          <a:xfrm>
            <a:off x="1611086" y="5290457"/>
            <a:ext cx="674914" cy="47897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a:p>
        </p:txBody>
      </p:sp>
      <p:sp>
        <p:nvSpPr>
          <p:cNvPr id="5" name="Rectangle 4">
            <a:extLst>
              <a:ext uri="{FF2B5EF4-FFF2-40B4-BE49-F238E27FC236}">
                <a16:creationId xmlns:a16="http://schemas.microsoft.com/office/drawing/2014/main" id="{BAAF1C27-F2B9-7C4F-D769-E78E77061D2C}"/>
              </a:ext>
            </a:extLst>
          </p:cNvPr>
          <p:cNvSpPr/>
          <p:nvPr/>
        </p:nvSpPr>
        <p:spPr>
          <a:xfrm>
            <a:off x="5719353" y="5290457"/>
            <a:ext cx="674914" cy="47897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a:p>
        </p:txBody>
      </p:sp>
      <p:sp>
        <p:nvSpPr>
          <p:cNvPr id="6" name="Rectangle 5">
            <a:extLst>
              <a:ext uri="{FF2B5EF4-FFF2-40B4-BE49-F238E27FC236}">
                <a16:creationId xmlns:a16="http://schemas.microsoft.com/office/drawing/2014/main" id="{8B84F33A-DFDE-39D8-6255-5DCAD1E64E76}"/>
              </a:ext>
            </a:extLst>
          </p:cNvPr>
          <p:cNvSpPr/>
          <p:nvPr/>
        </p:nvSpPr>
        <p:spPr>
          <a:xfrm>
            <a:off x="729343" y="3722080"/>
            <a:ext cx="674914" cy="47897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b="1" dirty="0"/>
          </a:p>
        </p:txBody>
      </p:sp>
      <p:sp>
        <p:nvSpPr>
          <p:cNvPr id="7" name="Rectangle 6">
            <a:extLst>
              <a:ext uri="{FF2B5EF4-FFF2-40B4-BE49-F238E27FC236}">
                <a16:creationId xmlns:a16="http://schemas.microsoft.com/office/drawing/2014/main" id="{76A0A2BA-746F-353E-7B94-EF2879525D5F}"/>
              </a:ext>
            </a:extLst>
          </p:cNvPr>
          <p:cNvSpPr/>
          <p:nvPr/>
        </p:nvSpPr>
        <p:spPr>
          <a:xfrm>
            <a:off x="4811486" y="3722080"/>
            <a:ext cx="674914" cy="478972"/>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a:p>
        </p:txBody>
      </p:sp>
    </p:spTree>
    <p:extLst>
      <p:ext uri="{BB962C8B-B14F-4D97-AF65-F5344CB8AC3E}">
        <p14:creationId xmlns:p14="http://schemas.microsoft.com/office/powerpoint/2010/main" val="265620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CAF9E-7CAB-0462-C7EA-12EAD45FFA8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5B7C32-123E-7B9A-3C04-823FADFE8A99}"/>
              </a:ext>
            </a:extLst>
          </p:cNvPr>
          <p:cNvSpPr>
            <a:spLocks noGrp="1"/>
          </p:cNvSpPr>
          <p:nvPr>
            <p:ph type="sldNum" sz="quarter" idx="12"/>
          </p:nvPr>
        </p:nvSpPr>
        <p:spPr/>
        <p:txBody>
          <a:bodyPr/>
          <a:lstStyle/>
          <a:p>
            <a:fld id="{BFDBEA21-829B-6241-B888-D243749283AB}" type="slidenum">
              <a:rPr lang="id-ID" smtClean="0"/>
              <a:pPr/>
              <a:t>9</a:t>
            </a:fld>
            <a:endParaRPr lang="id-ID" dirty="0"/>
          </a:p>
        </p:txBody>
      </p:sp>
      <p:sp>
        <p:nvSpPr>
          <p:cNvPr id="3" name="Title 2">
            <a:extLst>
              <a:ext uri="{FF2B5EF4-FFF2-40B4-BE49-F238E27FC236}">
                <a16:creationId xmlns:a16="http://schemas.microsoft.com/office/drawing/2014/main" id="{55F98CF5-2AE4-1503-AA8C-7828AC110117}"/>
              </a:ext>
            </a:extLst>
          </p:cNvPr>
          <p:cNvSpPr>
            <a:spLocks noGrp="1"/>
          </p:cNvSpPr>
          <p:nvPr>
            <p:ph type="title"/>
          </p:nvPr>
        </p:nvSpPr>
        <p:spPr/>
        <p:txBody>
          <a:bodyPr/>
          <a:lstStyle/>
          <a:p>
            <a:pPr algn="ctr"/>
            <a:r>
              <a:rPr lang="en-CN" b="1" dirty="0"/>
              <a:t>RQ3: </a:t>
            </a:r>
            <a:r>
              <a:rPr lang="en-US" b="1" dirty="0">
                <a:effectLst/>
              </a:rPr>
              <a:t>How Do Innovations Drive Alignment?</a:t>
            </a:r>
            <a:br>
              <a:rPr lang="en-US" b="1" dirty="0">
                <a:effectLst/>
              </a:rPr>
            </a:br>
            <a:r>
              <a:rPr kumimoji="0" lang="en-US" sz="1800" b="0" i="0" u="none" strike="noStrike" kern="1200" cap="none" spc="0" normalizeH="0" baseline="0" noProof="0" dirty="0">
                <a:ln>
                  <a:noFill/>
                </a:ln>
                <a:solidFill>
                  <a:srgbClr val="156082"/>
                </a:solidFill>
                <a:effectLst/>
                <a:uLnTx/>
                <a:uFillTx/>
                <a:latin typeface="Raleway Medium"/>
                <a:ea typeface="+mj-ea"/>
                <a:cs typeface="+mj-cs"/>
              </a:rPr>
              <a:t>General Domain Adaptations Works in Different Ways</a:t>
            </a:r>
            <a:endParaRPr lang="en-CN" b="1" dirty="0"/>
          </a:p>
        </p:txBody>
      </p:sp>
      <p:pic>
        <p:nvPicPr>
          <p:cNvPr id="7" name="Picture 6" descr="A graph of different colored lines&#10;&#10;Description automatically generated">
            <a:extLst>
              <a:ext uri="{FF2B5EF4-FFF2-40B4-BE49-F238E27FC236}">
                <a16:creationId xmlns:a16="http://schemas.microsoft.com/office/drawing/2014/main" id="{28D6976B-E2CA-BAF7-D198-03C666F32E33}"/>
              </a:ext>
            </a:extLst>
          </p:cNvPr>
          <p:cNvPicPr>
            <a:picLocks noChangeAspect="1"/>
          </p:cNvPicPr>
          <p:nvPr/>
        </p:nvPicPr>
        <p:blipFill>
          <a:blip r:embed="rId3"/>
          <a:stretch>
            <a:fillRect/>
          </a:stretch>
        </p:blipFill>
        <p:spPr>
          <a:xfrm>
            <a:off x="376142" y="1948626"/>
            <a:ext cx="11361337" cy="4203547"/>
          </a:xfrm>
          <a:prstGeom prst="rect">
            <a:avLst/>
          </a:prstGeom>
        </p:spPr>
      </p:pic>
      <p:cxnSp>
        <p:nvCxnSpPr>
          <p:cNvPr id="5" name="Straight Connector 4">
            <a:extLst>
              <a:ext uri="{FF2B5EF4-FFF2-40B4-BE49-F238E27FC236}">
                <a16:creationId xmlns:a16="http://schemas.microsoft.com/office/drawing/2014/main" id="{7ED51EC9-4434-7078-596D-94C4347BC3FC}"/>
              </a:ext>
            </a:extLst>
          </p:cNvPr>
          <p:cNvCxnSpPr/>
          <p:nvPr/>
        </p:nvCxnSpPr>
        <p:spPr>
          <a:xfrm>
            <a:off x="885989" y="3990693"/>
            <a:ext cx="418698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9FC4410-E5A1-6967-A276-DC91C810E013}"/>
              </a:ext>
            </a:extLst>
          </p:cNvPr>
          <p:cNvCxnSpPr>
            <a:cxnSpLocks/>
          </p:cNvCxnSpPr>
          <p:nvPr/>
        </p:nvCxnSpPr>
        <p:spPr>
          <a:xfrm>
            <a:off x="5715684" y="4192970"/>
            <a:ext cx="413766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146EF41C-CE8B-D60E-08FC-D355A51E5820}"/>
              </a:ext>
            </a:extLst>
          </p:cNvPr>
          <p:cNvSpPr/>
          <p:nvPr/>
        </p:nvSpPr>
        <p:spPr>
          <a:xfrm>
            <a:off x="9925397" y="3003665"/>
            <a:ext cx="1374370" cy="144088"/>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a:p>
        </p:txBody>
      </p:sp>
      <p:cxnSp>
        <p:nvCxnSpPr>
          <p:cNvPr id="10" name="Straight Connector 9">
            <a:extLst>
              <a:ext uri="{FF2B5EF4-FFF2-40B4-BE49-F238E27FC236}">
                <a16:creationId xmlns:a16="http://schemas.microsoft.com/office/drawing/2014/main" id="{43FED930-1D9E-26E9-FD5E-25F48435FF9E}"/>
              </a:ext>
            </a:extLst>
          </p:cNvPr>
          <p:cNvCxnSpPr/>
          <p:nvPr/>
        </p:nvCxnSpPr>
        <p:spPr>
          <a:xfrm>
            <a:off x="885989" y="4331515"/>
            <a:ext cx="4186989" cy="0"/>
          </a:xfrm>
          <a:prstGeom prst="line">
            <a:avLst/>
          </a:prstGeom>
          <a:ln w="285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3E12EE4-FFA7-92FE-C23A-1607EF92F878}"/>
              </a:ext>
            </a:extLst>
          </p:cNvPr>
          <p:cNvCxnSpPr>
            <a:cxnSpLocks/>
          </p:cNvCxnSpPr>
          <p:nvPr/>
        </p:nvCxnSpPr>
        <p:spPr>
          <a:xfrm>
            <a:off x="5715684" y="4332099"/>
            <a:ext cx="4137669" cy="0"/>
          </a:xfrm>
          <a:prstGeom prst="line">
            <a:avLst/>
          </a:prstGeom>
          <a:ln w="28575">
            <a:solidFill>
              <a:schemeClr val="accent3"/>
            </a:solidFill>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F07DB181-EFD3-87E6-4C35-07332CE5155D}"/>
              </a:ext>
            </a:extLst>
          </p:cNvPr>
          <p:cNvSpPr/>
          <p:nvPr/>
        </p:nvSpPr>
        <p:spPr>
          <a:xfrm>
            <a:off x="9925396" y="3428443"/>
            <a:ext cx="1529541" cy="144088"/>
          </a:xfrm>
          <a:prstGeom prst="rect">
            <a:avLst/>
          </a:prstGeom>
          <a:noFill/>
          <a:ln w="1905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a:p>
        </p:txBody>
      </p:sp>
      <p:cxnSp>
        <p:nvCxnSpPr>
          <p:cNvPr id="14" name="Straight Connector 13">
            <a:extLst>
              <a:ext uri="{FF2B5EF4-FFF2-40B4-BE49-F238E27FC236}">
                <a16:creationId xmlns:a16="http://schemas.microsoft.com/office/drawing/2014/main" id="{B149BB40-47BF-0570-0309-3E1DE116A4D5}"/>
              </a:ext>
            </a:extLst>
          </p:cNvPr>
          <p:cNvCxnSpPr/>
          <p:nvPr/>
        </p:nvCxnSpPr>
        <p:spPr>
          <a:xfrm>
            <a:off x="885989" y="3599994"/>
            <a:ext cx="4186989"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598F6ED-4288-BA47-8ECE-16190C240997}"/>
              </a:ext>
            </a:extLst>
          </p:cNvPr>
          <p:cNvCxnSpPr/>
          <p:nvPr/>
        </p:nvCxnSpPr>
        <p:spPr>
          <a:xfrm>
            <a:off x="885989" y="4018401"/>
            <a:ext cx="4186989"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2288224-ABF8-8542-65F6-E0E75D23E585}"/>
              </a:ext>
            </a:extLst>
          </p:cNvPr>
          <p:cNvCxnSpPr>
            <a:cxnSpLocks/>
          </p:cNvCxnSpPr>
          <p:nvPr/>
        </p:nvCxnSpPr>
        <p:spPr>
          <a:xfrm>
            <a:off x="5715684" y="3913107"/>
            <a:ext cx="4137669"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7386A0E-7AED-1FEB-6462-C8A7B1D53040}"/>
              </a:ext>
            </a:extLst>
          </p:cNvPr>
          <p:cNvCxnSpPr>
            <a:cxnSpLocks/>
          </p:cNvCxnSpPr>
          <p:nvPr/>
        </p:nvCxnSpPr>
        <p:spPr>
          <a:xfrm>
            <a:off x="5715684" y="3871543"/>
            <a:ext cx="4137669"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AA540F37-9906-A15A-A85F-436FFC3E95D1}"/>
              </a:ext>
            </a:extLst>
          </p:cNvPr>
          <p:cNvSpPr/>
          <p:nvPr/>
        </p:nvSpPr>
        <p:spPr>
          <a:xfrm>
            <a:off x="9925396" y="2260014"/>
            <a:ext cx="1529541" cy="144088"/>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a:p>
        </p:txBody>
      </p:sp>
      <p:sp>
        <p:nvSpPr>
          <p:cNvPr id="20" name="Rectangle 19">
            <a:extLst>
              <a:ext uri="{FF2B5EF4-FFF2-40B4-BE49-F238E27FC236}">
                <a16:creationId xmlns:a16="http://schemas.microsoft.com/office/drawing/2014/main" id="{3A8DBCBF-A3A5-0AE8-0BDB-1D747DAEC4F6}"/>
              </a:ext>
            </a:extLst>
          </p:cNvPr>
          <p:cNvSpPr/>
          <p:nvPr/>
        </p:nvSpPr>
        <p:spPr>
          <a:xfrm>
            <a:off x="9925395" y="3592151"/>
            <a:ext cx="1634838" cy="144088"/>
          </a:xfrm>
          <a:prstGeom prst="rect">
            <a:avLst/>
          </a:prstGeom>
          <a:noFill/>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CN"/>
          </a:p>
        </p:txBody>
      </p:sp>
    </p:spTree>
    <p:extLst>
      <p:ext uri="{BB962C8B-B14F-4D97-AF65-F5344CB8AC3E}">
        <p14:creationId xmlns:p14="http://schemas.microsoft.com/office/powerpoint/2010/main" val="317163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5"/>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2" presetClass="entr" presetSubtype="2"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1+#ppt_w/2"/>
                                          </p:val>
                                        </p:tav>
                                        <p:tav tm="100000">
                                          <p:val>
                                            <p:strVal val="#ppt_x"/>
                                          </p:val>
                                        </p:tav>
                                      </p:tavLst>
                                    </p:anim>
                                    <p:anim calcmode="lin" valueType="num">
                                      <p:cBhvr additive="base">
                                        <p:cTn id="28" dur="5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1+#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1+#ppt_w/2"/>
                                          </p:val>
                                        </p:tav>
                                        <p:tav tm="100000">
                                          <p:val>
                                            <p:strVal val="#ppt_x"/>
                                          </p:val>
                                        </p:tav>
                                      </p:tavLst>
                                    </p:anim>
                                    <p:anim calcmode="lin" valueType="num">
                                      <p:cBhvr additive="base">
                                        <p:cTn id="3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0"/>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1"/>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3"/>
                                        </p:tgtEl>
                                        <p:attrNameLst>
                                          <p:attrName>style.visibility</p:attrName>
                                        </p:attrNameLst>
                                      </p:cBhvr>
                                      <p:to>
                                        <p:strVal val="hidden"/>
                                      </p:to>
                                    </p:set>
                                  </p:childTnLst>
                                </p:cTn>
                              </p:par>
                              <p:par>
                                <p:cTn id="45" presetID="2" presetClass="entr" presetSubtype="4"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500" fill="hold"/>
                                        <p:tgtEl>
                                          <p:spTgt spid="20"/>
                                        </p:tgtEl>
                                        <p:attrNameLst>
                                          <p:attrName>ppt_x</p:attrName>
                                        </p:attrNameLst>
                                      </p:cBhvr>
                                      <p:tavLst>
                                        <p:tav tm="0">
                                          <p:val>
                                            <p:strVal val="#ppt_x"/>
                                          </p:val>
                                        </p:tav>
                                        <p:tav tm="100000">
                                          <p:val>
                                            <p:strVal val="#ppt_x"/>
                                          </p:val>
                                        </p:tav>
                                      </p:tavLst>
                                    </p:anim>
                                    <p:anim calcmode="lin" valueType="num">
                                      <p:cBhvr additive="base">
                                        <p:cTn id="48" dur="500" fill="hold"/>
                                        <p:tgtEl>
                                          <p:spTgt spid="2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additive="base">
                                        <p:cTn id="51" dur="500" fill="hold"/>
                                        <p:tgtEl>
                                          <p:spTgt spid="19"/>
                                        </p:tgtEl>
                                        <p:attrNameLst>
                                          <p:attrName>ppt_x</p:attrName>
                                        </p:attrNameLst>
                                      </p:cBhvr>
                                      <p:tavLst>
                                        <p:tav tm="0">
                                          <p:val>
                                            <p:strVal val="#ppt_x"/>
                                          </p:val>
                                        </p:tav>
                                        <p:tav tm="100000">
                                          <p:val>
                                            <p:strVal val="#ppt_x"/>
                                          </p:val>
                                        </p:tav>
                                      </p:tavLst>
                                    </p:anim>
                                    <p:anim calcmode="lin" valueType="num">
                                      <p:cBhvr additive="base">
                                        <p:cTn id="52" dur="500" fill="hold"/>
                                        <p:tgtEl>
                                          <p:spTgt spid="19"/>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3" grpId="0" animBg="1"/>
      <p:bldP spid="13" grpId="1"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10D49-FC15-724E-6DF4-5F1C283D2BF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F6BC2F-DC52-3ACB-B482-8248E88230BC}"/>
              </a:ext>
            </a:extLst>
          </p:cNvPr>
          <p:cNvSpPr>
            <a:spLocks noGrp="1"/>
          </p:cNvSpPr>
          <p:nvPr>
            <p:ph type="sldNum" sz="quarter" idx="12"/>
          </p:nvPr>
        </p:nvSpPr>
        <p:spPr/>
        <p:txBody>
          <a:bodyPr/>
          <a:lstStyle/>
          <a:p>
            <a:fld id="{BFDBEA21-829B-6241-B888-D243749283AB}" type="slidenum">
              <a:rPr lang="id-ID" smtClean="0"/>
              <a:pPr/>
              <a:t>10</a:t>
            </a:fld>
            <a:endParaRPr lang="id-ID" dirty="0"/>
          </a:p>
        </p:txBody>
      </p:sp>
      <p:sp>
        <p:nvSpPr>
          <p:cNvPr id="4" name="Title 3">
            <a:extLst>
              <a:ext uri="{FF2B5EF4-FFF2-40B4-BE49-F238E27FC236}">
                <a16:creationId xmlns:a16="http://schemas.microsoft.com/office/drawing/2014/main" id="{37A2139D-B9FB-CACF-A438-72BFF64DBCDB}"/>
              </a:ext>
            </a:extLst>
          </p:cNvPr>
          <p:cNvSpPr>
            <a:spLocks noGrp="1"/>
          </p:cNvSpPr>
          <p:nvPr>
            <p:ph type="title"/>
          </p:nvPr>
        </p:nvSpPr>
        <p:spPr/>
        <p:txBody>
          <a:bodyPr/>
          <a:lstStyle/>
          <a:p>
            <a:pPr algn="ctr"/>
            <a:r>
              <a:rPr lang="en-US" b="1" dirty="0">
                <a:effectLst/>
              </a:rPr>
              <a:t>First-Token Probability Alignment</a:t>
            </a:r>
            <a:br>
              <a:rPr kumimoji="0" lang="en-US" sz="3600" b="0" i="0" u="none" strike="noStrike" kern="1200" cap="none" spc="0" normalizeH="0" baseline="0" noProof="0" dirty="0">
                <a:ln>
                  <a:noFill/>
                </a:ln>
                <a:solidFill>
                  <a:srgbClr val="156082"/>
                </a:solidFill>
                <a:effectLst/>
                <a:uLnTx/>
                <a:uFillTx/>
                <a:latin typeface="Raleway Medium"/>
                <a:ea typeface="+mj-ea"/>
                <a:cs typeface="+mj-cs"/>
              </a:rPr>
            </a:br>
            <a:r>
              <a:rPr lang="en-US" altLang="zh-CN" sz="1800" b="0" kern="1200" dirty="0"/>
              <a:t>Technical solution for better distributional accuracy</a:t>
            </a:r>
            <a:endParaRPr lang="en-CN" dirty="0"/>
          </a:p>
        </p:txBody>
      </p:sp>
      <p:sp>
        <p:nvSpPr>
          <p:cNvPr id="12" name="TextBox 11">
            <a:extLst>
              <a:ext uri="{FF2B5EF4-FFF2-40B4-BE49-F238E27FC236}">
                <a16:creationId xmlns:a16="http://schemas.microsoft.com/office/drawing/2014/main" id="{8509AE3D-1F96-8B9F-2EED-5FB82CC939F6}"/>
              </a:ext>
            </a:extLst>
          </p:cNvPr>
          <p:cNvSpPr txBox="1"/>
          <p:nvPr/>
        </p:nvSpPr>
        <p:spPr>
          <a:xfrm>
            <a:off x="6096000" y="1712291"/>
            <a:ext cx="5078876" cy="1754326"/>
          </a:xfrm>
          <a:prstGeom prst="rect">
            <a:avLst/>
          </a:prstGeom>
          <a:noFill/>
        </p:spPr>
        <p:txBody>
          <a:bodyPr wrap="square">
            <a:spAutoFit/>
          </a:bodyPr>
          <a:lstStyle/>
          <a:p>
            <a:pPr algn="just"/>
            <a:r>
              <a:rPr lang="en-US" b="1" dirty="0">
                <a:effectLst/>
              </a:rPr>
              <a:t>RQ3</a:t>
            </a:r>
            <a:r>
              <a:rPr lang="en-US" b="1" dirty="0"/>
              <a:t>:</a:t>
            </a:r>
            <a:r>
              <a:rPr lang="en-US" dirty="0">
                <a:effectLst/>
              </a:rPr>
              <a:t> </a:t>
            </a:r>
            <a:r>
              <a:rPr lang="en-US" b="1" dirty="0"/>
              <a:t>F</a:t>
            </a:r>
            <a:r>
              <a:rPr lang="en-US" b="1" dirty="0">
                <a:effectLst/>
              </a:rPr>
              <a:t>ine-tunes </a:t>
            </a:r>
            <a:r>
              <a:rPr lang="en-US" dirty="0">
                <a:effectLst/>
              </a:rPr>
              <a:t>LLMs to align predicted distributions with human data. </a:t>
            </a:r>
          </a:p>
          <a:p>
            <a:pPr algn="just"/>
            <a:endParaRPr lang="en-US" dirty="0"/>
          </a:p>
          <a:p>
            <a:pPr algn="just"/>
            <a:r>
              <a:rPr lang="en-US" dirty="0">
                <a:effectLst/>
              </a:rPr>
              <a:t>Minimizes </a:t>
            </a:r>
            <a:r>
              <a:rPr lang="en-US" b="1" dirty="0">
                <a:effectLst/>
              </a:rPr>
              <a:t>divergence</a:t>
            </a:r>
            <a:r>
              <a:rPr lang="en-US" dirty="0">
                <a:effectLst/>
              </a:rPr>
              <a:t> using 1-Jensen-Shannon Distance (1-JSD); tested on WVS datasets for country-level accuracy.</a:t>
            </a:r>
          </a:p>
        </p:txBody>
      </p:sp>
      <p:pic>
        <p:nvPicPr>
          <p:cNvPr id="6" name="Picture 5" descr="A diagram of a question&#10;&#10;Description automatically generated">
            <a:extLst>
              <a:ext uri="{FF2B5EF4-FFF2-40B4-BE49-F238E27FC236}">
                <a16:creationId xmlns:a16="http://schemas.microsoft.com/office/drawing/2014/main" id="{72C41431-45F8-A228-622A-B86D96CE37DB}"/>
              </a:ext>
            </a:extLst>
          </p:cNvPr>
          <p:cNvPicPr>
            <a:picLocks noChangeAspect="1"/>
          </p:cNvPicPr>
          <p:nvPr/>
        </p:nvPicPr>
        <p:blipFill>
          <a:blip r:embed="rId3"/>
          <a:stretch>
            <a:fillRect/>
          </a:stretch>
        </p:blipFill>
        <p:spPr>
          <a:xfrm>
            <a:off x="454080" y="1712291"/>
            <a:ext cx="5454079" cy="4401429"/>
          </a:xfrm>
          <a:prstGeom prst="rect">
            <a:avLst/>
          </a:prstGeom>
        </p:spPr>
      </p:pic>
      <p:pic>
        <p:nvPicPr>
          <p:cNvPr id="3" name="Picture 2" descr="A table with numbers and letters&#10;&#10;Description automatically generated">
            <a:extLst>
              <a:ext uri="{FF2B5EF4-FFF2-40B4-BE49-F238E27FC236}">
                <a16:creationId xmlns:a16="http://schemas.microsoft.com/office/drawing/2014/main" id="{77A8A3FA-2651-2077-2044-C76DB90394B0}"/>
              </a:ext>
            </a:extLst>
          </p:cNvPr>
          <p:cNvPicPr>
            <a:picLocks noChangeAspect="1"/>
          </p:cNvPicPr>
          <p:nvPr/>
        </p:nvPicPr>
        <p:blipFill>
          <a:blip r:embed="rId4"/>
          <a:stretch>
            <a:fillRect/>
          </a:stretch>
        </p:blipFill>
        <p:spPr>
          <a:xfrm>
            <a:off x="6335396" y="3429000"/>
            <a:ext cx="4600083" cy="2883372"/>
          </a:xfrm>
          <a:prstGeom prst="rect">
            <a:avLst/>
          </a:prstGeom>
        </p:spPr>
      </p:pic>
    </p:spTree>
    <p:extLst>
      <p:ext uri="{BB962C8B-B14F-4D97-AF65-F5344CB8AC3E}">
        <p14:creationId xmlns:p14="http://schemas.microsoft.com/office/powerpoint/2010/main" val="4189881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6FFE6-28BA-0C32-9AE2-BF774685A6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22EDB7-7467-12DB-E020-6B0E6157FECF}"/>
              </a:ext>
            </a:extLst>
          </p:cNvPr>
          <p:cNvSpPr>
            <a:spLocks noGrp="1"/>
          </p:cNvSpPr>
          <p:nvPr>
            <p:ph type="sldNum" sz="quarter" idx="12"/>
          </p:nvPr>
        </p:nvSpPr>
        <p:spPr/>
        <p:txBody>
          <a:bodyPr/>
          <a:lstStyle/>
          <a:p>
            <a:fld id="{BFDBEA21-829B-6241-B888-D243749283AB}" type="slidenum">
              <a:rPr lang="id-ID" smtClean="0"/>
              <a:pPr/>
              <a:t>11</a:t>
            </a:fld>
            <a:endParaRPr lang="id-ID" dirty="0"/>
          </a:p>
        </p:txBody>
      </p:sp>
      <p:sp>
        <p:nvSpPr>
          <p:cNvPr id="4" name="Title 3">
            <a:extLst>
              <a:ext uri="{FF2B5EF4-FFF2-40B4-BE49-F238E27FC236}">
                <a16:creationId xmlns:a16="http://schemas.microsoft.com/office/drawing/2014/main" id="{CAC4E06F-CED3-4965-3451-B4F0442FE770}"/>
              </a:ext>
            </a:extLst>
          </p:cNvPr>
          <p:cNvSpPr>
            <a:spLocks noGrp="1"/>
          </p:cNvSpPr>
          <p:nvPr>
            <p:ph type="title"/>
          </p:nvPr>
        </p:nvSpPr>
        <p:spPr/>
        <p:txBody>
          <a:bodyPr/>
          <a:lstStyle/>
          <a:p>
            <a:pPr algn="ctr"/>
            <a:r>
              <a:rPr lang="en-US" b="1" dirty="0">
                <a:effectLst/>
              </a:rPr>
              <a:t>Multi-</a:t>
            </a:r>
            <a:r>
              <a:rPr lang="en-US" b="1" dirty="0" err="1">
                <a:effectLst/>
              </a:rPr>
              <a:t>stAge</a:t>
            </a:r>
            <a:r>
              <a:rPr lang="en-US" b="1" dirty="0">
                <a:effectLst/>
              </a:rPr>
              <a:t> Reasoning </a:t>
            </a:r>
            <a:r>
              <a:rPr lang="en-US" b="1" dirty="0" err="1">
                <a:effectLst/>
              </a:rPr>
              <a:t>frameworK</a:t>
            </a:r>
            <a:br>
              <a:rPr kumimoji="0" lang="en-US" sz="3600" b="0" i="0" u="none" strike="noStrike" kern="1200" cap="none" spc="0" normalizeH="0" baseline="0" noProof="0" dirty="0">
                <a:ln>
                  <a:noFill/>
                </a:ln>
                <a:solidFill>
                  <a:srgbClr val="156082"/>
                </a:solidFill>
                <a:effectLst/>
                <a:uLnTx/>
                <a:uFillTx/>
                <a:latin typeface="Raleway Medium"/>
                <a:ea typeface="+mj-ea"/>
                <a:cs typeface="+mj-cs"/>
              </a:rPr>
            </a:br>
            <a:r>
              <a:rPr lang="en-US" sz="1800" dirty="0"/>
              <a:t>Provides</a:t>
            </a:r>
            <a:r>
              <a:rPr lang="en-US" sz="1800" dirty="0">
                <a:solidFill>
                  <a:srgbClr val="156082"/>
                </a:solidFill>
                <a:latin typeface="Raleway Medium"/>
              </a:rPr>
              <a:t> </a:t>
            </a:r>
            <a:r>
              <a:rPr lang="en-US" sz="1800" dirty="0"/>
              <a:t>explainable, personality-driven reasoning</a:t>
            </a:r>
            <a:endParaRPr lang="en-CN" dirty="0"/>
          </a:p>
        </p:txBody>
      </p:sp>
      <p:sp>
        <p:nvSpPr>
          <p:cNvPr id="12" name="TextBox 11">
            <a:extLst>
              <a:ext uri="{FF2B5EF4-FFF2-40B4-BE49-F238E27FC236}">
                <a16:creationId xmlns:a16="http://schemas.microsoft.com/office/drawing/2014/main" id="{3EBC44A8-CBF4-899B-4863-0AD9E552F956}"/>
              </a:ext>
            </a:extLst>
          </p:cNvPr>
          <p:cNvSpPr txBox="1"/>
          <p:nvPr/>
        </p:nvSpPr>
        <p:spPr>
          <a:xfrm>
            <a:off x="5148184" y="1659129"/>
            <a:ext cx="6628484" cy="1477328"/>
          </a:xfrm>
          <a:prstGeom prst="rect">
            <a:avLst/>
          </a:prstGeom>
          <a:noFill/>
        </p:spPr>
        <p:txBody>
          <a:bodyPr wrap="square">
            <a:spAutoFit/>
          </a:bodyPr>
          <a:lstStyle/>
          <a:p>
            <a:pPr algn="just"/>
            <a:r>
              <a:rPr lang="en-US" b="1" dirty="0">
                <a:effectLst/>
              </a:rPr>
              <a:t>RQ3</a:t>
            </a:r>
            <a:r>
              <a:rPr lang="en-US" b="1" dirty="0"/>
              <a:t>:</a:t>
            </a:r>
            <a:r>
              <a:rPr lang="en-US" dirty="0">
                <a:effectLst/>
              </a:rPr>
              <a:t> </a:t>
            </a:r>
            <a:r>
              <a:rPr lang="en-US" dirty="0"/>
              <a:t>E</a:t>
            </a:r>
            <a:r>
              <a:rPr lang="en-US" dirty="0">
                <a:effectLst/>
              </a:rPr>
              <a:t>nhances </a:t>
            </a:r>
            <a:r>
              <a:rPr lang="en-US" b="1" dirty="0">
                <a:effectLst/>
              </a:rPr>
              <a:t>interpretability</a:t>
            </a:r>
            <a:r>
              <a:rPr lang="en-US" dirty="0">
                <a:effectLst/>
              </a:rPr>
              <a:t> via personality-driven (MBTI-based) multi-stage reasoning. </a:t>
            </a:r>
          </a:p>
          <a:p>
            <a:pPr algn="just"/>
            <a:endParaRPr lang="en-US" dirty="0"/>
          </a:p>
          <a:p>
            <a:pPr algn="just"/>
            <a:r>
              <a:rPr lang="en-US" dirty="0">
                <a:effectLst/>
              </a:rPr>
              <a:t>Simulates </a:t>
            </a:r>
            <a:r>
              <a:rPr lang="en-US" b="1" dirty="0">
                <a:effectLst/>
              </a:rPr>
              <a:t>cognitive processes </a:t>
            </a:r>
            <a:r>
              <a:rPr lang="en-US" dirty="0">
                <a:effectLst/>
              </a:rPr>
              <a:t>under stress; integrates explanation synthesis for accountable decisions.</a:t>
            </a:r>
          </a:p>
        </p:txBody>
      </p:sp>
      <p:pic>
        <p:nvPicPr>
          <p:cNvPr id="6" name="Picture 5">
            <a:extLst>
              <a:ext uri="{FF2B5EF4-FFF2-40B4-BE49-F238E27FC236}">
                <a16:creationId xmlns:a16="http://schemas.microsoft.com/office/drawing/2014/main" id="{280A4EA2-B10B-55A9-D9B0-FE66B52D1AF3}"/>
              </a:ext>
            </a:extLst>
          </p:cNvPr>
          <p:cNvPicPr>
            <a:picLocks noChangeAspect="1"/>
          </p:cNvPicPr>
          <p:nvPr/>
        </p:nvPicPr>
        <p:blipFill>
          <a:blip r:embed="rId3"/>
          <a:srcRect/>
          <a:stretch/>
        </p:blipFill>
        <p:spPr>
          <a:xfrm>
            <a:off x="454521" y="1659129"/>
            <a:ext cx="4693662" cy="4656537"/>
          </a:xfrm>
          <a:prstGeom prst="rect">
            <a:avLst/>
          </a:prstGeom>
        </p:spPr>
      </p:pic>
      <p:pic>
        <p:nvPicPr>
          <p:cNvPr id="3" name="Picture 2" descr="A table with numbers and symbols&#10;&#10;Description automatically generated">
            <a:extLst>
              <a:ext uri="{FF2B5EF4-FFF2-40B4-BE49-F238E27FC236}">
                <a16:creationId xmlns:a16="http://schemas.microsoft.com/office/drawing/2014/main" id="{FF28B45D-15BE-0F1B-A14E-94D0318A2FDD}"/>
              </a:ext>
            </a:extLst>
          </p:cNvPr>
          <p:cNvPicPr>
            <a:picLocks noChangeAspect="1"/>
          </p:cNvPicPr>
          <p:nvPr/>
        </p:nvPicPr>
        <p:blipFill>
          <a:blip r:embed="rId4"/>
          <a:stretch>
            <a:fillRect/>
          </a:stretch>
        </p:blipFill>
        <p:spPr>
          <a:xfrm>
            <a:off x="5148183" y="3117975"/>
            <a:ext cx="6628485" cy="1152656"/>
          </a:xfrm>
          <a:prstGeom prst="rect">
            <a:avLst/>
          </a:prstGeom>
        </p:spPr>
      </p:pic>
      <p:pic>
        <p:nvPicPr>
          <p:cNvPr id="5" name="Picture 4" descr="A graph of different colored lines&#10;&#10;Description automatically generated">
            <a:extLst>
              <a:ext uri="{FF2B5EF4-FFF2-40B4-BE49-F238E27FC236}">
                <a16:creationId xmlns:a16="http://schemas.microsoft.com/office/drawing/2014/main" id="{1217EA97-8893-BFCD-8792-15FBF7773768}"/>
              </a:ext>
            </a:extLst>
          </p:cNvPr>
          <p:cNvPicPr>
            <a:picLocks noChangeAspect="1"/>
          </p:cNvPicPr>
          <p:nvPr/>
        </p:nvPicPr>
        <p:blipFill>
          <a:blip r:embed="rId5"/>
          <a:stretch>
            <a:fillRect/>
          </a:stretch>
        </p:blipFill>
        <p:spPr>
          <a:xfrm>
            <a:off x="5358147" y="4270631"/>
            <a:ext cx="6208557" cy="2045035"/>
          </a:xfrm>
          <a:prstGeom prst="rect">
            <a:avLst/>
          </a:prstGeom>
        </p:spPr>
      </p:pic>
    </p:spTree>
    <p:extLst>
      <p:ext uri="{BB962C8B-B14F-4D97-AF65-F5344CB8AC3E}">
        <p14:creationId xmlns:p14="http://schemas.microsoft.com/office/powerpoint/2010/main" val="3832370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9C0694-C0F4-D43C-075F-5F3015A2E7EA}"/>
              </a:ext>
            </a:extLst>
          </p:cNvPr>
          <p:cNvSpPr>
            <a:spLocks noGrp="1"/>
          </p:cNvSpPr>
          <p:nvPr>
            <p:ph type="sldNum" sz="quarter" idx="12"/>
          </p:nvPr>
        </p:nvSpPr>
        <p:spPr/>
        <p:txBody>
          <a:bodyPr/>
          <a:lstStyle/>
          <a:p>
            <a:fld id="{BFDBEA21-829B-6241-B888-D243749283AB}" type="slidenum">
              <a:rPr lang="id-ID" smtClean="0"/>
              <a:pPr/>
              <a:t>12</a:t>
            </a:fld>
            <a:endParaRPr lang="id-ID" dirty="0"/>
          </a:p>
        </p:txBody>
      </p:sp>
      <p:sp>
        <p:nvSpPr>
          <p:cNvPr id="3" name="Title 2">
            <a:extLst>
              <a:ext uri="{FF2B5EF4-FFF2-40B4-BE49-F238E27FC236}">
                <a16:creationId xmlns:a16="http://schemas.microsoft.com/office/drawing/2014/main" id="{5A73D588-C464-C647-FAA9-BA282E55B14F}"/>
              </a:ext>
            </a:extLst>
          </p:cNvPr>
          <p:cNvSpPr>
            <a:spLocks noGrp="1"/>
          </p:cNvSpPr>
          <p:nvPr>
            <p:ph type="title"/>
          </p:nvPr>
        </p:nvSpPr>
        <p:spPr/>
        <p:txBody>
          <a:bodyPr/>
          <a:lstStyle/>
          <a:p>
            <a:pPr algn="ctr"/>
            <a:r>
              <a:rPr lang="en-US" b="1" dirty="0"/>
              <a:t>Universal Gaps &amp; Regional Divergences</a:t>
            </a:r>
            <a:br>
              <a:rPr lang="en-US" dirty="0"/>
            </a:br>
            <a:r>
              <a:rPr lang="en-US" sz="2400" dirty="0"/>
              <a:t>Neither paradigm achieves robust cross-cultural generalization</a:t>
            </a:r>
            <a:endParaRPr lang="en-CN" dirty="0"/>
          </a:p>
        </p:txBody>
      </p:sp>
      <p:pic>
        <p:nvPicPr>
          <p:cNvPr id="5" name="Picture 4" descr="A diagram of key findings summary&#10;&#10;Description automatically generated">
            <a:extLst>
              <a:ext uri="{FF2B5EF4-FFF2-40B4-BE49-F238E27FC236}">
                <a16:creationId xmlns:a16="http://schemas.microsoft.com/office/drawing/2014/main" id="{6A29F859-6731-5120-09A5-F049290665F5}"/>
              </a:ext>
            </a:extLst>
          </p:cNvPr>
          <p:cNvPicPr>
            <a:picLocks noChangeAspect="1"/>
          </p:cNvPicPr>
          <p:nvPr/>
        </p:nvPicPr>
        <p:blipFill>
          <a:blip r:embed="rId3"/>
          <a:srcRect l="1775" r="3929"/>
          <a:stretch/>
        </p:blipFill>
        <p:spPr>
          <a:xfrm>
            <a:off x="333610" y="1761934"/>
            <a:ext cx="8261498" cy="4721707"/>
          </a:xfrm>
          <a:prstGeom prst="rect">
            <a:avLst/>
          </a:prstGeom>
        </p:spPr>
      </p:pic>
      <p:sp>
        <p:nvSpPr>
          <p:cNvPr id="6" name="Text 3">
            <a:extLst>
              <a:ext uri="{FF2B5EF4-FFF2-40B4-BE49-F238E27FC236}">
                <a16:creationId xmlns:a16="http://schemas.microsoft.com/office/drawing/2014/main" id="{832FB6A7-FC6D-FE9A-C9CA-BFA31C8D11AF}"/>
              </a:ext>
            </a:extLst>
          </p:cNvPr>
          <p:cNvSpPr/>
          <p:nvPr/>
        </p:nvSpPr>
        <p:spPr>
          <a:xfrm>
            <a:off x="8637640" y="1783200"/>
            <a:ext cx="5359400" cy="355600"/>
          </a:xfrm>
          <a:prstGeom prst="rect">
            <a:avLst/>
          </a:prstGeom>
          <a:noFill/>
          <a:ln/>
        </p:spPr>
        <p:txBody>
          <a:bodyPr wrap="square" lIns="0" tIns="0" rIns="0" bIns="0" rtlCol="0" anchor="ctr"/>
          <a:lstStyle/>
          <a:p>
            <a:pPr>
              <a:lnSpc>
                <a:spcPct val="120000"/>
              </a:lnSpc>
            </a:pPr>
            <a:r>
              <a:rPr lang="en-US" sz="2000" b="1" dirty="0">
                <a:solidFill>
                  <a:srgbClr val="4A90E2"/>
                </a:solidFill>
                <a:latin typeface="Noto Sans SC" pitchFamily="34" charset="0"/>
                <a:ea typeface="Noto Sans SC" pitchFamily="34" charset="-122"/>
                <a:cs typeface="Noto Sans SC" pitchFamily="34" charset="-120"/>
              </a:rPr>
              <a:t>Universal Challenges</a:t>
            </a:r>
            <a:endParaRPr lang="en-US" sz="1600" dirty="0"/>
          </a:p>
        </p:txBody>
      </p:sp>
      <p:sp>
        <p:nvSpPr>
          <p:cNvPr id="7" name="Shape 4">
            <a:extLst>
              <a:ext uri="{FF2B5EF4-FFF2-40B4-BE49-F238E27FC236}">
                <a16:creationId xmlns:a16="http://schemas.microsoft.com/office/drawing/2014/main" id="{17664391-9BA7-1340-F547-128A61B89D51}"/>
              </a:ext>
            </a:extLst>
          </p:cNvPr>
          <p:cNvSpPr/>
          <p:nvPr/>
        </p:nvSpPr>
        <p:spPr>
          <a:xfrm>
            <a:off x="8650340" y="234200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57993" y="57993"/>
                </a:moveTo>
                <a:cubicBezTo>
                  <a:pt x="61258" y="54729"/>
                  <a:pt x="66536" y="54729"/>
                  <a:pt x="69766" y="57993"/>
                </a:cubicBezTo>
                <a:lnTo>
                  <a:pt x="88865" y="77093"/>
                </a:lnTo>
                <a:lnTo>
                  <a:pt x="107965" y="57993"/>
                </a:lnTo>
                <a:cubicBezTo>
                  <a:pt x="111229" y="54729"/>
                  <a:pt x="116508" y="54729"/>
                  <a:pt x="119737" y="57993"/>
                </a:cubicBezTo>
                <a:cubicBezTo>
                  <a:pt x="122967" y="61258"/>
                  <a:pt x="123001" y="66536"/>
                  <a:pt x="119737" y="69766"/>
                </a:cubicBezTo>
                <a:lnTo>
                  <a:pt x="100638" y="88865"/>
                </a:lnTo>
                <a:lnTo>
                  <a:pt x="119737" y="107965"/>
                </a:lnTo>
                <a:cubicBezTo>
                  <a:pt x="123001" y="111229"/>
                  <a:pt x="123001" y="116508"/>
                  <a:pt x="119737" y="119737"/>
                </a:cubicBezTo>
                <a:cubicBezTo>
                  <a:pt x="116473" y="122967"/>
                  <a:pt x="111194" y="123001"/>
                  <a:pt x="107965" y="119737"/>
                </a:cubicBezTo>
                <a:lnTo>
                  <a:pt x="88865" y="100638"/>
                </a:lnTo>
                <a:lnTo>
                  <a:pt x="69766" y="119737"/>
                </a:lnTo>
                <a:cubicBezTo>
                  <a:pt x="66501" y="123001"/>
                  <a:pt x="61223" y="123001"/>
                  <a:pt x="57993" y="119737"/>
                </a:cubicBezTo>
                <a:cubicBezTo>
                  <a:pt x="54764" y="116473"/>
                  <a:pt x="54729" y="111194"/>
                  <a:pt x="57993" y="107965"/>
                </a:cubicBezTo>
                <a:lnTo>
                  <a:pt x="77093" y="88865"/>
                </a:lnTo>
                <a:lnTo>
                  <a:pt x="57993" y="69766"/>
                </a:lnTo>
                <a:cubicBezTo>
                  <a:pt x="54729" y="66501"/>
                  <a:pt x="54729" y="61223"/>
                  <a:pt x="57993" y="57993"/>
                </a:cubicBezTo>
                <a:close/>
              </a:path>
            </a:pathLst>
          </a:custGeom>
          <a:solidFill>
            <a:srgbClr val="4A90E2"/>
          </a:solidFill>
          <a:ln/>
        </p:spPr>
      </p:sp>
      <p:sp>
        <p:nvSpPr>
          <p:cNvPr id="8" name="Text 5">
            <a:extLst>
              <a:ext uri="{FF2B5EF4-FFF2-40B4-BE49-F238E27FC236}">
                <a16:creationId xmlns:a16="http://schemas.microsoft.com/office/drawing/2014/main" id="{4B0F3A54-130B-5804-45EE-127BFFB41746}"/>
              </a:ext>
            </a:extLst>
          </p:cNvPr>
          <p:cNvSpPr/>
          <p:nvPr/>
        </p:nvSpPr>
        <p:spPr>
          <a:xfrm>
            <a:off x="8947401" y="2291199"/>
            <a:ext cx="2791788" cy="438591"/>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Value Instability:</a:t>
            </a:r>
            <a:r>
              <a:rPr lang="en-US" sz="1400" dirty="0">
                <a:solidFill>
                  <a:srgbClr val="333333"/>
                </a:solidFill>
                <a:highlight>
                  <a:srgbClr val="87CEEB">
                    <a:alpha val="100000"/>
                  </a:srgbClr>
                </a:highlight>
                <a:latin typeface="MiSans" pitchFamily="34" charset="0"/>
                <a:ea typeface="MiSans" pitchFamily="34" charset="-122"/>
                <a:cs typeface="MiSans" pitchFamily="34" charset="-120"/>
              </a:rPr>
              <a:t> 5-20% </a:t>
            </a:r>
            <a:r>
              <a:rPr lang="en-US" sz="1400" dirty="0">
                <a:solidFill>
                  <a:srgbClr val="333333"/>
                </a:solidFill>
                <a:latin typeface="MiSans" pitchFamily="34" charset="0"/>
                <a:ea typeface="MiSans" pitchFamily="34" charset="-122"/>
                <a:cs typeface="MiSans" pitchFamily="34" charset="-120"/>
              </a:rPr>
              <a:t>flip choices when consequences change.</a:t>
            </a:r>
            <a:endParaRPr lang="en-US" sz="1600" dirty="0"/>
          </a:p>
        </p:txBody>
      </p:sp>
      <p:sp>
        <p:nvSpPr>
          <p:cNvPr id="9" name="Shape 6">
            <a:extLst>
              <a:ext uri="{FF2B5EF4-FFF2-40B4-BE49-F238E27FC236}">
                <a16:creationId xmlns:a16="http://schemas.microsoft.com/office/drawing/2014/main" id="{EA229095-F18C-846B-6BAA-0D6F419F5D98}"/>
              </a:ext>
            </a:extLst>
          </p:cNvPr>
          <p:cNvSpPr/>
          <p:nvPr/>
        </p:nvSpPr>
        <p:spPr>
          <a:xfrm>
            <a:off x="8656690" y="2845270"/>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57993" y="57993"/>
                </a:moveTo>
                <a:cubicBezTo>
                  <a:pt x="61258" y="54729"/>
                  <a:pt x="66536" y="54729"/>
                  <a:pt x="69766" y="57993"/>
                </a:cubicBezTo>
                <a:lnTo>
                  <a:pt x="88865" y="77093"/>
                </a:lnTo>
                <a:lnTo>
                  <a:pt x="107965" y="57993"/>
                </a:lnTo>
                <a:cubicBezTo>
                  <a:pt x="111229" y="54729"/>
                  <a:pt x="116508" y="54729"/>
                  <a:pt x="119737" y="57993"/>
                </a:cubicBezTo>
                <a:cubicBezTo>
                  <a:pt x="122967" y="61258"/>
                  <a:pt x="123001" y="66536"/>
                  <a:pt x="119737" y="69766"/>
                </a:cubicBezTo>
                <a:lnTo>
                  <a:pt x="100638" y="88865"/>
                </a:lnTo>
                <a:lnTo>
                  <a:pt x="119737" y="107965"/>
                </a:lnTo>
                <a:cubicBezTo>
                  <a:pt x="123001" y="111229"/>
                  <a:pt x="123001" y="116508"/>
                  <a:pt x="119737" y="119737"/>
                </a:cubicBezTo>
                <a:cubicBezTo>
                  <a:pt x="116473" y="122967"/>
                  <a:pt x="111194" y="123001"/>
                  <a:pt x="107965" y="119737"/>
                </a:cubicBezTo>
                <a:lnTo>
                  <a:pt x="88865" y="100638"/>
                </a:lnTo>
                <a:lnTo>
                  <a:pt x="69766" y="119737"/>
                </a:lnTo>
                <a:cubicBezTo>
                  <a:pt x="66501" y="123001"/>
                  <a:pt x="61223" y="123001"/>
                  <a:pt x="57993" y="119737"/>
                </a:cubicBezTo>
                <a:cubicBezTo>
                  <a:pt x="54764" y="116473"/>
                  <a:pt x="54729" y="111194"/>
                  <a:pt x="57993" y="107965"/>
                </a:cubicBezTo>
                <a:lnTo>
                  <a:pt x="77093" y="88865"/>
                </a:lnTo>
                <a:lnTo>
                  <a:pt x="57993" y="69766"/>
                </a:lnTo>
                <a:cubicBezTo>
                  <a:pt x="54729" y="66501"/>
                  <a:pt x="54729" y="61223"/>
                  <a:pt x="57993" y="57993"/>
                </a:cubicBezTo>
                <a:close/>
              </a:path>
            </a:pathLst>
          </a:custGeom>
          <a:solidFill>
            <a:srgbClr val="4A90E2"/>
          </a:solidFill>
          <a:ln/>
        </p:spPr>
      </p:sp>
      <p:sp>
        <p:nvSpPr>
          <p:cNvPr id="10" name="Text 7">
            <a:extLst>
              <a:ext uri="{FF2B5EF4-FFF2-40B4-BE49-F238E27FC236}">
                <a16:creationId xmlns:a16="http://schemas.microsoft.com/office/drawing/2014/main" id="{4D5208F8-7021-0128-7E78-817A8F44EC33}"/>
              </a:ext>
            </a:extLst>
          </p:cNvPr>
          <p:cNvSpPr/>
          <p:nvPr/>
        </p:nvSpPr>
        <p:spPr>
          <a:xfrm>
            <a:off x="8952759" y="2794469"/>
            <a:ext cx="2784720" cy="487323"/>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Demographic Bias:</a:t>
            </a:r>
            <a:r>
              <a:rPr lang="en-US" sz="1400" dirty="0">
                <a:solidFill>
                  <a:srgbClr val="333333"/>
                </a:solidFill>
                <a:latin typeface="MiSans" pitchFamily="34" charset="0"/>
                <a:ea typeface="MiSans" pitchFamily="34" charset="-122"/>
                <a:cs typeface="MiSans" pitchFamily="34" charset="-120"/>
              </a:rPr>
              <a:t> Under-represent people under 29 years old.</a:t>
            </a:r>
            <a:endParaRPr lang="en-US" sz="1600" dirty="0"/>
          </a:p>
        </p:txBody>
      </p:sp>
      <p:sp>
        <p:nvSpPr>
          <p:cNvPr id="11" name="Shape 8">
            <a:extLst>
              <a:ext uri="{FF2B5EF4-FFF2-40B4-BE49-F238E27FC236}">
                <a16:creationId xmlns:a16="http://schemas.microsoft.com/office/drawing/2014/main" id="{108BB1FE-7DD0-9652-F107-00B6DB567E15}"/>
              </a:ext>
            </a:extLst>
          </p:cNvPr>
          <p:cNvSpPr/>
          <p:nvPr/>
        </p:nvSpPr>
        <p:spPr>
          <a:xfrm>
            <a:off x="8663040" y="3369808"/>
            <a:ext cx="177800" cy="177800"/>
          </a:xfrm>
          <a:custGeom>
            <a:avLst/>
            <a:gdLst/>
            <a:ahLst/>
            <a:cxnLst/>
            <a:rect l="l" t="t" r="r" b="b"/>
            <a:pathLst>
              <a:path w="177800" h="177800">
                <a:moveTo>
                  <a:pt x="88900" y="177800"/>
                </a:moveTo>
                <a:cubicBezTo>
                  <a:pt x="137965" y="177800"/>
                  <a:pt x="177800" y="137965"/>
                  <a:pt x="177800" y="88900"/>
                </a:cubicBezTo>
                <a:cubicBezTo>
                  <a:pt x="177800" y="39835"/>
                  <a:pt x="137965" y="0"/>
                  <a:pt x="88900" y="0"/>
                </a:cubicBezTo>
                <a:cubicBezTo>
                  <a:pt x="39835" y="0"/>
                  <a:pt x="0" y="39835"/>
                  <a:pt x="0" y="88900"/>
                </a:cubicBezTo>
                <a:cubicBezTo>
                  <a:pt x="0" y="137965"/>
                  <a:pt x="39835" y="177800"/>
                  <a:pt x="88900" y="177800"/>
                </a:cubicBezTo>
                <a:close/>
                <a:moveTo>
                  <a:pt x="57993" y="57993"/>
                </a:moveTo>
                <a:cubicBezTo>
                  <a:pt x="61258" y="54729"/>
                  <a:pt x="66536" y="54729"/>
                  <a:pt x="69766" y="57993"/>
                </a:cubicBezTo>
                <a:lnTo>
                  <a:pt x="88865" y="77093"/>
                </a:lnTo>
                <a:lnTo>
                  <a:pt x="107965" y="57993"/>
                </a:lnTo>
                <a:cubicBezTo>
                  <a:pt x="111229" y="54729"/>
                  <a:pt x="116508" y="54729"/>
                  <a:pt x="119737" y="57993"/>
                </a:cubicBezTo>
                <a:cubicBezTo>
                  <a:pt x="122967" y="61258"/>
                  <a:pt x="123001" y="66536"/>
                  <a:pt x="119737" y="69766"/>
                </a:cubicBezTo>
                <a:lnTo>
                  <a:pt x="100638" y="88865"/>
                </a:lnTo>
                <a:lnTo>
                  <a:pt x="119737" y="107965"/>
                </a:lnTo>
                <a:cubicBezTo>
                  <a:pt x="123001" y="111229"/>
                  <a:pt x="123001" y="116508"/>
                  <a:pt x="119737" y="119737"/>
                </a:cubicBezTo>
                <a:cubicBezTo>
                  <a:pt x="116473" y="122967"/>
                  <a:pt x="111194" y="123001"/>
                  <a:pt x="107965" y="119737"/>
                </a:cubicBezTo>
                <a:lnTo>
                  <a:pt x="88865" y="100638"/>
                </a:lnTo>
                <a:lnTo>
                  <a:pt x="69766" y="119737"/>
                </a:lnTo>
                <a:cubicBezTo>
                  <a:pt x="66501" y="123001"/>
                  <a:pt x="61223" y="123001"/>
                  <a:pt x="57993" y="119737"/>
                </a:cubicBezTo>
                <a:cubicBezTo>
                  <a:pt x="54764" y="116473"/>
                  <a:pt x="54729" y="111194"/>
                  <a:pt x="57993" y="107965"/>
                </a:cubicBezTo>
                <a:lnTo>
                  <a:pt x="77093" y="88865"/>
                </a:lnTo>
                <a:lnTo>
                  <a:pt x="57993" y="69766"/>
                </a:lnTo>
                <a:cubicBezTo>
                  <a:pt x="54729" y="66501"/>
                  <a:pt x="54729" y="61223"/>
                  <a:pt x="57993" y="57993"/>
                </a:cubicBezTo>
                <a:close/>
              </a:path>
            </a:pathLst>
          </a:custGeom>
          <a:solidFill>
            <a:srgbClr val="4A90E2"/>
          </a:solidFill>
          <a:ln/>
        </p:spPr>
      </p:sp>
      <p:sp>
        <p:nvSpPr>
          <p:cNvPr id="12" name="Text 9">
            <a:extLst>
              <a:ext uri="{FF2B5EF4-FFF2-40B4-BE49-F238E27FC236}">
                <a16:creationId xmlns:a16="http://schemas.microsoft.com/office/drawing/2014/main" id="{8AA534E2-0048-4029-62C0-00FDEFF2B23B}"/>
              </a:ext>
            </a:extLst>
          </p:cNvPr>
          <p:cNvSpPr/>
          <p:nvPr/>
        </p:nvSpPr>
        <p:spPr>
          <a:xfrm>
            <a:off x="8961490" y="3319007"/>
            <a:ext cx="2494939" cy="487323"/>
          </a:xfrm>
          <a:prstGeom prst="rect">
            <a:avLst/>
          </a:prstGeom>
          <a:noFill/>
          <a:ln/>
        </p:spPr>
        <p:txBody>
          <a:bodyPr wrap="square" lIns="0" tIns="0" rIns="0" bIns="0" rtlCol="0" anchor="ctr"/>
          <a:lstStyle/>
          <a:p>
            <a:pPr>
              <a:lnSpc>
                <a:spcPct val="120000"/>
              </a:lnSpc>
            </a:pPr>
            <a:r>
              <a:rPr lang="en-US" sz="1400" b="1" dirty="0">
                <a:solidFill>
                  <a:srgbClr val="333333"/>
                </a:solidFill>
                <a:latin typeface="MiSans" pitchFamily="34" charset="0"/>
                <a:ea typeface="MiSans" pitchFamily="34" charset="-122"/>
                <a:cs typeface="MiSans" pitchFamily="34" charset="-120"/>
              </a:rPr>
              <a:t>Heuristic-Driven:</a:t>
            </a:r>
            <a:r>
              <a:rPr lang="en-US" sz="1400" dirty="0">
                <a:solidFill>
                  <a:srgbClr val="333333"/>
                </a:solidFill>
                <a:latin typeface="MiSans" pitchFamily="34" charset="0"/>
                <a:ea typeface="MiSans" pitchFamily="34" charset="-122"/>
                <a:cs typeface="MiSans" pitchFamily="34" charset="-120"/>
              </a:rPr>
              <a:t> Not principle-based moral reasoning.</a:t>
            </a:r>
            <a:endParaRPr lang="en-US" sz="1600" dirty="0"/>
          </a:p>
        </p:txBody>
      </p:sp>
      <p:sp>
        <p:nvSpPr>
          <p:cNvPr id="13" name="Text 12">
            <a:extLst>
              <a:ext uri="{FF2B5EF4-FFF2-40B4-BE49-F238E27FC236}">
                <a16:creationId xmlns:a16="http://schemas.microsoft.com/office/drawing/2014/main" id="{FC1D6997-D619-EE6F-9190-42787C3D5FD8}"/>
              </a:ext>
            </a:extLst>
          </p:cNvPr>
          <p:cNvSpPr/>
          <p:nvPr/>
        </p:nvSpPr>
        <p:spPr>
          <a:xfrm>
            <a:off x="8663040" y="3956365"/>
            <a:ext cx="3074439" cy="355600"/>
          </a:xfrm>
          <a:prstGeom prst="rect">
            <a:avLst/>
          </a:prstGeom>
          <a:noFill/>
          <a:ln/>
        </p:spPr>
        <p:txBody>
          <a:bodyPr wrap="square" lIns="0" tIns="0" rIns="0" bIns="0" rtlCol="0" anchor="ctr"/>
          <a:lstStyle/>
          <a:p>
            <a:pPr>
              <a:lnSpc>
                <a:spcPct val="120000"/>
              </a:lnSpc>
            </a:pPr>
            <a:r>
              <a:rPr lang="en-US" sz="2000" b="1" dirty="0">
                <a:solidFill>
                  <a:srgbClr val="4A90E2"/>
                </a:solidFill>
                <a:latin typeface="Noto Sans SC" pitchFamily="34" charset="0"/>
                <a:ea typeface="Noto Sans SC" pitchFamily="34" charset="-122"/>
                <a:cs typeface="Noto Sans SC" pitchFamily="34" charset="-120"/>
              </a:rPr>
              <a:t>Regional Divergences</a:t>
            </a:r>
            <a:endParaRPr lang="en-US" sz="1600" dirty="0"/>
          </a:p>
        </p:txBody>
      </p:sp>
      <p:sp>
        <p:nvSpPr>
          <p:cNvPr id="14" name="Text 13">
            <a:extLst>
              <a:ext uri="{FF2B5EF4-FFF2-40B4-BE49-F238E27FC236}">
                <a16:creationId xmlns:a16="http://schemas.microsoft.com/office/drawing/2014/main" id="{DE66855C-F6AA-5907-1ECD-8076EF33B9C0}"/>
              </a:ext>
            </a:extLst>
          </p:cNvPr>
          <p:cNvSpPr/>
          <p:nvPr/>
        </p:nvSpPr>
        <p:spPr>
          <a:xfrm>
            <a:off x="8637640" y="4304733"/>
            <a:ext cx="3059868" cy="304800"/>
          </a:xfrm>
          <a:prstGeom prst="rect">
            <a:avLst/>
          </a:prstGeom>
          <a:noFill/>
          <a:ln/>
        </p:spPr>
        <p:txBody>
          <a:bodyPr wrap="square" lIns="0" tIns="0" rIns="0" bIns="0" rtlCol="0" anchor="ctr"/>
          <a:lstStyle/>
          <a:p>
            <a:pPr>
              <a:lnSpc>
                <a:spcPct val="130000"/>
              </a:lnSpc>
            </a:pPr>
            <a:r>
              <a:rPr lang="en-US" sz="1600" b="1" dirty="0">
                <a:solidFill>
                  <a:srgbClr val="7B68EE"/>
                </a:solidFill>
                <a:latin typeface="MiSans" pitchFamily="34" charset="0"/>
                <a:ea typeface="MiSans" pitchFamily="34" charset="-122"/>
                <a:cs typeface="MiSans" pitchFamily="34" charset="-120"/>
              </a:rPr>
              <a:t>China Models (Qwen, DeepSeek)</a:t>
            </a:r>
            <a:endParaRPr lang="en-US" sz="1600" dirty="0"/>
          </a:p>
        </p:txBody>
      </p:sp>
      <p:sp>
        <p:nvSpPr>
          <p:cNvPr id="15" name="Text 14">
            <a:extLst>
              <a:ext uri="{FF2B5EF4-FFF2-40B4-BE49-F238E27FC236}">
                <a16:creationId xmlns:a16="http://schemas.microsoft.com/office/drawing/2014/main" id="{1D8F7DA8-E797-E866-7DBE-BB6036D5EFFD}"/>
              </a:ext>
            </a:extLst>
          </p:cNvPr>
          <p:cNvSpPr/>
          <p:nvPr/>
        </p:nvSpPr>
        <p:spPr>
          <a:xfrm>
            <a:off x="8663040" y="4609405"/>
            <a:ext cx="3045297" cy="694662"/>
          </a:xfrm>
          <a:prstGeom prst="rect">
            <a:avLst/>
          </a:prstGeom>
          <a:noFill/>
          <a:ln/>
        </p:spPr>
        <p:txBody>
          <a:bodyPr wrap="square" lIns="0" tIns="0" rIns="0" bIns="0" rtlCol="0" anchor="ctr"/>
          <a:lstStyle/>
          <a:p>
            <a:pPr indent="-457200">
              <a:lnSpc>
                <a:spcPct val="110000"/>
              </a:lnSpc>
            </a:pPr>
            <a:r>
              <a:rPr lang="en-US" sz="1200" dirty="0">
                <a:solidFill>
                  <a:srgbClr val="333333"/>
                </a:solidFill>
                <a:latin typeface="MiSans" pitchFamily="34" charset="0"/>
                <a:ea typeface="MiSans" pitchFamily="34" charset="-122"/>
                <a:cs typeface="MiSans" pitchFamily="34" charset="-120"/>
              </a:rPr>
              <a:t>✅ Multilingual data integration &amp; context-specific optimization. </a:t>
            </a:r>
          </a:p>
          <a:p>
            <a:pPr>
              <a:lnSpc>
                <a:spcPct val="110000"/>
              </a:lnSpc>
            </a:pPr>
            <a:r>
              <a:rPr lang="en-US" sz="1200" dirty="0">
                <a:solidFill>
                  <a:srgbClr val="333333"/>
                </a:solidFill>
                <a:latin typeface="MiSans" pitchFamily="34" charset="0"/>
                <a:ea typeface="MiSans" pitchFamily="34" charset="-122"/>
                <a:cs typeface="MiSans" pitchFamily="34" charset="-120"/>
              </a:rPr>
              <a:t>⚠️ Limited cross-cultural transfer.</a:t>
            </a:r>
            <a:endParaRPr lang="en-US" sz="1600" dirty="0"/>
          </a:p>
        </p:txBody>
      </p:sp>
      <p:sp>
        <p:nvSpPr>
          <p:cNvPr id="16" name="Text 15">
            <a:extLst>
              <a:ext uri="{FF2B5EF4-FFF2-40B4-BE49-F238E27FC236}">
                <a16:creationId xmlns:a16="http://schemas.microsoft.com/office/drawing/2014/main" id="{6E8C75E3-7460-34BD-5EDA-AEA66E062642}"/>
              </a:ext>
            </a:extLst>
          </p:cNvPr>
          <p:cNvSpPr/>
          <p:nvPr/>
        </p:nvSpPr>
        <p:spPr>
          <a:xfrm>
            <a:off x="8663040" y="5327965"/>
            <a:ext cx="3045297" cy="304799"/>
          </a:xfrm>
          <a:prstGeom prst="rect">
            <a:avLst/>
          </a:prstGeom>
          <a:noFill/>
          <a:ln/>
        </p:spPr>
        <p:txBody>
          <a:bodyPr wrap="square" lIns="0" tIns="0" rIns="0" bIns="0" rtlCol="0" anchor="ctr"/>
          <a:lstStyle/>
          <a:p>
            <a:pPr>
              <a:lnSpc>
                <a:spcPct val="130000"/>
              </a:lnSpc>
            </a:pPr>
            <a:r>
              <a:rPr lang="en-US" sz="1600" b="1" dirty="0">
                <a:solidFill>
                  <a:srgbClr val="7B68EE"/>
                </a:solidFill>
                <a:latin typeface="MiSans" pitchFamily="34" charset="0"/>
                <a:ea typeface="MiSans" pitchFamily="34" charset="-122"/>
                <a:cs typeface="MiSans" pitchFamily="34" charset="-120"/>
              </a:rPr>
              <a:t>Western Models (GPT-4o, Claude)</a:t>
            </a:r>
            <a:endParaRPr lang="en-US" sz="1600" dirty="0"/>
          </a:p>
        </p:txBody>
      </p:sp>
      <p:sp>
        <p:nvSpPr>
          <p:cNvPr id="17" name="Text 16">
            <a:extLst>
              <a:ext uri="{FF2B5EF4-FFF2-40B4-BE49-F238E27FC236}">
                <a16:creationId xmlns:a16="http://schemas.microsoft.com/office/drawing/2014/main" id="{115BC894-54A6-A3B9-6E0B-2013B06CB8AE}"/>
              </a:ext>
            </a:extLst>
          </p:cNvPr>
          <p:cNvSpPr/>
          <p:nvPr/>
        </p:nvSpPr>
        <p:spPr>
          <a:xfrm>
            <a:off x="8663040" y="5632764"/>
            <a:ext cx="3045297" cy="507999"/>
          </a:xfrm>
          <a:prstGeom prst="rect">
            <a:avLst/>
          </a:prstGeom>
          <a:noFill/>
          <a:ln/>
        </p:spPr>
        <p:txBody>
          <a:bodyPr wrap="square" lIns="0" tIns="0" rIns="0" bIns="0" rtlCol="0" anchor="ctr"/>
          <a:lstStyle/>
          <a:p>
            <a:pPr>
              <a:lnSpc>
                <a:spcPct val="110000"/>
              </a:lnSpc>
            </a:pPr>
            <a:r>
              <a:rPr lang="en-US" sz="1200" dirty="0">
                <a:solidFill>
                  <a:srgbClr val="333333"/>
                </a:solidFill>
                <a:latin typeface="MiSans" pitchFamily="34" charset="0"/>
                <a:ea typeface="MiSans" pitchFamily="34" charset="-122"/>
                <a:cs typeface="MiSans" pitchFamily="34" charset="-120"/>
              </a:rPr>
              <a:t>✅ Greater architectural experimentation. </a:t>
            </a:r>
          </a:p>
          <a:p>
            <a:pPr>
              <a:lnSpc>
                <a:spcPct val="110000"/>
              </a:lnSpc>
            </a:pPr>
            <a:r>
              <a:rPr lang="en-US" sz="1200" dirty="0">
                <a:solidFill>
                  <a:srgbClr val="333333"/>
                </a:solidFill>
                <a:latin typeface="MiSans" pitchFamily="34" charset="0"/>
                <a:ea typeface="MiSans" pitchFamily="34" charset="-122"/>
                <a:cs typeface="MiSans" pitchFamily="34" charset="-120"/>
              </a:rPr>
              <a:t>⚠️ Persistent U.S.-centric biases.</a:t>
            </a:r>
            <a:endParaRPr lang="en-US" sz="1600" dirty="0"/>
          </a:p>
        </p:txBody>
      </p:sp>
    </p:spTree>
    <p:extLst>
      <p:ext uri="{BB962C8B-B14F-4D97-AF65-F5344CB8AC3E}">
        <p14:creationId xmlns:p14="http://schemas.microsoft.com/office/powerpoint/2010/main" val="4207617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2F7A-DFE8-8DED-CBC8-6D148EA6FD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8909F1-51CC-729A-0103-5528ED0BFE63}"/>
              </a:ext>
            </a:extLst>
          </p:cNvPr>
          <p:cNvSpPr>
            <a:spLocks noGrp="1"/>
          </p:cNvSpPr>
          <p:nvPr>
            <p:ph type="sldNum" sz="quarter" idx="12"/>
          </p:nvPr>
        </p:nvSpPr>
        <p:spPr/>
        <p:txBody>
          <a:bodyPr/>
          <a:lstStyle/>
          <a:p>
            <a:fld id="{BFDBEA21-829B-6241-B888-D243749283AB}" type="slidenum">
              <a:rPr lang="id-ID" smtClean="0"/>
              <a:pPr/>
              <a:t>13</a:t>
            </a:fld>
            <a:endParaRPr lang="id-ID" dirty="0"/>
          </a:p>
        </p:txBody>
      </p:sp>
      <p:sp>
        <p:nvSpPr>
          <p:cNvPr id="3" name="Title 2">
            <a:extLst>
              <a:ext uri="{FF2B5EF4-FFF2-40B4-BE49-F238E27FC236}">
                <a16:creationId xmlns:a16="http://schemas.microsoft.com/office/drawing/2014/main" id="{81D0E338-9AB3-05C9-1426-4156098F753F}"/>
              </a:ext>
            </a:extLst>
          </p:cNvPr>
          <p:cNvSpPr>
            <a:spLocks noGrp="1"/>
          </p:cNvSpPr>
          <p:nvPr>
            <p:ph type="title"/>
          </p:nvPr>
        </p:nvSpPr>
        <p:spPr/>
        <p:txBody>
          <a:bodyPr/>
          <a:lstStyle/>
          <a:p>
            <a:pPr algn="ctr"/>
            <a:r>
              <a:rPr lang="en-US" sz="3200" b="1" dirty="0"/>
              <a:t>LLM Development Road Maps</a:t>
            </a:r>
            <a:br>
              <a:rPr lang="en-US" sz="3200" b="1" dirty="0"/>
            </a:br>
            <a:r>
              <a:rPr lang="en-US" sz="3200" b="1" dirty="0"/>
              <a:t>2023-2025</a:t>
            </a:r>
            <a:endParaRPr lang="en-CN" sz="3200" dirty="0"/>
          </a:p>
        </p:txBody>
      </p:sp>
      <p:pic>
        <p:nvPicPr>
          <p:cNvPr id="8" name="Picture 7" descr="A diagram of a group of individuals&#10;&#10;Description automatically generated with medium confidence">
            <a:extLst>
              <a:ext uri="{FF2B5EF4-FFF2-40B4-BE49-F238E27FC236}">
                <a16:creationId xmlns:a16="http://schemas.microsoft.com/office/drawing/2014/main" id="{1A4CC19C-4DE2-59DE-2DD1-64E54B2FC518}"/>
              </a:ext>
            </a:extLst>
          </p:cNvPr>
          <p:cNvPicPr>
            <a:picLocks noChangeAspect="1"/>
          </p:cNvPicPr>
          <p:nvPr/>
        </p:nvPicPr>
        <p:blipFill>
          <a:blip r:embed="rId3"/>
          <a:stretch>
            <a:fillRect/>
          </a:stretch>
        </p:blipFill>
        <p:spPr>
          <a:xfrm>
            <a:off x="1842131" y="1628815"/>
            <a:ext cx="8507738" cy="4697558"/>
          </a:xfrm>
          <a:prstGeom prst="rect">
            <a:avLst/>
          </a:prstGeom>
        </p:spPr>
      </p:pic>
    </p:spTree>
    <p:extLst>
      <p:ext uri="{BB962C8B-B14F-4D97-AF65-F5344CB8AC3E}">
        <p14:creationId xmlns:p14="http://schemas.microsoft.com/office/powerpoint/2010/main" val="3958743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96A7D6-9FDE-2211-FE5D-756FE890F8AE}"/>
              </a:ext>
            </a:extLst>
          </p:cNvPr>
          <p:cNvSpPr>
            <a:spLocks noGrp="1"/>
          </p:cNvSpPr>
          <p:nvPr>
            <p:ph type="sldNum" sz="quarter" idx="12"/>
          </p:nvPr>
        </p:nvSpPr>
        <p:spPr/>
        <p:txBody>
          <a:bodyPr/>
          <a:lstStyle/>
          <a:p>
            <a:fld id="{BFDBEA21-829B-6241-B888-D243749283AB}" type="slidenum">
              <a:rPr lang="id-ID" smtClean="0"/>
              <a:pPr/>
              <a:t>14</a:t>
            </a:fld>
            <a:endParaRPr lang="id-ID" dirty="0"/>
          </a:p>
        </p:txBody>
      </p:sp>
      <p:sp>
        <p:nvSpPr>
          <p:cNvPr id="3" name="Title 2">
            <a:extLst>
              <a:ext uri="{FF2B5EF4-FFF2-40B4-BE49-F238E27FC236}">
                <a16:creationId xmlns:a16="http://schemas.microsoft.com/office/drawing/2014/main" id="{566B7B15-6B37-AECE-D764-F2023A9BC151}"/>
              </a:ext>
            </a:extLst>
          </p:cNvPr>
          <p:cNvSpPr>
            <a:spLocks noGrp="1"/>
          </p:cNvSpPr>
          <p:nvPr>
            <p:ph type="title"/>
          </p:nvPr>
        </p:nvSpPr>
        <p:spPr/>
        <p:txBody>
          <a:bodyPr/>
          <a:lstStyle/>
          <a:p>
            <a:pPr algn="ctr"/>
            <a:r>
              <a:rPr lang="en-US" b="1" dirty="0"/>
              <a:t>Actionable Protocols for AI Governance Suggestions</a:t>
            </a:r>
            <a:br>
              <a:rPr lang="en-US" b="1" dirty="0"/>
            </a:br>
            <a:endParaRPr lang="en-CN" b="1" dirty="0"/>
          </a:p>
        </p:txBody>
      </p:sp>
      <p:graphicFrame>
        <p:nvGraphicFramePr>
          <p:cNvPr id="6" name="Diagram 5">
            <a:extLst>
              <a:ext uri="{FF2B5EF4-FFF2-40B4-BE49-F238E27FC236}">
                <a16:creationId xmlns:a16="http://schemas.microsoft.com/office/drawing/2014/main" id="{E32BA225-98AB-8C90-4A25-667023DED0FA}"/>
              </a:ext>
            </a:extLst>
          </p:cNvPr>
          <p:cNvGraphicFramePr/>
          <p:nvPr>
            <p:extLst>
              <p:ext uri="{D42A27DB-BD31-4B8C-83A1-F6EECF244321}">
                <p14:modId xmlns:p14="http://schemas.microsoft.com/office/powerpoint/2010/main" val="3678022637"/>
              </p:ext>
            </p:extLst>
          </p:nvPr>
        </p:nvGraphicFramePr>
        <p:xfrm>
          <a:off x="954364" y="1637414"/>
          <a:ext cx="10273618" cy="4550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2391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D2890A-B365-B7C8-2D23-5136BAD1DF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8BA38D-F2CC-6E84-BF34-8DECDD410215}"/>
              </a:ext>
            </a:extLst>
          </p:cNvPr>
          <p:cNvSpPr>
            <a:spLocks noGrp="1"/>
          </p:cNvSpPr>
          <p:nvPr>
            <p:ph type="sldNum" sz="quarter" idx="12"/>
          </p:nvPr>
        </p:nvSpPr>
        <p:spPr/>
        <p:txBody>
          <a:bodyPr/>
          <a:lstStyle/>
          <a:p>
            <a:fld id="{BFDBEA21-829B-6241-B888-D243749283AB}" type="slidenum">
              <a:rPr lang="id-ID" smtClean="0"/>
              <a:pPr/>
              <a:t>15</a:t>
            </a:fld>
            <a:endParaRPr lang="id-ID" dirty="0"/>
          </a:p>
        </p:txBody>
      </p:sp>
      <p:sp>
        <p:nvSpPr>
          <p:cNvPr id="3" name="Title 2">
            <a:extLst>
              <a:ext uri="{FF2B5EF4-FFF2-40B4-BE49-F238E27FC236}">
                <a16:creationId xmlns:a16="http://schemas.microsoft.com/office/drawing/2014/main" id="{45073238-D049-58DF-F068-AA37721B8FC7}"/>
              </a:ext>
            </a:extLst>
          </p:cNvPr>
          <p:cNvSpPr>
            <a:spLocks noGrp="1"/>
          </p:cNvSpPr>
          <p:nvPr>
            <p:ph type="title"/>
          </p:nvPr>
        </p:nvSpPr>
        <p:spPr/>
        <p:txBody>
          <a:bodyPr/>
          <a:lstStyle/>
          <a:p>
            <a:pPr algn="ctr"/>
            <a:r>
              <a:rPr lang="en-US" sz="3200" b="1" dirty="0"/>
              <a:t>Implications: From Results to Actionable Governance</a:t>
            </a:r>
            <a:br>
              <a:rPr lang="en-US" sz="3200" b="1" dirty="0"/>
            </a:br>
            <a:r>
              <a:rPr lang="en-US" sz="2400" dirty="0"/>
              <a:t>Some Cases of Demonstrations</a:t>
            </a:r>
            <a:endParaRPr lang="en-CN" sz="3200" dirty="0"/>
          </a:p>
        </p:txBody>
      </p:sp>
      <p:graphicFrame>
        <p:nvGraphicFramePr>
          <p:cNvPr id="6" name="Diagram 5">
            <a:extLst>
              <a:ext uri="{FF2B5EF4-FFF2-40B4-BE49-F238E27FC236}">
                <a16:creationId xmlns:a16="http://schemas.microsoft.com/office/drawing/2014/main" id="{2FCC4084-82A1-A8C3-A36C-1E64580E1759}"/>
              </a:ext>
            </a:extLst>
          </p:cNvPr>
          <p:cNvGraphicFramePr/>
          <p:nvPr>
            <p:extLst>
              <p:ext uri="{D42A27DB-BD31-4B8C-83A1-F6EECF244321}">
                <p14:modId xmlns:p14="http://schemas.microsoft.com/office/powerpoint/2010/main" val="3826558842"/>
              </p:ext>
            </p:extLst>
          </p:nvPr>
        </p:nvGraphicFramePr>
        <p:xfrm>
          <a:off x="829340" y="1626782"/>
          <a:ext cx="10441173" cy="4511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9688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B90F77-82E5-3603-A46E-31998D53CBD8}"/>
              </a:ext>
            </a:extLst>
          </p:cNvPr>
          <p:cNvSpPr>
            <a:spLocks noGrp="1"/>
          </p:cNvSpPr>
          <p:nvPr>
            <p:ph type="title"/>
          </p:nvPr>
        </p:nvSpPr>
        <p:spPr/>
        <p:txBody>
          <a:bodyPr/>
          <a:lstStyle/>
          <a:p>
            <a:r>
              <a:rPr lang="en-US" dirty="0"/>
              <a:t>Let's build AI that serves humanity in its full diversity.</a:t>
            </a:r>
            <a:endParaRPr lang="en-CN" dirty="0"/>
          </a:p>
        </p:txBody>
      </p:sp>
      <p:sp>
        <p:nvSpPr>
          <p:cNvPr id="7" name="Text Placeholder 6">
            <a:extLst>
              <a:ext uri="{FF2B5EF4-FFF2-40B4-BE49-F238E27FC236}">
                <a16:creationId xmlns:a16="http://schemas.microsoft.com/office/drawing/2014/main" id="{31AC5334-D7C9-0AC3-B0CC-7743596DD8FD}"/>
              </a:ext>
            </a:extLst>
          </p:cNvPr>
          <p:cNvSpPr>
            <a:spLocks noGrp="1"/>
          </p:cNvSpPr>
          <p:nvPr>
            <p:ph type="body" idx="1"/>
          </p:nvPr>
        </p:nvSpPr>
        <p:spPr>
          <a:xfrm>
            <a:off x="831850" y="4589463"/>
            <a:ext cx="10515600" cy="1981458"/>
          </a:xfrm>
        </p:spPr>
        <p:txBody>
          <a:bodyPr>
            <a:normAutofit fontScale="47500" lnSpcReduction="20000"/>
          </a:bodyPr>
          <a:lstStyle/>
          <a:p>
            <a:r>
              <a:rPr lang="en-CN" dirty="0"/>
              <a:t>References:</a:t>
            </a:r>
          </a:p>
          <a:p>
            <a:r>
              <a:rPr lang="en-US" dirty="0">
                <a:effectLst/>
              </a:rPr>
              <a:t>Yuan, J., </a:t>
            </a:r>
            <a:r>
              <a:rPr lang="en-US" dirty="0" err="1">
                <a:effectLst/>
              </a:rPr>
              <a:t>Murukannaiah</a:t>
            </a:r>
            <a:r>
              <a:rPr lang="en-US" dirty="0">
                <a:effectLst/>
              </a:rPr>
              <a:t>, P. K., &amp; Singh, M. P. (2024). </a:t>
            </a:r>
            <a:r>
              <a:rPr lang="en-US" i="1" dirty="0">
                <a:effectLst/>
              </a:rPr>
              <a:t>Right vs. Right: Can LLMs Make Tough Choices?</a:t>
            </a:r>
            <a:r>
              <a:rPr lang="en-US" dirty="0">
                <a:effectLst/>
              </a:rPr>
              <a:t> (Version 1). </a:t>
            </a:r>
            <a:r>
              <a:rPr lang="en-US" dirty="0" err="1">
                <a:effectLst/>
              </a:rPr>
              <a:t>arXiv</a:t>
            </a:r>
            <a:r>
              <a:rPr lang="en-US" dirty="0">
                <a:effectLst/>
              </a:rPr>
              <a:t>. </a:t>
            </a:r>
            <a:r>
              <a:rPr lang="en-US" dirty="0">
                <a:effectLst/>
                <a:hlinkClick r:id="rId3"/>
              </a:rPr>
              <a:t>https://doi.org/10.48550/ARXIV.2412.19926</a:t>
            </a:r>
            <a:endParaRPr lang="en-US" dirty="0">
              <a:effectLst/>
            </a:endParaRPr>
          </a:p>
          <a:p>
            <a:r>
              <a:rPr lang="en-US" dirty="0">
                <a:effectLst/>
              </a:rPr>
              <a:t>Cao, Y., Liu, H., Arora, A., Augenstein, I., </a:t>
            </a:r>
            <a:r>
              <a:rPr lang="en-US" dirty="0" err="1">
                <a:effectLst/>
              </a:rPr>
              <a:t>Röttger</a:t>
            </a:r>
            <a:r>
              <a:rPr lang="en-US" dirty="0">
                <a:effectLst/>
              </a:rPr>
              <a:t>, P., &amp; </a:t>
            </a:r>
            <a:r>
              <a:rPr lang="en-US" dirty="0" err="1">
                <a:effectLst/>
              </a:rPr>
              <a:t>Hershcovich</a:t>
            </a:r>
            <a:r>
              <a:rPr lang="en-US" dirty="0">
                <a:effectLst/>
              </a:rPr>
              <a:t>, D. (2025). Specializing Large Language Models to Simulate Survey Response Distributions for Global Populations. In L. </a:t>
            </a:r>
            <a:r>
              <a:rPr lang="en-US" dirty="0" err="1">
                <a:effectLst/>
              </a:rPr>
              <a:t>Chiruzzo</a:t>
            </a:r>
            <a:r>
              <a:rPr lang="en-US" dirty="0">
                <a:effectLst/>
              </a:rPr>
              <a:t>, A. Ritter, &amp; L. Wang (Eds), </a:t>
            </a:r>
            <a:r>
              <a:rPr lang="en-US" i="1" dirty="0">
                <a:effectLst/>
              </a:rPr>
              <a:t>Proceedings of the 2025 Conference of the Nations of the Americas Chapter of the Association for Computational Linguistics: Human Language Technologies (Volume 1: Long Papers)</a:t>
            </a:r>
            <a:r>
              <a:rPr lang="en-US" dirty="0">
                <a:effectLst/>
              </a:rPr>
              <a:t> (pp. 3141–3154). Association for Computational Linguistics. </a:t>
            </a:r>
            <a:r>
              <a:rPr lang="en-US" dirty="0">
                <a:effectLst/>
                <a:hlinkClick r:id="rId4"/>
              </a:rPr>
              <a:t>https://aclanthology.org/2025.naacl-long.162/</a:t>
            </a:r>
            <a:endParaRPr lang="en-US" dirty="0">
              <a:effectLst/>
            </a:endParaRPr>
          </a:p>
          <a:p>
            <a:r>
              <a:rPr lang="en-US" dirty="0">
                <a:effectLst/>
              </a:rPr>
              <a:t>Liu, H., Cao, Y., Wu, X., Qiu, C., Gu, J., Liu, M., &amp; </a:t>
            </a:r>
            <a:r>
              <a:rPr lang="en-US" dirty="0" err="1">
                <a:effectLst/>
              </a:rPr>
              <a:t>Hershcovich</a:t>
            </a:r>
            <a:r>
              <a:rPr lang="en-US" dirty="0">
                <a:effectLst/>
              </a:rPr>
              <a:t>, D. (2025). Towards realistic evaluation of cultural value alignment in large language models: Diversity enhancement for survey response simulation. </a:t>
            </a:r>
            <a:r>
              <a:rPr lang="en-US" i="1" dirty="0">
                <a:effectLst/>
              </a:rPr>
              <a:t>Information Processing &amp; Management</a:t>
            </a:r>
            <a:r>
              <a:rPr lang="en-US" dirty="0">
                <a:effectLst/>
              </a:rPr>
              <a:t>, </a:t>
            </a:r>
            <a:r>
              <a:rPr lang="en-US" i="1" dirty="0">
                <a:effectLst/>
              </a:rPr>
              <a:t>62</a:t>
            </a:r>
            <a:r>
              <a:rPr lang="en-US" dirty="0">
                <a:effectLst/>
              </a:rPr>
              <a:t>(4), 104099. </a:t>
            </a:r>
            <a:r>
              <a:rPr lang="en-US" dirty="0">
                <a:effectLst/>
                <a:hlinkClick r:id="rId5"/>
              </a:rPr>
              <a:t>https://doi.org/10.1016/j.ipm.2025.104099</a:t>
            </a:r>
            <a:endParaRPr lang="en-US" dirty="0">
              <a:effectLst/>
            </a:endParaRPr>
          </a:p>
          <a:p>
            <a:r>
              <a:rPr lang="en-US" dirty="0" err="1"/>
              <a:t>Haijiang</a:t>
            </a:r>
            <a:r>
              <a:rPr lang="en-US" dirty="0"/>
              <a:t> Liu, </a:t>
            </a:r>
            <a:r>
              <a:rPr lang="en-US" dirty="0" err="1"/>
              <a:t>Qiyuan</a:t>
            </a:r>
            <a:r>
              <a:rPr lang="en-US" dirty="0"/>
              <a:t> Li, Chao Gao, Yong Cao, </a:t>
            </a:r>
            <a:r>
              <a:rPr lang="en-US" dirty="0" err="1"/>
              <a:t>Xiangyu</a:t>
            </a:r>
            <a:r>
              <a:rPr lang="en-US" dirty="0"/>
              <a:t> Xu, Xun Wu, Daniel </a:t>
            </a:r>
            <a:r>
              <a:rPr lang="en-US" dirty="0" err="1"/>
              <a:t>Hershcovich</a:t>
            </a:r>
            <a:r>
              <a:rPr lang="en-US" dirty="0"/>
              <a:t>, and </a:t>
            </a:r>
            <a:r>
              <a:rPr lang="en-US" dirty="0" err="1"/>
              <a:t>Jinguang</a:t>
            </a:r>
            <a:r>
              <a:rPr lang="en-US" dirty="0"/>
              <a:t> Gu. 2025. Beyond Demographics: Enhancing Cultural Value Survey Simulation with Multi-Stage Personality-Driven Cognitive Reasoning. In Proceedings of the 2025 Conference on Empirical Methods in Natural Language Processing, pages 18417–18439, Suzhou, China. Association for Computational Linguistics.</a:t>
            </a:r>
            <a:endParaRPr lang="en-CN" dirty="0"/>
          </a:p>
        </p:txBody>
      </p:sp>
    </p:spTree>
    <p:extLst>
      <p:ext uri="{BB962C8B-B14F-4D97-AF65-F5344CB8AC3E}">
        <p14:creationId xmlns:p14="http://schemas.microsoft.com/office/powerpoint/2010/main" val="2157593330"/>
      </p:ext>
    </p:extLst>
  </p:cSld>
  <p:clrMapOvr>
    <a:masterClrMapping/>
  </p:clrMapOvr>
</p:sld>
</file>

<file path=ppt/theme/theme1.xml><?xml version="1.0" encoding="utf-8"?>
<a:theme xmlns:a="http://schemas.openxmlformats.org/drawingml/2006/main" name="Office Theme">
  <a:themeElements>
    <a:clrScheme name="Custom 6">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548DE"/>
      </a:accent5>
      <a:accent6>
        <a:srgbClr val="4EA72E"/>
      </a:accent6>
      <a:hlink>
        <a:srgbClr val="467886"/>
      </a:hlink>
      <a:folHlink>
        <a:srgbClr val="96607D"/>
      </a:folHlink>
    </a:clrScheme>
    <a:fontScheme name="Raleway">
      <a:majorFont>
        <a:latin typeface="Raleway Medium"/>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3744695CE2B2845B4A4B94885AFF3AC" ma:contentTypeVersion="7" ma:contentTypeDescription="Create a new document." ma:contentTypeScope="" ma:versionID="b8996321a757d548d8d03082209cd823">
  <xsd:schema xmlns:xsd="http://www.w3.org/2001/XMLSchema" xmlns:xs="http://www.w3.org/2001/XMLSchema" xmlns:p="http://schemas.microsoft.com/office/2006/metadata/properties" xmlns:ns2="e1ce45f5-dd45-4dc3-8c39-a136f06751ed" targetNamespace="http://schemas.microsoft.com/office/2006/metadata/properties" ma:root="true" ma:fieldsID="15e1283d3e3f1332f392a653396b50b0" ns2:_="">
    <xsd:import namespace="e1ce45f5-dd45-4dc3-8c39-a136f06751e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e45f5-dd45-4dc3-8c39-a136f06751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87098E-C205-4E35-987A-A8DE5A839469}">
  <ds:schemaRefs>
    <ds:schemaRef ds:uri="http://www.w3.org/XML/1998/namespace"/>
    <ds:schemaRef ds:uri="http://purl.org/dc/terms/"/>
    <ds:schemaRef ds:uri="http://schemas.microsoft.com/office/2006/documentManagement/types"/>
    <ds:schemaRef ds:uri="http://purl.org/dc/elements/1.1/"/>
    <ds:schemaRef ds:uri="e1ce45f5-dd45-4dc3-8c39-a136f06751ed"/>
    <ds:schemaRef ds:uri="http://schemas.microsoft.com/office/2006/metadata/properties"/>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BC0AC4E0-100A-4481-96AD-0CB4D4A63A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ce45f5-dd45-4dc3-8c39-a136f06751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AB0867-DD29-4618-90F1-EE22265D24B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3410</TotalTime>
  <Words>2216</Words>
  <Application>Microsoft Macintosh PowerPoint</Application>
  <PresentationFormat>Widescreen</PresentationFormat>
  <Paragraphs>150</Paragraphs>
  <Slides>17</Slides>
  <Notes>17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Big Shoulders Display Bold</vt:lpstr>
      <vt:lpstr>Canva Sans</vt:lpstr>
      <vt:lpstr>MiSans</vt:lpstr>
      <vt:lpstr>Noto Sans SC</vt:lpstr>
      <vt:lpstr>Aptos</vt:lpstr>
      <vt:lpstr>Arial</vt:lpstr>
      <vt:lpstr>Raleway Medium</vt:lpstr>
      <vt:lpstr>Office Theme</vt:lpstr>
      <vt:lpstr>CROSS-CULTURAL VALUE ALIGNMENT FRAMEWORKS FOR RESPONSIBLE AI GOVERNANCE:</vt:lpstr>
      <vt:lpstr>Global Ipact: Whose Values? LLMs: Decision-Making &amp; Critical ALignment</vt:lpstr>
      <vt:lpstr>Four-Layer Evaluation Framework The first comprehensive platform assessing LLMs across stability, fidelity, and interpretability.</vt:lpstr>
      <vt:lpstr>Four-Layer Evaluation Framework The first comprehensive platform assessing LLMs across stability, fidelity, and interpretability.</vt:lpstr>
      <vt:lpstr>Ethical Dilemma Corpus Test temporal stability</vt:lpstr>
      <vt:lpstr>RQ1: Stable Principles or Heuristics? Western Claude most stable; LLaMA/DeepSeek volatile—architecture over origin drives consistency</vt:lpstr>
      <vt:lpstr>Diversity-Enhanced Framework Quantifiers cultural fidelity vs. actual populations</vt:lpstr>
      <vt:lpstr>RQ2: What Cultural Values Do They Embody? Cross-Cultural Variation Encoding Difficulty</vt:lpstr>
      <vt:lpstr>RQ2: What Cultural Values Do They Embody? Value Expression Consistency Issue</vt:lpstr>
      <vt:lpstr>RQ3: How Do Innovations Drive Alignment? General Domain Adaptations Works in Different Ways</vt:lpstr>
      <vt:lpstr>First-Token Probability Alignment Technical solution for better distributional accuracy</vt:lpstr>
      <vt:lpstr>Multi-stAge Reasoning frameworK Provides explainable, personality-driven reasoning</vt:lpstr>
      <vt:lpstr>Universal Gaps &amp; Regional Divergences Neither paradigm achieves robust cross-cultural generalization</vt:lpstr>
      <vt:lpstr>LLM Development Road Maps 2023-2025</vt:lpstr>
      <vt:lpstr>Actionable Protocols for AI Governance Suggestions </vt:lpstr>
      <vt:lpstr>Implications: From Results to Actionable Governance Some Cases of Demonstrations</vt:lpstr>
      <vt:lpstr>Let's build AI that serves humanity in its full diversity.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Bima Satria</dc:creator>
  <cp:lastModifiedBy>逸 顾</cp:lastModifiedBy>
  <cp:revision>16</cp:revision>
  <cp:lastPrinted>2025-11-15T08:50:07Z</cp:lastPrinted>
  <dcterms:created xsi:type="dcterms:W3CDTF">2025-11-10T03:10:38Z</dcterms:created>
  <dcterms:modified xsi:type="dcterms:W3CDTF">2025-11-15T11:23:18Z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0x01010073744695CE2B2845B4A4B94885AFF3AC</vt:lpwstr>
  </property>
</Properties>
</file>